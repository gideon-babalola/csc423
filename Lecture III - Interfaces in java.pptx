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0"/>
  </p:notesMasterIdLst>
  <p:sldIdLst>
    <p:sldId id="256" r:id="rId2"/>
    <p:sldId id="258" r:id="rId3"/>
    <p:sldId id="263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77" r:id="rId19"/>
  </p:sldIdLst>
  <p:sldSz cx="12192000" cy="6858000"/>
  <p:notesSz cx="6858000" cy="9144000"/>
  <p:embeddedFontLst>
    <p:embeddedFont>
      <p:font typeface="Abril Fatface" panose="02000503000000020003" pitchFamily="2" charset="0"/>
      <p:regular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ono" panose="00000009000000000000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1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263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68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582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262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168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579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638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09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401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13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001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658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285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073618e6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073618e6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97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7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8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6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5"/>
          <p:cNvGrpSpPr/>
          <p:nvPr/>
        </p:nvGrpSpPr>
        <p:grpSpPr>
          <a:xfrm>
            <a:off x="8201100" y="4138775"/>
            <a:ext cx="3509100" cy="2030700"/>
            <a:chOff x="8115925" y="1776575"/>
            <a:chExt cx="3509100" cy="2030700"/>
          </a:xfrm>
        </p:grpSpPr>
        <p:sp>
          <p:nvSpPr>
            <p:cNvPr id="83" name="Google Shape;83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" name="Google Shape;84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5"/>
          <p:cNvGrpSpPr/>
          <p:nvPr/>
        </p:nvGrpSpPr>
        <p:grpSpPr>
          <a:xfrm>
            <a:off x="481800" y="4138775"/>
            <a:ext cx="3509100" cy="2030700"/>
            <a:chOff x="396625" y="1776575"/>
            <a:chExt cx="3509100" cy="2030700"/>
          </a:xfrm>
        </p:grpSpPr>
        <p:sp>
          <p:nvSpPr>
            <p:cNvPr id="89" name="Google Shape;89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5"/>
          <p:cNvGrpSpPr/>
          <p:nvPr/>
        </p:nvGrpSpPr>
        <p:grpSpPr>
          <a:xfrm>
            <a:off x="4341450" y="4138775"/>
            <a:ext cx="3509100" cy="2030700"/>
            <a:chOff x="4234200" y="1776575"/>
            <a:chExt cx="3509100" cy="2030700"/>
          </a:xfrm>
        </p:grpSpPr>
        <p:sp>
          <p:nvSpPr>
            <p:cNvPr id="95" name="Google Shape;95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97" name="Google Shape;97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5"/>
          <p:cNvGrpSpPr/>
          <p:nvPr/>
        </p:nvGrpSpPr>
        <p:grpSpPr>
          <a:xfrm>
            <a:off x="481800" y="1776575"/>
            <a:ext cx="3509100" cy="2030700"/>
            <a:chOff x="396625" y="1776575"/>
            <a:chExt cx="3509100" cy="2030700"/>
          </a:xfrm>
        </p:grpSpPr>
        <p:sp>
          <p:nvSpPr>
            <p:cNvPr id="101" name="Google Shape;101;p5"/>
            <p:cNvSpPr/>
            <p:nvPr/>
          </p:nvSpPr>
          <p:spPr>
            <a:xfrm>
              <a:off x="3966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5"/>
            <p:cNvGrpSpPr/>
            <p:nvPr/>
          </p:nvGrpSpPr>
          <p:grpSpPr>
            <a:xfrm>
              <a:off x="532296" y="1886684"/>
              <a:ext cx="635280" cy="147600"/>
              <a:chOff x="2147366" y="4139382"/>
              <a:chExt cx="635280" cy="1476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" name="Google Shape;106;p5"/>
          <p:cNvGrpSpPr/>
          <p:nvPr/>
        </p:nvGrpSpPr>
        <p:grpSpPr>
          <a:xfrm>
            <a:off x="8201100" y="1776575"/>
            <a:ext cx="3509100" cy="2030700"/>
            <a:chOff x="8115925" y="1776575"/>
            <a:chExt cx="3509100" cy="2030700"/>
          </a:xfrm>
        </p:grpSpPr>
        <p:sp>
          <p:nvSpPr>
            <p:cNvPr id="107" name="Google Shape;107;p5"/>
            <p:cNvSpPr/>
            <p:nvPr/>
          </p:nvSpPr>
          <p:spPr>
            <a:xfrm>
              <a:off x="8115925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5"/>
            <p:cNvGrpSpPr/>
            <p:nvPr/>
          </p:nvGrpSpPr>
          <p:grpSpPr>
            <a:xfrm>
              <a:off x="8251596" y="1886684"/>
              <a:ext cx="635280" cy="147600"/>
              <a:chOff x="2147366" y="4139382"/>
              <a:chExt cx="635280" cy="147600"/>
            </a:xfrm>
          </p:grpSpPr>
          <p:sp>
            <p:nvSpPr>
              <p:cNvPr id="109" name="Google Shape;109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" name="Google Shape;112;p5"/>
          <p:cNvGrpSpPr/>
          <p:nvPr/>
        </p:nvGrpSpPr>
        <p:grpSpPr>
          <a:xfrm>
            <a:off x="4341450" y="1776575"/>
            <a:ext cx="3509100" cy="2030700"/>
            <a:chOff x="4234200" y="1776575"/>
            <a:chExt cx="3509100" cy="2030700"/>
          </a:xfrm>
        </p:grpSpPr>
        <p:sp>
          <p:nvSpPr>
            <p:cNvPr id="113" name="Google Shape;113;p5"/>
            <p:cNvSpPr/>
            <p:nvPr/>
          </p:nvSpPr>
          <p:spPr>
            <a:xfrm>
              <a:off x="4234200" y="1776575"/>
              <a:ext cx="3509100" cy="20307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5"/>
            <p:cNvGrpSpPr/>
            <p:nvPr/>
          </p:nvGrpSpPr>
          <p:grpSpPr>
            <a:xfrm>
              <a:off x="4369871" y="1886684"/>
              <a:ext cx="635280" cy="147600"/>
              <a:chOff x="2147366" y="4139382"/>
              <a:chExt cx="635280" cy="1476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90775" y="523275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 idx="5"/>
          </p:nvPr>
        </p:nvSpPr>
        <p:spPr>
          <a:xfrm>
            <a:off x="942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6"/>
          </p:nvPr>
        </p:nvSpPr>
        <p:spPr>
          <a:xfrm>
            <a:off x="4448700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7"/>
          </p:nvPr>
        </p:nvSpPr>
        <p:spPr>
          <a:xfrm>
            <a:off x="49077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8"/>
          </p:nvPr>
        </p:nvSpPr>
        <p:spPr>
          <a:xfrm>
            <a:off x="4448700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 idx="14"/>
          </p:nvPr>
        </p:nvSpPr>
        <p:spPr>
          <a:xfrm>
            <a:off x="8406625" y="2046600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title" idx="15"/>
          </p:nvPr>
        </p:nvSpPr>
        <p:spPr>
          <a:xfrm>
            <a:off x="8406625" y="4087659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666000" y="1518625"/>
            <a:ext cx="10932600" cy="46206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1"/>
          <p:cNvGrpSpPr/>
          <p:nvPr/>
        </p:nvGrpSpPr>
        <p:grpSpPr>
          <a:xfrm>
            <a:off x="819246" y="1628734"/>
            <a:ext cx="635280" cy="147600"/>
            <a:chOff x="2147366" y="4139382"/>
            <a:chExt cx="635280" cy="147600"/>
          </a:xfrm>
        </p:grpSpPr>
        <p:sp>
          <p:nvSpPr>
            <p:cNvPr id="187" name="Google Shape;187;p11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1" name="Google Shape;191;p11"/>
          <p:cNvSpPr txBox="1">
            <a:spLocks noGrp="1"/>
          </p:cNvSpPr>
          <p:nvPr>
            <p:ph type="subTitle" idx="2"/>
          </p:nvPr>
        </p:nvSpPr>
        <p:spPr>
          <a:xfrm>
            <a:off x="1217558" y="310036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3"/>
          </p:nvPr>
        </p:nvSpPr>
        <p:spPr>
          <a:xfrm>
            <a:off x="1217558" y="4400450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5"/>
          </p:nvPr>
        </p:nvSpPr>
        <p:spPr>
          <a:xfrm>
            <a:off x="1217550" y="3526878"/>
            <a:ext cx="97551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body" idx="6"/>
          </p:nvPr>
        </p:nvSpPr>
        <p:spPr>
          <a:xfrm>
            <a:off x="1217550" y="4813738"/>
            <a:ext cx="9756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7" r:id="rId3"/>
    <p:sldLayoutId id="214748366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2523475" y="1607299"/>
            <a:ext cx="6796800" cy="290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INTERFACES </a:t>
            </a:r>
            <a:br>
              <a:rPr lang="en" sz="5000" dirty="0"/>
            </a:br>
            <a:r>
              <a:rPr lang="en" sz="5000" dirty="0"/>
              <a:t>IN </a:t>
            </a:r>
            <a:br>
              <a:rPr lang="en" sz="5000" dirty="0"/>
            </a:br>
            <a:r>
              <a:rPr lang="en" sz="5000" dirty="0"/>
              <a:t>JAVA</a:t>
            </a:r>
            <a:endParaRPr sz="5000" dirty="0"/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/>
              <a:t> By DR. AJK </a:t>
            </a:r>
            <a:r>
              <a:rPr lang="en" dirty="0">
                <a:solidFill>
                  <a:schemeClr val="accent1"/>
                </a:solidFill>
              </a:rPr>
              <a:t>&lt;/p&gt;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>
            <a:spLocks noGrp="1"/>
          </p:cNvSpPr>
          <p:nvPr>
            <p:ph type="title" idx="5"/>
          </p:nvPr>
        </p:nvSpPr>
        <p:spPr>
          <a:xfrm>
            <a:off x="950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06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4" name="Google Shape;394;p24"/>
          <p:cNvSpPr txBox="1">
            <a:spLocks noGrp="1"/>
          </p:cNvSpPr>
          <p:nvPr>
            <p:ph type="title"/>
          </p:nvPr>
        </p:nvSpPr>
        <p:spPr>
          <a:xfrm>
            <a:off x="490775" y="523275"/>
            <a:ext cx="11210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LIST OF </a:t>
            </a:r>
            <a:r>
              <a:rPr lang="en" sz="6000" dirty="0">
                <a:solidFill>
                  <a:schemeClr val="accent2"/>
                </a:solidFill>
              </a:rPr>
              <a:t>OBJECTIVES.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395" name="Google Shape;395;p24"/>
          <p:cNvSpPr txBox="1">
            <a:spLocks noGrp="1"/>
          </p:cNvSpPr>
          <p:nvPr>
            <p:ph type="body" idx="1"/>
          </p:nvPr>
        </p:nvSpPr>
        <p:spPr>
          <a:xfrm>
            <a:off x="575950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What are </a:t>
            </a:r>
            <a:r>
              <a:rPr lang="en" dirty="0">
                <a:solidFill>
                  <a:schemeClr val="accent1"/>
                </a:solidFill>
              </a:rPr>
              <a:t>interfaces</a:t>
            </a:r>
            <a:r>
              <a:rPr lang="en" dirty="0"/>
              <a:t>.</a:t>
            </a:r>
            <a:endParaRPr dirty="0"/>
          </a:p>
        </p:txBody>
      </p:sp>
      <p:sp>
        <p:nvSpPr>
          <p:cNvPr id="396" name="Google Shape;396;p24"/>
          <p:cNvSpPr txBox="1">
            <a:spLocks noGrp="1"/>
          </p:cNvSpPr>
          <p:nvPr>
            <p:ph type="body" idx="2"/>
          </p:nvPr>
        </p:nvSpPr>
        <p:spPr>
          <a:xfrm>
            <a:off x="4418613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Similarities between </a:t>
            </a:r>
            <a:r>
              <a:rPr lang="en" dirty="0">
                <a:solidFill>
                  <a:schemeClr val="accent3"/>
                </a:solidFill>
              </a:rPr>
              <a:t>interfaces and classes</a:t>
            </a:r>
            <a:r>
              <a:rPr lang="en" dirty="0"/>
              <a:t>.</a:t>
            </a:r>
            <a:endParaRPr dirty="0"/>
          </a:p>
        </p:txBody>
      </p:sp>
      <p:sp>
        <p:nvSpPr>
          <p:cNvPr id="397" name="Google Shape;397;p24"/>
          <p:cNvSpPr txBox="1">
            <a:spLocks noGrp="1"/>
          </p:cNvSpPr>
          <p:nvPr>
            <p:ph type="body" idx="3"/>
          </p:nvPr>
        </p:nvSpPr>
        <p:spPr>
          <a:xfrm>
            <a:off x="575950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dirty="0"/>
              <a:t>M</a:t>
            </a:r>
            <a:r>
              <a:rPr lang="en" dirty="0"/>
              <a:t>ethods in interfaces.</a:t>
            </a:r>
            <a:endParaRPr dirty="0"/>
          </a:p>
        </p:txBody>
      </p:sp>
      <p:sp>
        <p:nvSpPr>
          <p:cNvPr id="398" name="Google Shape;398;p24"/>
          <p:cNvSpPr txBox="1">
            <a:spLocks noGrp="1"/>
          </p:cNvSpPr>
          <p:nvPr>
            <p:ph type="body" idx="4"/>
          </p:nvPr>
        </p:nvSpPr>
        <p:spPr>
          <a:xfrm>
            <a:off x="4418613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dirty="0"/>
              <a:t>F</a:t>
            </a:r>
            <a:r>
              <a:rPr lang="en" dirty="0"/>
              <a:t>ields in interfaces (final or static).</a:t>
            </a:r>
            <a:endParaRPr dirty="0"/>
          </a:p>
        </p:txBody>
      </p:sp>
      <p:sp>
        <p:nvSpPr>
          <p:cNvPr id="399" name="Google Shape;399;p24"/>
          <p:cNvSpPr txBox="1">
            <a:spLocks noGrp="1"/>
          </p:cNvSpPr>
          <p:nvPr>
            <p:ph type="title" idx="5"/>
          </p:nvPr>
        </p:nvSpPr>
        <p:spPr>
          <a:xfrm>
            <a:off x="18070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0" name="Google Shape;400;p24"/>
          <p:cNvSpPr txBox="1">
            <a:spLocks noGrp="1"/>
          </p:cNvSpPr>
          <p:nvPr>
            <p:ph type="body" idx="9"/>
          </p:nvPr>
        </p:nvSpPr>
        <p:spPr>
          <a:xfrm>
            <a:off x="8299375" y="2437574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Differences between </a:t>
            </a:r>
            <a:r>
              <a:rPr lang="en" dirty="0">
                <a:solidFill>
                  <a:schemeClr val="accent3"/>
                </a:solidFill>
              </a:rPr>
              <a:t>interfaces and classes</a:t>
            </a:r>
            <a:r>
              <a:rPr lang="en" dirty="0"/>
              <a:t>.</a:t>
            </a:r>
            <a:endParaRPr dirty="0"/>
          </a:p>
        </p:txBody>
      </p:sp>
      <p:sp>
        <p:nvSpPr>
          <p:cNvPr id="401" name="Google Shape;401;p24"/>
          <p:cNvSpPr txBox="1">
            <a:spLocks noGrp="1"/>
          </p:cNvSpPr>
          <p:nvPr>
            <p:ph type="body" idx="13"/>
          </p:nvPr>
        </p:nvSpPr>
        <p:spPr>
          <a:xfrm>
            <a:off x="8299375" y="4783425"/>
            <a:ext cx="3294600" cy="1206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/>
              <a:t>An </a:t>
            </a:r>
            <a:r>
              <a:rPr lang="en" dirty="0">
                <a:solidFill>
                  <a:schemeClr val="accent2"/>
                </a:solidFill>
              </a:rPr>
              <a:t>Example</a:t>
            </a:r>
            <a:r>
              <a:rPr lang="en" dirty="0"/>
              <a:t>.</a:t>
            </a:r>
            <a:endParaRPr dirty="0"/>
          </a:p>
        </p:txBody>
      </p:sp>
      <p:sp>
        <p:nvSpPr>
          <p:cNvPr id="402" name="Google Shape;402;p24"/>
          <p:cNvSpPr txBox="1">
            <a:spLocks noGrp="1"/>
          </p:cNvSpPr>
          <p:nvPr>
            <p:ph type="title" idx="5"/>
          </p:nvPr>
        </p:nvSpPr>
        <p:spPr>
          <a:xfrm>
            <a:off x="569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5"/>
          </p:nvPr>
        </p:nvSpPr>
        <p:spPr>
          <a:xfrm>
            <a:off x="9503275" y="18180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03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04" name="Google Shape;404;p24"/>
          <p:cNvSpPr txBox="1">
            <a:spLocks noGrp="1"/>
          </p:cNvSpPr>
          <p:nvPr>
            <p:ph type="title" idx="5"/>
          </p:nvPr>
        </p:nvSpPr>
        <p:spPr>
          <a:xfrm>
            <a:off x="18070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5" name="Google Shape;405;p24"/>
          <p:cNvSpPr txBox="1">
            <a:spLocks noGrp="1"/>
          </p:cNvSpPr>
          <p:nvPr>
            <p:ph type="title" idx="5"/>
          </p:nvPr>
        </p:nvSpPr>
        <p:spPr>
          <a:xfrm>
            <a:off x="5693275" y="4180200"/>
            <a:ext cx="21669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</a:t>
            </a:r>
            <a:r>
              <a:rPr lang="en" sz="6000" dirty="0">
                <a:solidFill>
                  <a:schemeClr val="accent2"/>
                </a:solidFill>
              </a:rPr>
              <a:t>INTERFACES?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Java interface</a:t>
            </a:r>
            <a:r>
              <a:rPr lang="en-US" sz="1900" dirty="0"/>
              <a:t> is a collection of abstract methods.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17558" y="3313720"/>
            <a:ext cx="9999082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&lt;p&gt; </a:t>
            </a:r>
            <a:r>
              <a:rPr lang="en-US" dirty="0"/>
              <a:t>An interface is a reference type and is similar to the class.</a:t>
            </a:r>
            <a:r>
              <a:rPr lang="en" dirty="0"/>
              <a:t> </a:t>
            </a:r>
            <a:r>
              <a:rPr lang="en" dirty="0">
                <a:solidFill>
                  <a:schemeClr val="accent2"/>
                </a:solidFill>
              </a:rPr>
              <a:t>&lt;/p&gt;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5" name="Google Shape;445;p29"/>
          <p:cNvSpPr txBox="1">
            <a:spLocks noGrp="1"/>
          </p:cNvSpPr>
          <p:nvPr>
            <p:ph type="subTitle" idx="3"/>
          </p:nvPr>
        </p:nvSpPr>
        <p:spPr>
          <a:xfrm>
            <a:off x="1217550" y="3869823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&lt;p&gt;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Writing an interface is similar to writing a class.</a:t>
            </a:r>
            <a:r>
              <a:rPr lang="en" dirty="0">
                <a:solidFill>
                  <a:schemeClr val="accent1"/>
                </a:solidFill>
              </a:rPr>
              <a:t>&lt;/p&gt;</a:t>
            </a:r>
            <a:endParaRPr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124314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The interface is used to achieve abstraction in which you can define methods without their implementations (without having the body of the methods).</a:t>
            </a:r>
            <a:endParaRPr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E1D0C-CDD5-997D-72A6-B5DFEC63ECC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217550" y="4429575"/>
            <a:ext cx="9756900" cy="1376865"/>
          </a:xfrm>
        </p:spPr>
        <p:txBody>
          <a:bodyPr/>
          <a:lstStyle/>
          <a:p>
            <a:r>
              <a:rPr lang="en-US" sz="1800" dirty="0"/>
              <a:t>However, a class describes the attributes and behaviors of an object. An interface contains behaviors that a class implements. However, a class describes the attributes and behaviors of an object. An interface contains behaviors that a class implements.</a:t>
            </a:r>
            <a:endParaRPr lang="en-GB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CONTRASTING JAVA </a:t>
            </a:r>
            <a:r>
              <a:rPr lang="en" dirty="0">
                <a:solidFill>
                  <a:schemeClr val="accent2"/>
                </a:solidFill>
              </a:rPr>
              <a:t>INTERFACES AND CLASSES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SIMILARITIES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238218"/>
            <a:ext cx="9755100" cy="38577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can contain any number of methods.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is written in a file with a .java extension, with the name of the interface matching the name of the file.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The byte code of an interface appears in a .class file.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Interfaces appear in packages, and their corresponding bytecode file must be in a directory structure that matches the package name.</a:t>
            </a:r>
          </a:p>
        </p:txBody>
      </p:sp>
    </p:spTree>
    <p:extLst>
      <p:ext uri="{BB962C8B-B14F-4D97-AF65-F5344CB8AC3E}">
        <p14:creationId xmlns:p14="http://schemas.microsoft.com/office/powerpoint/2010/main" val="17434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CONTRASTING JAVA </a:t>
            </a:r>
            <a:r>
              <a:rPr lang="en" dirty="0">
                <a:solidFill>
                  <a:schemeClr val="accent2"/>
                </a:solidFill>
              </a:rPr>
              <a:t>INTERFACES AND CLASSES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70882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DIFFERENCES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042160"/>
            <a:ext cx="9755100" cy="40538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spcAft>
                <a:spcPts val="2100"/>
              </a:spcAft>
            </a:pPr>
            <a:r>
              <a:rPr lang="en-US" sz="1800" dirty="0"/>
              <a:t>You cannot instantiate an interface.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does not contain any constructors.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All of the methods in an interface are abstract.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cannot contain instance fields. The only fields that can appear in an interface must be declared both static and final.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is not extended by a class; it is implemented by a class.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can extend multiple interfaces.</a:t>
            </a:r>
          </a:p>
        </p:txBody>
      </p:sp>
    </p:spTree>
    <p:extLst>
      <p:ext uri="{BB962C8B-B14F-4D97-AF65-F5344CB8AC3E}">
        <p14:creationId xmlns:p14="http://schemas.microsoft.com/office/powerpoint/2010/main" val="100163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DECLARING AN </a:t>
            </a:r>
            <a:r>
              <a:rPr lang="en" sz="6000" dirty="0">
                <a:solidFill>
                  <a:schemeClr val="accent2"/>
                </a:solidFill>
              </a:rPr>
              <a:t>INTERFACES?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66310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The interface keyword is used to declare an interface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192498"/>
            <a:ext cx="9755100" cy="390350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/* File name : NameOfInterface.java */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import </a:t>
            </a:r>
            <a:r>
              <a:rPr lang="en-GB" sz="1800" dirty="0" err="1"/>
              <a:t>java.lang</a:t>
            </a:r>
            <a:r>
              <a:rPr lang="en-GB" sz="1800" dirty="0"/>
              <a:t>.*;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// Any number of import statements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public interface </a:t>
            </a:r>
            <a:r>
              <a:rPr lang="en-GB" sz="1800" dirty="0" err="1"/>
              <a:t>NameOfInterface</a:t>
            </a:r>
            <a:r>
              <a:rPr lang="en-GB" sz="1800" dirty="0"/>
              <a:t>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// Any number of final, static fields/attributes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// Any number of abstract method declarations\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}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900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AN </a:t>
            </a:r>
            <a:r>
              <a:rPr lang="en" sz="6000" dirty="0">
                <a:solidFill>
                  <a:schemeClr val="accent2"/>
                </a:solidFill>
              </a:rPr>
              <a:t>INTERFACES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1965960"/>
            <a:ext cx="9755100" cy="41300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2300" dirty="0"/>
              <a:t>/* File name : Animal.java */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2300" dirty="0"/>
              <a:t>interface Animal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2300" dirty="0"/>
              <a:t>   public void eat();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2300" dirty="0"/>
              <a:t>   public void travel();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2300" dirty="0"/>
              <a:t>}</a:t>
            </a: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1355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IMPLEMENTING </a:t>
            </a:r>
            <a:r>
              <a:rPr lang="en" sz="6000" dirty="0">
                <a:solidFill>
                  <a:schemeClr val="accent2"/>
                </a:solidFill>
              </a:rPr>
              <a:t>INTERFACES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960120" y="1800269"/>
            <a:ext cx="1045464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A class uses the implements keyword to implement an interface.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973568" y="2283938"/>
            <a:ext cx="9999082" cy="387302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MammalInt</a:t>
            </a:r>
            <a:r>
              <a:rPr lang="en-US" sz="1800" dirty="0"/>
              <a:t> implements Animal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public void eat()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   </a:t>
            </a:r>
            <a:r>
              <a:rPr lang="en-US" sz="1800" dirty="0" err="1"/>
              <a:t>System.out.println</a:t>
            </a:r>
            <a:r>
              <a:rPr lang="en-US" sz="1800" dirty="0"/>
              <a:t>("Mammal eats");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}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public void travel()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</a:t>
            </a:r>
            <a:r>
              <a:rPr lang="en-GB" sz="1800" dirty="0" err="1"/>
              <a:t>System.out.println</a:t>
            </a:r>
            <a:r>
              <a:rPr lang="en-GB" sz="1800" dirty="0"/>
              <a:t>("Mammal travels");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} 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82248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IMPLEMENTING </a:t>
            </a:r>
            <a:r>
              <a:rPr lang="en" sz="6000" dirty="0">
                <a:solidFill>
                  <a:schemeClr val="accent2"/>
                </a:solidFill>
              </a:rPr>
              <a:t>INTERFACES 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973568" y="1645920"/>
            <a:ext cx="9999082" cy="451104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MammalInt</a:t>
            </a:r>
            <a:r>
              <a:rPr lang="en-US" sz="1800" dirty="0"/>
              <a:t> implements Animal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public void eat()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   </a:t>
            </a:r>
            <a:r>
              <a:rPr lang="en-US" sz="1800" dirty="0" err="1"/>
              <a:t>System.out.println</a:t>
            </a:r>
            <a:r>
              <a:rPr lang="en-US" sz="1800" dirty="0"/>
              <a:t>("Mammal eats");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   }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public void travel() {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</a:t>
            </a:r>
            <a:r>
              <a:rPr lang="en-GB" sz="1800" dirty="0" err="1"/>
              <a:t>System.out.println</a:t>
            </a:r>
            <a:r>
              <a:rPr lang="en-GB" sz="1800" dirty="0"/>
              <a:t>("Mammal travels");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} 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49870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IMPLEMENTING </a:t>
            </a:r>
            <a:r>
              <a:rPr lang="en" sz="6000" dirty="0">
                <a:solidFill>
                  <a:schemeClr val="accent2"/>
                </a:solidFill>
              </a:rPr>
              <a:t>INTERFACES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988808" y="1652817"/>
            <a:ext cx="9999082" cy="48463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public int </a:t>
            </a:r>
            <a:r>
              <a:rPr lang="en-GB" sz="1800" dirty="0" err="1"/>
              <a:t>noOfLegs</a:t>
            </a:r>
            <a:r>
              <a:rPr lang="en-GB" sz="1800" dirty="0"/>
              <a:t>() {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return 0;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public static void main(String </a:t>
            </a:r>
            <a:r>
              <a:rPr lang="en-GB" sz="1800" dirty="0" err="1"/>
              <a:t>args</a:t>
            </a:r>
            <a:r>
              <a:rPr lang="en-GB" sz="1800" dirty="0"/>
              <a:t>[]) {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</a:t>
            </a:r>
            <a:r>
              <a:rPr lang="en-GB" sz="1800" dirty="0" err="1"/>
              <a:t>MammalInt</a:t>
            </a:r>
            <a:r>
              <a:rPr lang="en-GB" sz="1800" dirty="0"/>
              <a:t> m = new </a:t>
            </a:r>
            <a:r>
              <a:rPr lang="en-GB" sz="1800" dirty="0" err="1"/>
              <a:t>MammalInt</a:t>
            </a:r>
            <a:r>
              <a:rPr lang="en-GB" sz="1800" dirty="0"/>
              <a:t>();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</a:t>
            </a:r>
            <a:r>
              <a:rPr lang="en-GB" sz="1800" dirty="0" err="1"/>
              <a:t>m.eat</a:t>
            </a:r>
            <a:r>
              <a:rPr lang="en-GB" sz="1800" dirty="0"/>
              <a:t>();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   m.travel();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   }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GB" sz="1800" dirty="0"/>
              <a:t>} 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33960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RULES</a:t>
            </a:r>
            <a:endParaRPr sz="6000"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66310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Rules for implementing JAVA interfaces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192498"/>
            <a:ext cx="9755100" cy="390350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spcAft>
                <a:spcPts val="2100"/>
              </a:spcAft>
            </a:pPr>
            <a:r>
              <a:rPr lang="en-US" sz="1800" dirty="0"/>
              <a:t>A class can implement more than one interface at a time.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 class can extend only one class, but implement many interfaces.</a:t>
            </a:r>
          </a:p>
          <a:p>
            <a:pPr marL="285750" indent="-285750">
              <a:spcAft>
                <a:spcPts val="2100"/>
              </a:spcAft>
            </a:pPr>
            <a:r>
              <a:rPr lang="en-US" sz="1800" dirty="0"/>
              <a:t>An interface can extend another interface, in a similar way as a class can extend another class.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7780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JAVA </a:t>
            </a:r>
            <a:r>
              <a:rPr lang="en" dirty="0">
                <a:solidFill>
                  <a:schemeClr val="accent2"/>
                </a:solidFill>
              </a:rPr>
              <a:t>INTERFACES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708829"/>
            <a:ext cx="9755100" cy="119336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The extends keyword is used to extend an interface, and the child interface inherits the methods of the parent interface.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902195"/>
            <a:ext cx="9755100" cy="294996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00"/>
              </a:spcAft>
              <a:buNone/>
            </a:pPr>
            <a:r>
              <a:rPr lang="en-US" sz="1800" dirty="0"/>
              <a:t>public interface Sports {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1800" dirty="0"/>
              <a:t>   public void </a:t>
            </a:r>
            <a:r>
              <a:rPr lang="en-US" sz="1800" dirty="0" err="1"/>
              <a:t>setHomeTeam</a:t>
            </a:r>
            <a:r>
              <a:rPr lang="en-US" sz="1800" dirty="0"/>
              <a:t>(String name);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1800" dirty="0"/>
              <a:t>   public void </a:t>
            </a:r>
            <a:r>
              <a:rPr lang="en-US" sz="1800" dirty="0" err="1"/>
              <a:t>setVisitingTeam</a:t>
            </a:r>
            <a:r>
              <a:rPr lang="en-US" sz="1800" dirty="0"/>
              <a:t>(String name);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306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JAVA </a:t>
            </a:r>
            <a:r>
              <a:rPr lang="en" dirty="0">
                <a:solidFill>
                  <a:schemeClr val="accent2"/>
                </a:solidFill>
              </a:rPr>
              <a:t>INTERFACES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057400"/>
            <a:ext cx="9755100" cy="38404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public interface Football extends Sports {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homeTeamScored</a:t>
            </a:r>
            <a:r>
              <a:rPr lang="en-US" sz="2000" dirty="0"/>
              <a:t>(int points);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visitingTeamScored</a:t>
            </a:r>
            <a:r>
              <a:rPr lang="en-US" sz="2000" dirty="0"/>
              <a:t>(int points);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endOfQuarter</a:t>
            </a:r>
            <a:r>
              <a:rPr lang="en-US" sz="2000" dirty="0"/>
              <a:t>(int quarter);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}</a:t>
            </a:r>
          </a:p>
          <a:p>
            <a:pPr marL="0" indent="0">
              <a:spcAft>
                <a:spcPts val="210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5598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JAVA </a:t>
            </a:r>
            <a:r>
              <a:rPr lang="en" dirty="0">
                <a:solidFill>
                  <a:schemeClr val="accent2"/>
                </a:solidFill>
              </a:rPr>
              <a:t>INTERFACES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057400"/>
            <a:ext cx="9755100" cy="38404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public interface Hockey extends Sports {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homeGoalScored</a:t>
            </a:r>
            <a:r>
              <a:rPr lang="en-US" sz="2000" dirty="0"/>
              <a:t>();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visitingGoalScored</a:t>
            </a:r>
            <a:r>
              <a:rPr lang="en-US" sz="2000" dirty="0"/>
              <a:t>();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endOfPeriod</a:t>
            </a:r>
            <a:r>
              <a:rPr lang="en-US" sz="2000" dirty="0"/>
              <a:t>(int period);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overtimePeriod</a:t>
            </a:r>
            <a:r>
              <a:rPr lang="en-US" sz="2000" dirty="0"/>
              <a:t>(int </a:t>
            </a:r>
            <a:r>
              <a:rPr lang="en-US" sz="2000" dirty="0" err="1"/>
              <a:t>ot</a:t>
            </a:r>
            <a:r>
              <a:rPr lang="en-US" sz="2000" dirty="0"/>
              <a:t>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5754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JAVA </a:t>
            </a:r>
            <a:r>
              <a:rPr lang="en" dirty="0">
                <a:solidFill>
                  <a:schemeClr val="accent2"/>
                </a:solidFill>
              </a:rPr>
              <a:t>INTERFACES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057400"/>
            <a:ext cx="9755100" cy="38404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HockeyDemo</a:t>
            </a:r>
            <a:r>
              <a:rPr lang="en-US" sz="2000" dirty="0"/>
              <a:t> implements Hockey {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setHomeTeam</a:t>
            </a:r>
            <a:r>
              <a:rPr lang="en-US" sz="2000" dirty="0"/>
              <a:t>(String name) {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   </a:t>
            </a:r>
            <a:r>
              <a:rPr lang="en-US" sz="2000" dirty="0" err="1"/>
              <a:t>System.out.println</a:t>
            </a:r>
            <a:r>
              <a:rPr lang="en-US" sz="2000" dirty="0"/>
              <a:t>("Home team: " + name);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}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setVisitingTeam</a:t>
            </a:r>
            <a:r>
              <a:rPr lang="en-US" sz="2000" dirty="0"/>
              <a:t>(String name) {}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en-US" sz="2000" dirty="0"/>
              <a:t>   public void </a:t>
            </a:r>
            <a:r>
              <a:rPr lang="en-US" sz="2000" dirty="0" err="1"/>
              <a:t>homeGoalScored</a:t>
            </a:r>
            <a:r>
              <a:rPr lang="en-US" sz="2000" dirty="0"/>
              <a:t>() {}</a:t>
            </a:r>
          </a:p>
        </p:txBody>
      </p:sp>
    </p:spTree>
    <p:extLst>
      <p:ext uri="{BB962C8B-B14F-4D97-AF65-F5344CB8AC3E}">
        <p14:creationId xmlns:p14="http://schemas.microsoft.com/office/powerpoint/2010/main" val="3365117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167640"/>
            <a:ext cx="11187810" cy="95472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JAVA </a:t>
            </a:r>
            <a:r>
              <a:rPr lang="en" dirty="0">
                <a:solidFill>
                  <a:schemeClr val="accent2"/>
                </a:solidFill>
              </a:rPr>
              <a:t>INTERFACES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1920240"/>
            <a:ext cx="9755100" cy="47701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public void </a:t>
            </a:r>
            <a:r>
              <a:rPr lang="en-US" sz="1800" dirty="0" err="1"/>
              <a:t>visitingGoalScored</a:t>
            </a:r>
            <a:r>
              <a:rPr lang="en-US" sz="1800" dirty="0"/>
              <a:t>() {}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public void </a:t>
            </a:r>
            <a:r>
              <a:rPr lang="en-US" sz="1800" dirty="0" err="1"/>
              <a:t>endOfPeriod</a:t>
            </a:r>
            <a:r>
              <a:rPr lang="en-US" sz="1800" dirty="0"/>
              <a:t>(int period) {}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public void </a:t>
            </a:r>
            <a:r>
              <a:rPr lang="en-US" sz="1800" dirty="0" err="1"/>
              <a:t>overtimePeriod</a:t>
            </a:r>
            <a:r>
              <a:rPr lang="en-US" sz="1800" dirty="0"/>
              <a:t>(int </a:t>
            </a:r>
            <a:r>
              <a:rPr lang="en-US" sz="1800" dirty="0" err="1"/>
              <a:t>ot</a:t>
            </a:r>
            <a:r>
              <a:rPr lang="en-US" sz="1800" dirty="0"/>
              <a:t>) {}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   Hockey </a:t>
            </a:r>
            <a:r>
              <a:rPr lang="en-US" sz="1800" dirty="0" err="1"/>
              <a:t>hockeyDemo</a:t>
            </a:r>
            <a:r>
              <a:rPr lang="en-US" sz="1800" dirty="0"/>
              <a:t> = new </a:t>
            </a:r>
            <a:r>
              <a:rPr lang="en-US" sz="1800" dirty="0" err="1"/>
              <a:t>HockeyDemo</a:t>
            </a:r>
            <a:r>
              <a:rPr lang="en-US" sz="1800" dirty="0"/>
              <a:t>();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   </a:t>
            </a:r>
            <a:r>
              <a:rPr lang="en-US" sz="1800" dirty="0" err="1"/>
              <a:t>hockeyDemo.setHomeTeam</a:t>
            </a:r>
            <a:r>
              <a:rPr lang="en-US" sz="1800" dirty="0"/>
              <a:t>("India");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   }</a:t>
            </a:r>
          </a:p>
          <a:p>
            <a:pPr marL="0" indent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2449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>
            <a:spLocks noGrp="1"/>
          </p:cNvSpPr>
          <p:nvPr>
            <p:ph type="title"/>
          </p:nvPr>
        </p:nvSpPr>
        <p:spPr>
          <a:xfrm>
            <a:off x="684150" y="358863"/>
            <a:ext cx="9755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EXTENDING MULTIPLE </a:t>
            </a:r>
            <a:r>
              <a:rPr lang="en" dirty="0">
                <a:solidFill>
                  <a:schemeClr val="accent2"/>
                </a:solidFill>
              </a:rPr>
              <a:t>INTERFACES?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1" name="Google Shape;441;p29"/>
          <p:cNvSpPr txBox="1">
            <a:spLocks noGrp="1"/>
          </p:cNvSpPr>
          <p:nvPr>
            <p:ph type="subTitle" idx="1"/>
          </p:nvPr>
        </p:nvSpPr>
        <p:spPr>
          <a:xfrm>
            <a:off x="1217558" y="1800269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sz="1900" dirty="0">
                <a:solidFill>
                  <a:schemeClr val="accent3"/>
                </a:solidFill>
              </a:rPr>
              <a:t>&lt;p&gt; </a:t>
            </a:r>
            <a:r>
              <a:rPr lang="en-US" sz="1900" dirty="0">
                <a:solidFill>
                  <a:schemeClr val="accent2"/>
                </a:solidFill>
              </a:rPr>
              <a:t>A Java class can only extend one parent class. Multiple inheritance is not allowed.</a:t>
            </a:r>
            <a:r>
              <a:rPr lang="en" sz="1900" dirty="0"/>
              <a:t> </a:t>
            </a:r>
            <a:r>
              <a:rPr lang="en" sz="1900" dirty="0">
                <a:solidFill>
                  <a:schemeClr val="accent3"/>
                </a:solidFill>
              </a:rPr>
              <a:t>&lt;/p&gt;</a:t>
            </a:r>
            <a:endParaRPr sz="1900" dirty="0"/>
          </a:p>
        </p:txBody>
      </p:sp>
      <p:sp>
        <p:nvSpPr>
          <p:cNvPr id="443" name="Google Shape;443;p29"/>
          <p:cNvSpPr txBox="1">
            <a:spLocks noGrp="1"/>
          </p:cNvSpPr>
          <p:nvPr>
            <p:ph type="subTitle" idx="2"/>
          </p:nvPr>
        </p:nvSpPr>
        <p:spPr>
          <a:xfrm>
            <a:off x="1217558" y="3099858"/>
            <a:ext cx="9999082" cy="82076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&lt;p&gt; </a:t>
            </a:r>
            <a:r>
              <a:rPr lang="en-US" dirty="0">
                <a:solidFill>
                  <a:schemeClr val="accent2"/>
                </a:solidFill>
              </a:rPr>
              <a:t>Suppose we have another interface named event, then a class can implement multiple interfaces e.g. </a:t>
            </a:r>
            <a:r>
              <a:rPr lang="en" dirty="0"/>
              <a:t> </a:t>
            </a:r>
            <a:r>
              <a:rPr lang="en" dirty="0">
                <a:solidFill>
                  <a:schemeClr val="accent2"/>
                </a:solidFill>
              </a:rPr>
              <a:t>&lt;/p&gt;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46" name="Google Shape;446;p29"/>
          <p:cNvSpPr txBox="1">
            <a:spLocks noGrp="1"/>
          </p:cNvSpPr>
          <p:nvPr>
            <p:ph type="body" idx="4"/>
          </p:nvPr>
        </p:nvSpPr>
        <p:spPr>
          <a:xfrm>
            <a:off x="1217550" y="2585017"/>
            <a:ext cx="97551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800" dirty="0"/>
              <a:t>public interface Hockey extends Sports, Event</a:t>
            </a:r>
            <a:endParaRPr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E1D0C-CDD5-997D-72A6-B5DFEC63ECC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217550" y="3920620"/>
            <a:ext cx="9756900" cy="2007739"/>
          </a:xfrm>
        </p:spPr>
        <p:txBody>
          <a:bodyPr/>
          <a:lstStyle/>
          <a:p>
            <a:pPr marL="139700" indent="0">
              <a:buNone/>
            </a:pPr>
            <a:r>
              <a:rPr lang="en-US" sz="2000" dirty="0"/>
              <a:t>interface Event {</a:t>
            </a:r>
          </a:p>
          <a:p>
            <a:pPr marL="139700" indent="0">
              <a:buNone/>
            </a:pPr>
            <a:r>
              <a:rPr lang="en-US" sz="2000" dirty="0"/>
              <a:t>   public void organize();</a:t>
            </a:r>
          </a:p>
          <a:p>
            <a:pPr marL="139700" indent="0">
              <a:buNone/>
            </a:pPr>
            <a:r>
              <a:rPr lang="en-US" sz="2000" dirty="0"/>
              <a:t>}</a:t>
            </a:r>
          </a:p>
          <a:p>
            <a:pPr marL="13970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HockeyDemo</a:t>
            </a:r>
            <a:r>
              <a:rPr lang="en-US" sz="2000" dirty="0"/>
              <a:t> implements Hockey, Event {</a:t>
            </a:r>
          </a:p>
        </p:txBody>
      </p:sp>
    </p:spTree>
    <p:extLst>
      <p:ext uri="{BB962C8B-B14F-4D97-AF65-F5344CB8AC3E}">
        <p14:creationId xmlns:p14="http://schemas.microsoft.com/office/powerpoint/2010/main" val="3221656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</a:t>
            </a:r>
            <a:r>
              <a:rPr lang="en" sz="9000" dirty="0">
                <a:solidFill>
                  <a:schemeClr val="accent3"/>
                </a:solidFill>
              </a:rPr>
              <a:t>YOU!</a:t>
            </a:r>
            <a:endParaRPr sz="9000" dirty="0">
              <a:solidFill>
                <a:schemeClr val="accent3"/>
              </a:solidFill>
            </a:endParaRPr>
          </a:p>
        </p:txBody>
      </p:sp>
      <p:sp>
        <p:nvSpPr>
          <p:cNvPr id="854" name="Google Shape;854;p43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855" name="Google Shape;855;p43"/>
          <p:cNvSpPr/>
          <p:nvPr/>
        </p:nvSpPr>
        <p:spPr>
          <a:xfrm>
            <a:off x="8281390" y="4171653"/>
            <a:ext cx="181070" cy="392601"/>
          </a:xfrm>
          <a:custGeom>
            <a:avLst/>
            <a:gdLst/>
            <a:ahLst/>
            <a:cxnLst/>
            <a:rect l="l" t="t" r="r" b="b"/>
            <a:pathLst>
              <a:path w="7907" h="17146" extrusionOk="0">
                <a:moveTo>
                  <a:pt x="5538" y="0"/>
                </a:moveTo>
                <a:cubicBezTo>
                  <a:pt x="2969" y="0"/>
                  <a:pt x="1802" y="1134"/>
                  <a:pt x="1802" y="3303"/>
                </a:cubicBezTo>
                <a:lnTo>
                  <a:pt x="1802" y="5604"/>
                </a:lnTo>
                <a:lnTo>
                  <a:pt x="0" y="5604"/>
                </a:lnTo>
                <a:lnTo>
                  <a:pt x="0" y="8540"/>
                </a:lnTo>
                <a:lnTo>
                  <a:pt x="1802" y="8540"/>
                </a:lnTo>
                <a:lnTo>
                  <a:pt x="1802" y="17146"/>
                </a:lnTo>
                <a:lnTo>
                  <a:pt x="5238" y="17146"/>
                </a:lnTo>
                <a:lnTo>
                  <a:pt x="5238" y="8473"/>
                </a:lnTo>
                <a:lnTo>
                  <a:pt x="7673" y="8473"/>
                </a:lnTo>
                <a:lnTo>
                  <a:pt x="7906" y="5604"/>
                </a:lnTo>
                <a:lnTo>
                  <a:pt x="5238" y="5604"/>
                </a:lnTo>
                <a:lnTo>
                  <a:pt x="5238" y="3936"/>
                </a:lnTo>
                <a:cubicBezTo>
                  <a:pt x="5238" y="3269"/>
                  <a:pt x="5404" y="3002"/>
                  <a:pt x="6038" y="3002"/>
                </a:cubicBezTo>
                <a:lnTo>
                  <a:pt x="7906" y="3002"/>
                </a:lnTo>
                <a:lnTo>
                  <a:pt x="790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43"/>
          <p:cNvGrpSpPr/>
          <p:nvPr/>
        </p:nvGrpSpPr>
        <p:grpSpPr>
          <a:xfrm>
            <a:off x="8814493" y="4162001"/>
            <a:ext cx="411849" cy="411917"/>
            <a:chOff x="5162200" y="4097750"/>
            <a:chExt cx="338385" cy="338414"/>
          </a:xfrm>
        </p:grpSpPr>
        <p:sp>
          <p:nvSpPr>
            <p:cNvPr id="857" name="Google Shape;857;p43"/>
            <p:cNvSpPr/>
            <p:nvPr/>
          </p:nvSpPr>
          <p:spPr>
            <a:xfrm>
              <a:off x="5162200" y="4097750"/>
              <a:ext cx="338385" cy="338414"/>
            </a:xfrm>
            <a:custGeom>
              <a:avLst/>
              <a:gdLst/>
              <a:ahLst/>
              <a:cxnLst/>
              <a:rect l="l" t="t" r="r" b="b"/>
              <a:pathLst>
                <a:path w="11842" h="11843" extrusionOk="0">
                  <a:moveTo>
                    <a:pt x="5938" y="1068"/>
                  </a:moveTo>
                  <a:cubicBezTo>
                    <a:pt x="7505" y="1068"/>
                    <a:pt x="7706" y="1068"/>
                    <a:pt x="8339" y="1101"/>
                  </a:cubicBezTo>
                  <a:cubicBezTo>
                    <a:pt x="8906" y="1135"/>
                    <a:pt x="9207" y="1201"/>
                    <a:pt x="9440" y="1301"/>
                  </a:cubicBezTo>
                  <a:cubicBezTo>
                    <a:pt x="9707" y="1401"/>
                    <a:pt x="9907" y="1535"/>
                    <a:pt x="10107" y="1735"/>
                  </a:cubicBezTo>
                  <a:cubicBezTo>
                    <a:pt x="10307" y="1935"/>
                    <a:pt x="10441" y="2135"/>
                    <a:pt x="10541" y="2435"/>
                  </a:cubicBezTo>
                  <a:cubicBezTo>
                    <a:pt x="10641" y="2636"/>
                    <a:pt x="10741" y="2936"/>
                    <a:pt x="10741" y="3536"/>
                  </a:cubicBezTo>
                  <a:cubicBezTo>
                    <a:pt x="10774" y="4137"/>
                    <a:pt x="10774" y="4337"/>
                    <a:pt x="10774" y="5905"/>
                  </a:cubicBezTo>
                  <a:cubicBezTo>
                    <a:pt x="10774" y="7506"/>
                    <a:pt x="10774" y="7706"/>
                    <a:pt x="10741" y="8306"/>
                  </a:cubicBezTo>
                  <a:cubicBezTo>
                    <a:pt x="10741" y="8907"/>
                    <a:pt x="10641" y="9207"/>
                    <a:pt x="10541" y="9407"/>
                  </a:cubicBezTo>
                  <a:cubicBezTo>
                    <a:pt x="10441" y="9707"/>
                    <a:pt x="10307" y="9907"/>
                    <a:pt x="10107" y="10108"/>
                  </a:cubicBezTo>
                  <a:cubicBezTo>
                    <a:pt x="9907" y="10308"/>
                    <a:pt x="9707" y="10441"/>
                    <a:pt x="9440" y="10541"/>
                  </a:cubicBezTo>
                  <a:cubicBezTo>
                    <a:pt x="9207" y="10608"/>
                    <a:pt x="8906" y="10708"/>
                    <a:pt x="8339" y="10741"/>
                  </a:cubicBezTo>
                  <a:cubicBezTo>
                    <a:pt x="7706" y="10775"/>
                    <a:pt x="7505" y="10775"/>
                    <a:pt x="5938" y="10775"/>
                  </a:cubicBezTo>
                  <a:cubicBezTo>
                    <a:pt x="4337" y="10775"/>
                    <a:pt x="4170" y="10775"/>
                    <a:pt x="3536" y="10741"/>
                  </a:cubicBezTo>
                  <a:cubicBezTo>
                    <a:pt x="2969" y="10708"/>
                    <a:pt x="2635" y="10608"/>
                    <a:pt x="2435" y="10541"/>
                  </a:cubicBezTo>
                  <a:cubicBezTo>
                    <a:pt x="2168" y="10441"/>
                    <a:pt x="1968" y="10308"/>
                    <a:pt x="1735" y="10108"/>
                  </a:cubicBezTo>
                  <a:cubicBezTo>
                    <a:pt x="1535" y="9874"/>
                    <a:pt x="1401" y="9674"/>
                    <a:pt x="1301" y="9407"/>
                  </a:cubicBezTo>
                  <a:cubicBezTo>
                    <a:pt x="1234" y="9207"/>
                    <a:pt x="1134" y="8907"/>
                    <a:pt x="1101" y="8306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37"/>
                    <a:pt x="1101" y="3536"/>
                  </a:cubicBezTo>
                  <a:cubicBezTo>
                    <a:pt x="1134" y="2936"/>
                    <a:pt x="1234" y="2636"/>
                    <a:pt x="1301" y="2435"/>
                  </a:cubicBezTo>
                  <a:cubicBezTo>
                    <a:pt x="1401" y="2135"/>
                    <a:pt x="1535" y="1935"/>
                    <a:pt x="1735" y="1735"/>
                  </a:cubicBezTo>
                  <a:cubicBezTo>
                    <a:pt x="1968" y="1535"/>
                    <a:pt x="2168" y="1401"/>
                    <a:pt x="2435" y="1301"/>
                  </a:cubicBezTo>
                  <a:cubicBezTo>
                    <a:pt x="2635" y="1235"/>
                    <a:pt x="2969" y="1135"/>
                    <a:pt x="3536" y="1101"/>
                  </a:cubicBezTo>
                  <a:cubicBezTo>
                    <a:pt x="4170" y="1068"/>
                    <a:pt x="4337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2869" y="67"/>
                    <a:pt x="2435" y="167"/>
                    <a:pt x="2035" y="301"/>
                  </a:cubicBezTo>
                  <a:cubicBezTo>
                    <a:pt x="1668" y="467"/>
                    <a:pt x="1334" y="668"/>
                    <a:pt x="1001" y="1001"/>
                  </a:cubicBezTo>
                  <a:cubicBezTo>
                    <a:pt x="667" y="1335"/>
                    <a:pt x="467" y="1635"/>
                    <a:pt x="300" y="2035"/>
                  </a:cubicBezTo>
                  <a:cubicBezTo>
                    <a:pt x="167" y="2402"/>
                    <a:pt x="67" y="2836"/>
                    <a:pt x="33" y="3470"/>
                  </a:cubicBezTo>
                  <a:cubicBezTo>
                    <a:pt x="0" y="4103"/>
                    <a:pt x="0" y="4303"/>
                    <a:pt x="0" y="5938"/>
                  </a:cubicBezTo>
                  <a:cubicBezTo>
                    <a:pt x="0" y="7539"/>
                    <a:pt x="0" y="7739"/>
                    <a:pt x="33" y="8373"/>
                  </a:cubicBezTo>
                  <a:cubicBezTo>
                    <a:pt x="67" y="9007"/>
                    <a:pt x="167" y="9440"/>
                    <a:pt x="300" y="9807"/>
                  </a:cubicBezTo>
                  <a:cubicBezTo>
                    <a:pt x="467" y="10208"/>
                    <a:pt x="667" y="10541"/>
                    <a:pt x="1001" y="10841"/>
                  </a:cubicBezTo>
                  <a:cubicBezTo>
                    <a:pt x="1334" y="11175"/>
                    <a:pt x="1668" y="11375"/>
                    <a:pt x="2035" y="11542"/>
                  </a:cubicBezTo>
                  <a:cubicBezTo>
                    <a:pt x="2435" y="11675"/>
                    <a:pt x="2869" y="11775"/>
                    <a:pt x="3503" y="11809"/>
                  </a:cubicBezTo>
                  <a:cubicBezTo>
                    <a:pt x="4103" y="11842"/>
                    <a:pt x="4337" y="11842"/>
                    <a:pt x="5938" y="11842"/>
                  </a:cubicBezTo>
                  <a:cubicBezTo>
                    <a:pt x="7539" y="11842"/>
                    <a:pt x="7739" y="11842"/>
                    <a:pt x="8373" y="11809"/>
                  </a:cubicBezTo>
                  <a:cubicBezTo>
                    <a:pt x="9007" y="11775"/>
                    <a:pt x="9440" y="11675"/>
                    <a:pt x="9807" y="11542"/>
                  </a:cubicBezTo>
                  <a:cubicBezTo>
                    <a:pt x="10207" y="11375"/>
                    <a:pt x="10541" y="11175"/>
                    <a:pt x="10875" y="10841"/>
                  </a:cubicBezTo>
                  <a:cubicBezTo>
                    <a:pt x="11208" y="10508"/>
                    <a:pt x="11408" y="10208"/>
                    <a:pt x="11542" y="9807"/>
                  </a:cubicBezTo>
                  <a:cubicBezTo>
                    <a:pt x="11708" y="9440"/>
                    <a:pt x="11775" y="9007"/>
                    <a:pt x="11809" y="8373"/>
                  </a:cubicBezTo>
                  <a:cubicBezTo>
                    <a:pt x="11842" y="7739"/>
                    <a:pt x="11842" y="7539"/>
                    <a:pt x="11842" y="5938"/>
                  </a:cubicBezTo>
                  <a:cubicBezTo>
                    <a:pt x="11842" y="4303"/>
                    <a:pt x="11842" y="4103"/>
                    <a:pt x="11809" y="3470"/>
                  </a:cubicBezTo>
                  <a:cubicBezTo>
                    <a:pt x="11809" y="2836"/>
                    <a:pt x="11708" y="2402"/>
                    <a:pt x="11542" y="2035"/>
                  </a:cubicBezTo>
                  <a:cubicBezTo>
                    <a:pt x="11408" y="1668"/>
                    <a:pt x="11175" y="1301"/>
                    <a:pt x="10875" y="1001"/>
                  </a:cubicBezTo>
                  <a:cubicBezTo>
                    <a:pt x="10541" y="668"/>
                    <a:pt x="10207" y="467"/>
                    <a:pt x="9807" y="301"/>
                  </a:cubicBezTo>
                  <a:cubicBezTo>
                    <a:pt x="9440" y="167"/>
                    <a:pt x="9007" y="67"/>
                    <a:pt x="8373" y="34"/>
                  </a:cubicBezTo>
                  <a:cubicBezTo>
                    <a:pt x="7739" y="0"/>
                    <a:pt x="7539" y="0"/>
                    <a:pt x="5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3"/>
            <p:cNvSpPr/>
            <p:nvPr/>
          </p:nvSpPr>
          <p:spPr>
            <a:xfrm>
              <a:off x="5245127" y="4179731"/>
              <a:ext cx="173507" cy="174450"/>
            </a:xfrm>
            <a:custGeom>
              <a:avLst/>
              <a:gdLst/>
              <a:ahLst/>
              <a:cxnLst/>
              <a:rect l="l" t="t" r="r" b="b"/>
              <a:pathLst>
                <a:path w="6072" h="6105" extrusionOk="0">
                  <a:moveTo>
                    <a:pt x="3036" y="1068"/>
                  </a:moveTo>
                  <a:cubicBezTo>
                    <a:pt x="4136" y="1068"/>
                    <a:pt x="5004" y="1968"/>
                    <a:pt x="5004" y="3036"/>
                  </a:cubicBezTo>
                  <a:cubicBezTo>
                    <a:pt x="5004" y="4136"/>
                    <a:pt x="4136" y="5037"/>
                    <a:pt x="3036" y="5037"/>
                  </a:cubicBezTo>
                  <a:cubicBezTo>
                    <a:pt x="1935" y="5037"/>
                    <a:pt x="1068" y="4136"/>
                    <a:pt x="1068" y="3036"/>
                  </a:cubicBezTo>
                  <a:cubicBezTo>
                    <a:pt x="1068" y="1968"/>
                    <a:pt x="1935" y="1068"/>
                    <a:pt x="3036" y="1068"/>
                  </a:cubicBezTo>
                  <a:close/>
                  <a:moveTo>
                    <a:pt x="3036" y="0"/>
                  </a:moveTo>
                  <a:cubicBezTo>
                    <a:pt x="1334" y="0"/>
                    <a:pt x="0" y="1368"/>
                    <a:pt x="0" y="3036"/>
                  </a:cubicBezTo>
                  <a:cubicBezTo>
                    <a:pt x="0" y="4737"/>
                    <a:pt x="1334" y="6104"/>
                    <a:pt x="3036" y="6104"/>
                  </a:cubicBezTo>
                  <a:cubicBezTo>
                    <a:pt x="4704" y="6104"/>
                    <a:pt x="6071" y="4737"/>
                    <a:pt x="6071" y="3036"/>
                  </a:cubicBezTo>
                  <a:cubicBezTo>
                    <a:pt x="6071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5401436" y="4155900"/>
              <a:ext cx="41034" cy="41005"/>
            </a:xfrm>
            <a:custGeom>
              <a:avLst/>
              <a:gdLst/>
              <a:ahLst/>
              <a:cxnLst/>
              <a:rect l="l" t="t" r="r" b="b"/>
              <a:pathLst>
                <a:path w="1436" h="1435" extrusionOk="0">
                  <a:moveTo>
                    <a:pt x="735" y="0"/>
                  </a:moveTo>
                  <a:cubicBezTo>
                    <a:pt x="334" y="0"/>
                    <a:pt x="1" y="334"/>
                    <a:pt x="1" y="734"/>
                  </a:cubicBezTo>
                  <a:cubicBezTo>
                    <a:pt x="1" y="1101"/>
                    <a:pt x="334" y="1435"/>
                    <a:pt x="735" y="1435"/>
                  </a:cubicBezTo>
                  <a:cubicBezTo>
                    <a:pt x="1135" y="1435"/>
                    <a:pt x="1435" y="1101"/>
                    <a:pt x="1435" y="734"/>
                  </a:cubicBezTo>
                  <a:cubicBezTo>
                    <a:pt x="1435" y="334"/>
                    <a:pt x="1102" y="0"/>
                    <a:pt x="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43"/>
          <p:cNvSpPr/>
          <p:nvPr/>
        </p:nvSpPr>
        <p:spPr>
          <a:xfrm>
            <a:off x="7548500" y="4213036"/>
            <a:ext cx="380848" cy="309834"/>
          </a:xfrm>
          <a:custGeom>
            <a:avLst/>
            <a:gdLst/>
            <a:ahLst/>
            <a:cxnLst/>
            <a:rect l="l" t="t" r="r" b="b"/>
            <a:pathLst>
              <a:path w="16446" h="13378" extrusionOk="0">
                <a:moveTo>
                  <a:pt x="11375" y="1"/>
                </a:moveTo>
                <a:cubicBezTo>
                  <a:pt x="9207" y="1"/>
                  <a:pt x="7606" y="2036"/>
                  <a:pt x="8106" y="4137"/>
                </a:cubicBezTo>
                <a:cubicBezTo>
                  <a:pt x="5304" y="4004"/>
                  <a:pt x="2802" y="2669"/>
                  <a:pt x="1135" y="635"/>
                </a:cubicBezTo>
                <a:lnTo>
                  <a:pt x="1135" y="635"/>
                </a:lnTo>
                <a:cubicBezTo>
                  <a:pt x="267" y="2136"/>
                  <a:pt x="701" y="4137"/>
                  <a:pt x="2202" y="5138"/>
                </a:cubicBezTo>
                <a:cubicBezTo>
                  <a:pt x="1635" y="5104"/>
                  <a:pt x="1135" y="4971"/>
                  <a:pt x="668" y="4704"/>
                </a:cubicBezTo>
                <a:lnTo>
                  <a:pt x="668" y="4704"/>
                </a:lnTo>
                <a:cubicBezTo>
                  <a:pt x="634" y="6272"/>
                  <a:pt x="1735" y="7740"/>
                  <a:pt x="3370" y="8040"/>
                </a:cubicBezTo>
                <a:cubicBezTo>
                  <a:pt x="3087" y="8121"/>
                  <a:pt x="2780" y="8165"/>
                  <a:pt x="2463" y="8165"/>
                </a:cubicBezTo>
                <a:cubicBezTo>
                  <a:pt x="2256" y="8165"/>
                  <a:pt x="2046" y="8146"/>
                  <a:pt x="1835" y="8107"/>
                </a:cubicBezTo>
                <a:lnTo>
                  <a:pt x="1835" y="8107"/>
                </a:lnTo>
                <a:cubicBezTo>
                  <a:pt x="2269" y="9441"/>
                  <a:pt x="3503" y="10408"/>
                  <a:pt x="5004" y="10442"/>
                </a:cubicBezTo>
                <a:cubicBezTo>
                  <a:pt x="3785" y="11406"/>
                  <a:pt x="2325" y="11888"/>
                  <a:pt x="808" y="11888"/>
                </a:cubicBezTo>
                <a:cubicBezTo>
                  <a:pt x="540" y="11888"/>
                  <a:pt x="271" y="11873"/>
                  <a:pt x="0" y="11843"/>
                </a:cubicBezTo>
                <a:lnTo>
                  <a:pt x="0" y="11843"/>
                </a:lnTo>
                <a:cubicBezTo>
                  <a:pt x="1502" y="12810"/>
                  <a:pt x="3269" y="13377"/>
                  <a:pt x="5171" y="13377"/>
                </a:cubicBezTo>
                <a:cubicBezTo>
                  <a:pt x="11442" y="13377"/>
                  <a:pt x="14978" y="8073"/>
                  <a:pt x="14744" y="3337"/>
                </a:cubicBezTo>
                <a:cubicBezTo>
                  <a:pt x="15411" y="2870"/>
                  <a:pt x="15979" y="2269"/>
                  <a:pt x="16446" y="1602"/>
                </a:cubicBezTo>
                <a:lnTo>
                  <a:pt x="16446" y="1602"/>
                </a:lnTo>
                <a:cubicBezTo>
                  <a:pt x="15812" y="1869"/>
                  <a:pt x="15178" y="2036"/>
                  <a:pt x="14511" y="2136"/>
                </a:cubicBezTo>
                <a:cubicBezTo>
                  <a:pt x="15178" y="1702"/>
                  <a:pt x="15712" y="1035"/>
                  <a:pt x="15979" y="268"/>
                </a:cubicBezTo>
                <a:lnTo>
                  <a:pt x="15979" y="268"/>
                </a:lnTo>
                <a:cubicBezTo>
                  <a:pt x="15311" y="635"/>
                  <a:pt x="14611" y="935"/>
                  <a:pt x="13844" y="1068"/>
                </a:cubicBezTo>
                <a:cubicBezTo>
                  <a:pt x="13210" y="434"/>
                  <a:pt x="12343" y="1"/>
                  <a:pt x="11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3"/>
          <p:cNvSpPr txBox="1">
            <a:spLocks noGrp="1"/>
          </p:cNvSpPr>
          <p:nvPr>
            <p:ph type="body" idx="2"/>
          </p:nvPr>
        </p:nvSpPr>
        <p:spPr>
          <a:xfrm>
            <a:off x="7448900" y="28620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…@mail.com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Phone number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957</Words>
  <Application>Microsoft Office PowerPoint</Application>
  <PresentationFormat>Widescreen</PresentationFormat>
  <Paragraphs>132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Roboto</vt:lpstr>
      <vt:lpstr>Roboto Mono</vt:lpstr>
      <vt:lpstr>Aldrich</vt:lpstr>
      <vt:lpstr>Arial</vt:lpstr>
      <vt:lpstr>Abril Fatface</vt:lpstr>
      <vt:lpstr>Calibri</vt:lpstr>
      <vt:lpstr>SlidesMania</vt:lpstr>
      <vt:lpstr>INTERFACES  IN  JAVA</vt:lpstr>
      <vt:lpstr>06</vt:lpstr>
      <vt:lpstr>WHAT ARE INTERFACES?</vt:lpstr>
      <vt:lpstr>CONTRASTING JAVA INTERFACES AND CLASSES</vt:lpstr>
      <vt:lpstr>CONTRASTING JAVA INTERFACES AND CLASSES</vt:lpstr>
      <vt:lpstr>DECLARING AN INTERFACES?</vt:lpstr>
      <vt:lpstr>EXAMPLE OF AN INTERFACES</vt:lpstr>
      <vt:lpstr>IMPLEMENTING INTERFACES</vt:lpstr>
      <vt:lpstr>IMPLEMENTING INTERFACES </vt:lpstr>
      <vt:lpstr>IMPLEMENTING INTERFACES</vt:lpstr>
      <vt:lpstr>RULES</vt:lpstr>
      <vt:lpstr>EXTENDING JAVA INTERFACES</vt:lpstr>
      <vt:lpstr>EXTENDING JAVA INTERFACES</vt:lpstr>
      <vt:lpstr>EXTENDING JAVA INTERFACES</vt:lpstr>
      <vt:lpstr>EXTENDING JAVA INTERFACES</vt:lpstr>
      <vt:lpstr>EXTENDING JAVA INTERFACES</vt:lpstr>
      <vt:lpstr>EXTENDING MULTIPLE INTERFACES?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Adekitos</dc:creator>
  <cp:lastModifiedBy>Jide Adeniyi</cp:lastModifiedBy>
  <cp:revision>16</cp:revision>
  <dcterms:modified xsi:type="dcterms:W3CDTF">2025-04-27T11:38:27Z</dcterms:modified>
</cp:coreProperties>
</file>