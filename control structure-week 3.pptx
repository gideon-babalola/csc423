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4"/>
  </p:notesMasterIdLst>
  <p:handoutMasterIdLst>
    <p:handoutMasterId r:id="rId25"/>
  </p:handoutMasterIdLst>
  <p:sldIdLst>
    <p:sldId id="312" r:id="rId5"/>
    <p:sldId id="281" r:id="rId6"/>
    <p:sldId id="313" r:id="rId7"/>
    <p:sldId id="314" r:id="rId8"/>
    <p:sldId id="315" r:id="rId9"/>
    <p:sldId id="316" r:id="rId10"/>
    <p:sldId id="318" r:id="rId11"/>
    <p:sldId id="317" r:id="rId12"/>
    <p:sldId id="319" r:id="rId13"/>
    <p:sldId id="320" r:id="rId14"/>
    <p:sldId id="321" r:id="rId15"/>
    <p:sldId id="323" r:id="rId16"/>
    <p:sldId id="324" r:id="rId17"/>
    <p:sldId id="325" r:id="rId18"/>
    <p:sldId id="326" r:id="rId19"/>
    <p:sldId id="328" r:id="rId20"/>
    <p:sldId id="327" r:id="rId21"/>
    <p:sldId id="329" r:id="rId22"/>
    <p:sldId id="322" r:id="rId2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388" autoAdjust="0"/>
  </p:normalViewPr>
  <p:slideViewPr>
    <p:cSldViewPr snapToGrid="0" snapToObjects="1">
      <p:cViewPr varScale="1">
        <p:scale>
          <a:sx n="68" d="100"/>
          <a:sy n="68" d="100"/>
        </p:scale>
        <p:origin x="816" y="4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B54C5-1471-A242-6C59-946ECEEEF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6AA51-9F58-DAB3-458B-72B79F3E4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492B5-9323-E93D-4CB5-32F90B06E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457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8C22F-E09E-9BE0-A66C-8D41F2DBC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1075D-3AE5-0653-C5F9-0AC2D44D3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CA51F-5A6F-68C0-6D15-93A175048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799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A21B4-E352-04EE-3C33-F163C03F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72A8DF-BEFB-0DDB-C6BE-672C12322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C6CB4-426F-8BFA-7404-AFA701513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235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2759F-BB65-0B50-7E7F-6BF71F24B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4B3F6-6825-E01E-2528-050758CE8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3BFB2-2425-79D2-49DA-EFCA465FF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606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D562E-C7FB-9144-68B5-7368B7207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338E1-47DE-F6AE-F7F0-A89601039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02818E-B808-6F06-2756-A38C4559E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813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ABE7-86D1-94ED-F85A-F73032AE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91C30-AE31-C2AE-8A6D-F47C83C59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38C67-BE89-C2B5-8608-A509DF90A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127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1DDC3-8C89-0F55-869A-FC2E9295D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C6391-35EC-8444-64E1-B604F955F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3148F-5F67-FD29-08F4-6301440DF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0961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17674-4FEC-F67C-3858-3614FD7FB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FCDFF-FBC0-044F-4D56-4DD2F913A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45301-496A-B7DE-7979-6C91A8041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894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4589D-7ED9-05F8-88C3-F4D79CCC1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549C05-D88C-8E2C-5F55-7263EA4F1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5DD2E-6BF9-39C6-878A-792178843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7547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7CE0-3E07-FF8C-5837-8508CE4AD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04549-2065-E625-CA5A-1A4354A98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276FD-3791-470B-4B8D-103AD00ED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02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6693-7434-6719-724E-ADBE5B030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225C3B-619D-4F8B-A28F-0427C7BBA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7FF35-56E9-CE2B-D639-D0A8F17A9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504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1B76F-F446-8EE5-B037-E25D3EA9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046B2-373C-4E27-C346-83A233FBD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F86D1-85D1-6D7D-2A26-C5BCEA4BD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59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9895D-FA3E-F1F2-89AA-7087F4951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FEFAA2-80AD-45AD-CDAC-44351A817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2089D-1CD9-E01F-090E-AEA3DFDA1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7479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DDA14-501E-B038-AD84-365EC9175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A06DC-4A53-91DE-1053-58D3B8B8A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1BDCF-EB2B-4BF6-E798-8D4E2F11B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81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0B49C-A349-9C60-2962-A0648FA18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EC74C7-D6EF-9DEA-1EB9-DD8B19DE4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0BDF0-832E-B0A8-99FD-795CCC60A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7824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E6D28-E327-D8EF-F6A6-66F12158B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FBCBEF-2667-DA41-B7FA-C8B5AEFE1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DCB77-12D6-C985-58BF-3AC82A453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6812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CB512-4D06-D461-9AA2-476A2E759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524E0-6036-668E-B009-44FBA1482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04D5F-3F86-371A-C006-1AD1D8B4C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892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knowledge7.com/2012/07/06/control-structure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knowledge7.com/2012/07/06/control-structures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knowledge7.com/2012/07/06/control-structure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knowledge7.com/2012/07/06/control-structure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knowledge7.com/2012/07/06/control-structures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knowledge7.com/2012/07/06/control-structures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knowledge7.com/2012/07/06/control-structures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knowledge7.com/2012/07/06/control-structures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knowledge7.com/2012/07/06/control-structures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knowledge7.com/2012/07/06/control-structures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knowledge7.com/2012/07/06/control-structures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hyperlink" Target="https://creativecommons.org/licenses/by-nc-sa/3.0/" TargetMode="External"/><Relationship Id="rId4" Type="http://schemas.openxmlformats.org/officeDocument/2006/relationships/hyperlink" Target="https://www.knowledge7.com/2012/07/06/control-structures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Structure</a:t>
            </a:r>
            <a:b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Tree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560" y="467531"/>
            <a:ext cx="6133514" cy="629749"/>
          </a:xfrm>
        </p:spPr>
        <p:txBody>
          <a:bodyPr/>
          <a:lstStyle/>
          <a:p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control structures?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1865004-228F-7B7D-FBEA-116887AA4A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3112" y="1378934"/>
            <a:ext cx="6981082" cy="459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Control structures determine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flow of execution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a program .They control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order, decision-making, and repetition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Three main types: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Sequence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Selection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Iteration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76A4B80E-5C99-C138-1393-5B5FD50ADDD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233" r="20233"/>
          <a:stretch>
            <a:fillRect/>
          </a:stretch>
        </p:blipFill>
        <p:spPr>
          <a:xfrm>
            <a:off x="7414194" y="0"/>
            <a:ext cx="4777806" cy="68580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701449B-4BE9-3603-41E2-36189720BE9D}"/>
              </a:ext>
            </a:extLst>
          </p:cNvPr>
          <p:cNvSpPr txBox="1"/>
          <p:nvPr/>
        </p:nvSpPr>
        <p:spPr>
          <a:xfrm>
            <a:off x="7414194" y="6858000"/>
            <a:ext cx="4344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knowledge7.com/2012/07/06/control-structure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7ECBD-AE82-6CF8-E38E-326DB24D1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946C0-4807-AF37-4DC1-956658938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29" y="467531"/>
            <a:ext cx="6321745" cy="629749"/>
          </a:xfrm>
        </p:spPr>
        <p:txBody>
          <a:bodyPr/>
          <a:lstStyle/>
          <a:p>
            <a:pPr algn="ctr"/>
            <a:r>
              <a:rPr lang="en-US" sz="3200" cap="none" dirty="0"/>
              <a:t>Types of control structures</a:t>
            </a:r>
            <a:endParaRPr lang="en-US" sz="32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9449245-535E-30EF-5ABA-D3ACE85B84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2329" y="1131022"/>
            <a:ext cx="6981082" cy="169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1. Sequence</a:t>
            </a:r>
            <a:r>
              <a:rPr lang="en-US" dirty="0"/>
              <a:t> – Executes statements in order</a:t>
            </a:r>
            <a:br>
              <a:rPr lang="en-US" dirty="0"/>
            </a:br>
            <a:r>
              <a:rPr lang="en-US" b="1" dirty="0"/>
              <a:t>2. Selection</a:t>
            </a:r>
            <a:r>
              <a:rPr lang="en-US" dirty="0"/>
              <a:t> – Decision making (branching)</a:t>
            </a:r>
            <a:br>
              <a:rPr lang="en-US" dirty="0"/>
            </a:br>
            <a:r>
              <a:rPr lang="en-US" b="1" dirty="0"/>
              <a:t>3. Iteration</a:t>
            </a:r>
            <a:r>
              <a:rPr lang="en-US" dirty="0"/>
              <a:t> – Repeats a block of code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27643D4A-526D-162B-0837-5D282DF7A3F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233" r="20233"/>
          <a:stretch>
            <a:fillRect/>
          </a:stretch>
        </p:blipFill>
        <p:spPr>
          <a:xfrm>
            <a:off x="7414194" y="0"/>
            <a:ext cx="4777806" cy="68580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CAA6FE9-DD33-F806-519E-C8C9BFBCD38D}"/>
              </a:ext>
            </a:extLst>
          </p:cNvPr>
          <p:cNvSpPr txBox="1"/>
          <p:nvPr/>
        </p:nvSpPr>
        <p:spPr>
          <a:xfrm>
            <a:off x="7414194" y="6858000"/>
            <a:ext cx="4344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knowledge7.com/2012/07/06/control-structure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12754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05B44-8D48-F9B8-267B-D7BC6973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AE88A-F7C8-DF0F-CAE4-A89E5EE7D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29" y="467531"/>
            <a:ext cx="6321745" cy="629749"/>
          </a:xfrm>
        </p:spPr>
        <p:txBody>
          <a:bodyPr/>
          <a:lstStyle/>
          <a:p>
            <a:pPr algn="ctr"/>
            <a:r>
              <a:rPr lang="en-US" sz="3200" dirty="0"/>
              <a:t>Sequence Structure</a:t>
            </a:r>
            <a:endParaRPr lang="en-US" sz="32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F0BA785-A5EA-2142-337A-1A5758E2DF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2627" y="998800"/>
            <a:ext cx="6981082" cy="5391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Description: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Default mode of execution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Instructions run one after another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Start → Step 1 → Step 2 → Step 3 → End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r>
              <a:rPr lang="en-US" b="1" dirty="0"/>
              <a:t>Properties: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Simple and linear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No branching or looping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Predictable execution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646DBEB4-7EAB-2258-A8E8-617B76CC89E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233" r="20233"/>
          <a:stretch>
            <a:fillRect/>
          </a:stretch>
        </p:blipFill>
        <p:spPr>
          <a:xfrm>
            <a:off x="7414194" y="0"/>
            <a:ext cx="4777806" cy="68580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293F807-9CB6-B63F-C2E1-3F449756CF1D}"/>
              </a:ext>
            </a:extLst>
          </p:cNvPr>
          <p:cNvSpPr txBox="1"/>
          <p:nvPr/>
        </p:nvSpPr>
        <p:spPr>
          <a:xfrm>
            <a:off x="7414194" y="6858000"/>
            <a:ext cx="4344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knowledge7.com/2012/07/06/control-structure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905847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50B4E-DC94-03DB-EFC3-54A8573C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3E6F-235A-2252-4FDC-5E4AD7DE7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5" y="467531"/>
            <a:ext cx="7405234" cy="629749"/>
          </a:xfrm>
        </p:spPr>
        <p:txBody>
          <a:bodyPr/>
          <a:lstStyle/>
          <a:p>
            <a:pPr algn="ctr"/>
            <a:r>
              <a:rPr lang="en-US" sz="3200" cap="none" dirty="0"/>
              <a:t>Selection structure (decision)</a:t>
            </a:r>
            <a:endParaRPr lang="en-US" sz="32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803BCFD-BEDF-BAD3-E66D-3773B55BF8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82" y="1564811"/>
            <a:ext cx="6981082" cy="3175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if, if-else, switch</a:t>
            </a:r>
          </a:p>
          <a:p>
            <a:r>
              <a:rPr lang="en-US" b="1" dirty="0"/>
              <a:t>Properties: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Enables decision-making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Two-way or multi-way branching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Condition-based execution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2BAF3056-93B9-41F8-4243-D8BE9CE5382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233" r="20233"/>
          <a:stretch>
            <a:fillRect/>
          </a:stretch>
        </p:blipFill>
        <p:spPr>
          <a:xfrm>
            <a:off x="7414194" y="0"/>
            <a:ext cx="4777806" cy="68580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AF93526-36A3-4033-9427-FDDD55D9F486}"/>
              </a:ext>
            </a:extLst>
          </p:cNvPr>
          <p:cNvSpPr txBox="1"/>
          <p:nvPr/>
        </p:nvSpPr>
        <p:spPr>
          <a:xfrm>
            <a:off x="7414194" y="6858000"/>
            <a:ext cx="4344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knowledge7.com/2012/07/06/control-structure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856593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ED45-1506-654C-4218-5D0C9F04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BE01796A-0A1D-6C81-662C-12C3F6ABF5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82" y="2857473"/>
            <a:ext cx="6981082" cy="590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14A0AF-C56D-E555-BBEC-34CD84B55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11" y="410780"/>
            <a:ext cx="9709695" cy="644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355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04AA6-E3A1-A55D-A3DC-C2519A331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4FC61706-73EC-4556-569C-4114427190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82" y="2857473"/>
            <a:ext cx="6981082" cy="590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EABAE5-D227-F162-D878-AFFEA895A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6" y="492370"/>
            <a:ext cx="7237905" cy="618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987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CF613-3653-C451-9D72-32C05FCF1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3201EF2D-652C-B6E7-8A00-CC1D8B5B57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682" y="2857473"/>
            <a:ext cx="6981082" cy="590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DB3F21-4AD5-A75B-1D31-C307227B1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68" y="423932"/>
            <a:ext cx="11241050" cy="643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546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6AB80-6A99-8DCF-2639-5F9A4C4F5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700D-09FA-4EFC-9A1A-9821E3BC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5" y="467531"/>
            <a:ext cx="7405234" cy="629749"/>
          </a:xfrm>
        </p:spPr>
        <p:txBody>
          <a:bodyPr/>
          <a:lstStyle/>
          <a:p>
            <a:pPr algn="ctr"/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structure (looping)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78357BD1-A9AF-BDB4-5F4B-4539965DB02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233" r="20233"/>
          <a:stretch>
            <a:fillRect/>
          </a:stretch>
        </p:blipFill>
        <p:spPr>
          <a:xfrm>
            <a:off x="7414194" y="0"/>
            <a:ext cx="4777806" cy="68580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E9EF37-25FE-DB4C-551E-3184BF0EAE56}"/>
              </a:ext>
            </a:extLst>
          </p:cNvPr>
          <p:cNvSpPr txBox="1"/>
          <p:nvPr/>
        </p:nvSpPr>
        <p:spPr>
          <a:xfrm>
            <a:off x="7414194" y="6858000"/>
            <a:ext cx="4344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knowledge7.com/2012/07/06/control-structure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DBB73-71C4-B613-039F-4131E905BEFC}"/>
              </a:ext>
            </a:extLst>
          </p:cNvPr>
          <p:cNvSpPr txBox="1"/>
          <p:nvPr/>
        </p:nvSpPr>
        <p:spPr>
          <a:xfrm>
            <a:off x="422031" y="1438199"/>
            <a:ext cx="686503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for, while, do-while</a:t>
            </a:r>
          </a:p>
          <a:p>
            <a:endParaRPr lang="en-US" sz="2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Properties:</a:t>
            </a:r>
            <a:endParaRPr lang="en-US" sz="2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Repeats code block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Controlled by condition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of infinite loops if not managed</a:t>
            </a:r>
          </a:p>
          <a:p>
            <a:endParaRPr lang="en-US" sz="2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33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361E0-F213-D2EB-230E-2B299804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036B9B3-EE23-E0B1-0233-D9B72206C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58" y="576775"/>
            <a:ext cx="9931791" cy="589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809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601FA-10BD-2381-9E47-4D886754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E48EA0-FA05-4BAF-5783-0B89AE0F2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366" y="548640"/>
            <a:ext cx="5247249" cy="604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08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930A0-3C12-F310-D14D-ED23B5FE0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142CF-FE53-528C-4E95-A6CBFAC5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29" y="467531"/>
            <a:ext cx="6321745" cy="629749"/>
          </a:xfrm>
        </p:spPr>
        <p:txBody>
          <a:bodyPr/>
          <a:lstStyle/>
          <a:p>
            <a:pPr algn="ctr"/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FE067AB-9D1B-4127-4408-6B633F70D1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6356" y="1357637"/>
            <a:ext cx="6981082" cy="3914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Programs may encounter unexpected errors during execution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These errors are called exceptions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Exception handling helps manage runtime errors gracefully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Prevents program crashes and improves reliability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26B6FD9C-F928-D8CF-FD6C-10E7BC90BA0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233" r="20233"/>
          <a:stretch>
            <a:fillRect/>
          </a:stretch>
        </p:blipFill>
        <p:spPr>
          <a:xfrm>
            <a:off x="7414194" y="0"/>
            <a:ext cx="4777806" cy="68580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95010F0-9D3C-6A2C-8E74-A2628B91D417}"/>
              </a:ext>
            </a:extLst>
          </p:cNvPr>
          <p:cNvSpPr txBox="1"/>
          <p:nvPr/>
        </p:nvSpPr>
        <p:spPr>
          <a:xfrm>
            <a:off x="7414194" y="6858000"/>
            <a:ext cx="4344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knowledge7.com/2012/07/06/control-structure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815997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E0125-1063-7728-4F4D-F33A6CF57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E664-2E38-3314-D743-EC49B0DED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29" y="467531"/>
            <a:ext cx="6321745" cy="629749"/>
          </a:xfrm>
        </p:spPr>
        <p:txBody>
          <a:bodyPr/>
          <a:lstStyle/>
          <a:p>
            <a:pPr algn="ctr"/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39BE2DB-B9E9-1F2E-71F7-38A66F77AC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6356" y="1911634"/>
            <a:ext cx="6981082" cy="2806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An exception is an abnormal event during program execution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Examples: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Division by zero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File not found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658566A3-05BA-6404-FD0E-CEF9B6D4221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233" r="20233"/>
          <a:stretch>
            <a:fillRect/>
          </a:stretch>
        </p:blipFill>
        <p:spPr>
          <a:xfrm>
            <a:off x="7414194" y="0"/>
            <a:ext cx="4777806" cy="68580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80AB6D-6276-4549-AA85-F3F9A84F17C1}"/>
              </a:ext>
            </a:extLst>
          </p:cNvPr>
          <p:cNvSpPr txBox="1"/>
          <p:nvPr/>
        </p:nvSpPr>
        <p:spPr>
          <a:xfrm>
            <a:off x="7414194" y="6858000"/>
            <a:ext cx="4344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knowledge7.com/2012/07/06/control-structure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113184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5CAD7-FEBA-A3CE-885E-98DC02F36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06B8-7653-E295-7DA7-3105CAB3F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29" y="467531"/>
            <a:ext cx="6321745" cy="629749"/>
          </a:xfrm>
        </p:spPr>
        <p:txBody>
          <a:bodyPr/>
          <a:lstStyle/>
          <a:p>
            <a:pPr algn="ctr"/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 in Java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8675549-7D33-3A0A-5844-4BED7E092C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6356" y="1357637"/>
            <a:ext cx="6981082" cy="3914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 mechanism to handle runtime errors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Allows program to continue normal execution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Uses special constructs like: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try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catch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throw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finally (Java)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7B78EA7C-B7CC-56FD-8659-FE35F800CB8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233" r="20233"/>
          <a:stretch>
            <a:fillRect/>
          </a:stretch>
        </p:blipFill>
        <p:spPr>
          <a:xfrm>
            <a:off x="7414194" y="0"/>
            <a:ext cx="4777806" cy="68580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F8B3880-296A-2CBC-8ACB-4F70AE4A5776}"/>
              </a:ext>
            </a:extLst>
          </p:cNvPr>
          <p:cNvSpPr txBox="1"/>
          <p:nvPr/>
        </p:nvSpPr>
        <p:spPr>
          <a:xfrm>
            <a:off x="7414194" y="6858000"/>
            <a:ext cx="4344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knowledge7.com/2012/07/06/control-structure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901291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A11F4-002A-3CFC-31C2-032304B6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21A33-AF41-DD44-4A02-064A4D264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29" y="467531"/>
            <a:ext cx="6321745" cy="629749"/>
          </a:xfrm>
        </p:spPr>
        <p:txBody>
          <a:bodyPr/>
          <a:lstStyle/>
          <a:p>
            <a:pPr algn="ctr"/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 in Java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DD5C765-1512-365F-9B71-338DF89543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6356" y="2189756"/>
            <a:ext cx="6981082" cy="225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try → block of code that may cause exception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catch → handles the exception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throw → used to generate an exception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finally → always executed (Java)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DF758785-9DD7-EE8C-1F0B-5419716BB86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233" r="20233"/>
          <a:stretch>
            <a:fillRect/>
          </a:stretch>
        </p:blipFill>
        <p:spPr>
          <a:xfrm>
            <a:off x="7414194" y="0"/>
            <a:ext cx="4777806" cy="68580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18A6F68-8C2B-388F-DC43-26BB8123150E}"/>
              </a:ext>
            </a:extLst>
          </p:cNvPr>
          <p:cNvSpPr txBox="1"/>
          <p:nvPr/>
        </p:nvSpPr>
        <p:spPr>
          <a:xfrm>
            <a:off x="7414194" y="6858000"/>
            <a:ext cx="4344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knowledge7.com/2012/07/06/control-structure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4607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08118-13CE-CC27-4F37-E62F4A485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FE972-7C2C-9375-C325-B060384E5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29" y="467531"/>
            <a:ext cx="6321745" cy="629749"/>
          </a:xfrm>
        </p:spPr>
        <p:txBody>
          <a:bodyPr/>
          <a:lstStyle/>
          <a:p>
            <a:pPr algn="ctr"/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 in Java 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013C9562-EDE5-63B6-3FFB-D90DDCAA304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233" r="20233"/>
          <a:stretch>
            <a:fillRect/>
          </a:stretch>
        </p:blipFill>
        <p:spPr>
          <a:xfrm>
            <a:off x="7414194" y="0"/>
            <a:ext cx="4777806" cy="68580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B9F18E7-2B89-1272-22B5-28B066EC38A3}"/>
              </a:ext>
            </a:extLst>
          </p:cNvPr>
          <p:cNvSpPr txBox="1"/>
          <p:nvPr/>
        </p:nvSpPr>
        <p:spPr>
          <a:xfrm>
            <a:off x="7414194" y="6858000"/>
            <a:ext cx="4344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knowledge7.com/2012/07/06/control-structure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7731F-4017-D5C6-03A1-28F53F0A5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0FDB5-3B5B-2C80-E79E-09C7909E4D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1505243"/>
            <a:ext cx="6414069" cy="520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422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29392-7543-5A6B-A0ED-9884E682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403F9-7F22-6BA6-0701-36B9394D4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29" y="467531"/>
            <a:ext cx="6561517" cy="629749"/>
          </a:xfrm>
        </p:spPr>
        <p:txBody>
          <a:bodyPr/>
          <a:lstStyle/>
          <a:p>
            <a:pPr algn="ctr"/>
            <a:r>
              <a:rPr lang="en-US" sz="2400" dirty="0"/>
              <a:t>Exception Handling in C++</a:t>
            </a:r>
            <a:endParaRPr lang="en-US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0FC52E2-D111-43E7-567D-7C52C81FCF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8897" y="1334224"/>
            <a:ext cx="596258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Uses:</a:t>
            </a:r>
          </a:p>
          <a:p>
            <a:r>
              <a:rPr lang="en-US" dirty="0"/>
              <a:t>try </a:t>
            </a:r>
          </a:p>
          <a:p>
            <a:r>
              <a:rPr lang="en-US" dirty="0"/>
              <a:t>catch </a:t>
            </a:r>
          </a:p>
          <a:p>
            <a:r>
              <a:rPr lang="en-US" dirty="0"/>
              <a:t>throw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D13B91DB-7F3A-317C-92C6-3D145E2BB2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233" r="20233"/>
          <a:stretch>
            <a:fillRect/>
          </a:stretch>
        </p:blipFill>
        <p:spPr>
          <a:xfrm>
            <a:off x="7414194" y="0"/>
            <a:ext cx="4777806" cy="68580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37FC41-54FC-69B5-96E5-717D6361784E}"/>
              </a:ext>
            </a:extLst>
          </p:cNvPr>
          <p:cNvSpPr txBox="1"/>
          <p:nvPr/>
        </p:nvSpPr>
        <p:spPr>
          <a:xfrm>
            <a:off x="7414194" y="6858000"/>
            <a:ext cx="4344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knowledge7.com/2012/07/06/control-structure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26B043-43C2-C73C-6E70-3DD92E70F1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429" y="3123394"/>
            <a:ext cx="5660048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016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A22CD-A7AE-B534-AA5E-AEBF7D29D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3563-B7EB-2EF1-C41E-D98CCFF21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29" y="467531"/>
            <a:ext cx="6561517" cy="629749"/>
          </a:xfrm>
        </p:spPr>
        <p:txBody>
          <a:bodyPr/>
          <a:lstStyle/>
          <a:p>
            <a:pPr algn="ctr"/>
            <a:r>
              <a:rPr lang="en-US" sz="2400" dirty="0"/>
              <a:t>Exception Handling </a:t>
            </a:r>
            <a:r>
              <a:rPr lang="en-US" sz="2400"/>
              <a:t>in Python</a:t>
            </a:r>
            <a:endParaRPr lang="en-US" sz="24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04B4F8D5-9887-1016-F753-DBBCF10F1FE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233" r="20233"/>
          <a:stretch>
            <a:fillRect/>
          </a:stretch>
        </p:blipFill>
        <p:spPr>
          <a:xfrm>
            <a:off x="7414194" y="0"/>
            <a:ext cx="4777806" cy="6858000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A99E056-1D13-0EF0-C577-DFBE03479502}"/>
              </a:ext>
            </a:extLst>
          </p:cNvPr>
          <p:cNvSpPr txBox="1"/>
          <p:nvPr/>
        </p:nvSpPr>
        <p:spPr>
          <a:xfrm>
            <a:off x="7414194" y="6858000"/>
            <a:ext cx="4344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knowledge7.com/2012/07/06/control-structure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sa/3.0/"/>
              </a:rPr>
              <a:t>CC BY-SA-NC</a:t>
            </a:r>
            <a:endParaRPr lang="en-US" sz="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2B8BFE-3F80-A30C-6A75-9773F07BFE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637" y="1280160"/>
            <a:ext cx="6363360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975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72A79-3B9D-3A07-11AB-2D6F11993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97376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{CE2CC4AD-9B25-4FFC-83B4-51CADC6DFEC7}TF8a9b5915-b8c7-461e-8cdd-693d48b5e32371f7b7e2_win32-4bf0b9a2ea37</Template>
  <TotalTime>85</TotalTime>
  <Words>395</Words>
  <Application>Microsoft Office PowerPoint</Application>
  <PresentationFormat>Widescreen</PresentationFormat>
  <Paragraphs>76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Calibri</vt:lpstr>
      <vt:lpstr>Sabon Next LT</vt:lpstr>
      <vt:lpstr>Times New Roman</vt:lpstr>
      <vt:lpstr>Wingdings</vt:lpstr>
      <vt:lpstr>Custom</vt:lpstr>
      <vt:lpstr>Control Structure Week Tree</vt:lpstr>
      <vt:lpstr>What are control structures?</vt:lpstr>
      <vt:lpstr>Types of control structures</vt:lpstr>
      <vt:lpstr>Sequence Structure</vt:lpstr>
      <vt:lpstr>Selection structure (decision)</vt:lpstr>
      <vt:lpstr>PowerPoint Presentation</vt:lpstr>
      <vt:lpstr>PowerPoint Presentation</vt:lpstr>
      <vt:lpstr>PowerPoint Presentation</vt:lpstr>
      <vt:lpstr>Iteration structure (looping)</vt:lpstr>
      <vt:lpstr>PowerPoint Presentation</vt:lpstr>
      <vt:lpstr>PowerPoint Presentation</vt:lpstr>
      <vt:lpstr>Exception Handling </vt:lpstr>
      <vt:lpstr>Exception Handling </vt:lpstr>
      <vt:lpstr>Exception Handling in Java </vt:lpstr>
      <vt:lpstr>Exception Handling in Java </vt:lpstr>
      <vt:lpstr>Exception Handling in Java </vt:lpstr>
      <vt:lpstr>Exception Handling in C++</vt:lpstr>
      <vt:lpstr>Exception Handling in Python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USER</cp:lastModifiedBy>
  <cp:revision>15</cp:revision>
  <dcterms:created xsi:type="dcterms:W3CDTF">2026-04-14T02:56:56Z</dcterms:created>
  <dcterms:modified xsi:type="dcterms:W3CDTF">2026-04-21T08:11:38Z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