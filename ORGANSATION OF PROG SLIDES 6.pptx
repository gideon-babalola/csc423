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5"/>
  </p:notesMasterIdLst>
  <p:handoutMasterIdLst>
    <p:handoutMasterId r:id="rId26"/>
  </p:handoutMasterIdLst>
  <p:sldIdLst>
    <p:sldId id="312" r:id="rId5"/>
    <p:sldId id="325" r:id="rId6"/>
    <p:sldId id="326" r:id="rId7"/>
    <p:sldId id="327" r:id="rId8"/>
    <p:sldId id="339" r:id="rId9"/>
    <p:sldId id="340" r:id="rId10"/>
    <p:sldId id="347" r:id="rId11"/>
    <p:sldId id="348" r:id="rId12"/>
    <p:sldId id="349" r:id="rId13"/>
    <p:sldId id="350" r:id="rId14"/>
    <p:sldId id="346" r:id="rId15"/>
    <p:sldId id="351" r:id="rId16"/>
    <p:sldId id="341" r:id="rId17"/>
    <p:sldId id="352" r:id="rId18"/>
    <p:sldId id="342" r:id="rId19"/>
    <p:sldId id="353" r:id="rId20"/>
    <p:sldId id="343" r:id="rId21"/>
    <p:sldId id="345" r:id="rId22"/>
    <p:sldId id="323" r:id="rId23"/>
    <p:sldId id="297" r:id="rId24"/>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xmlns=""/>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1815" autoAdjust="0"/>
  </p:normalViewPr>
  <p:slideViewPr>
    <p:cSldViewPr snapToGrid="0" snapToObjects="1">
      <p:cViewPr varScale="1">
        <p:scale>
          <a:sx n="67" d="100"/>
          <a:sy n="67" d="100"/>
        </p:scale>
        <p:origin x="-864" y="-108"/>
      </p:cViewPr>
      <p:guideLst>
        <p:guide orient="horz" pos="2616"/>
        <p:guide orient="horz" pos="3264"/>
        <p:guide orient="horz"/>
        <p:guide orient="horz" pos="4008"/>
        <p:guide orient="horz" pos="2352"/>
        <p:guide orient="horz" pos="2448"/>
        <p:guide pos="6912"/>
        <p:guide pos="6696"/>
        <p:guide pos="2136"/>
        <p:guide pos="2760"/>
        <p:guide pos="3288"/>
        <p:guide pos="4032"/>
        <p:guide pos="4392"/>
        <p:guide pos="4944"/>
        <p:guide pos="5544"/>
        <p:guide pos="6072"/>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xmlns=""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11E3EEF-C7E1-5426-4DF1-7E5F485622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EC614E89-46A9-0928-4848-D009F9896514}"/>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xmlns="" id="{FA9B0DC7-2F37-0434-7E27-A34554F21C76}"/>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2744220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0DD7E09-A22C-0CCC-5BF2-761783D818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45FB09B5-83EA-A830-CB72-862428263C73}"/>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xmlns="" id="{C1F9B60B-2478-B142-0B12-D67D235D8863}"/>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8253968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3206AE8-4AEF-282A-F9AA-ACF6F994E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21BD27B-83A7-796B-8DA9-94825837DE4C}"/>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xmlns="" id="{0B042E9A-87F1-A114-0A13-B10B443C57FB}"/>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373032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A360A89-7771-3C8D-58DF-475F4FC23B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03A9CDF9-4057-5990-C39D-41FB5B242CA0}"/>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xmlns="" id="{DFF3D681-A824-0442-C2F9-2DF049EF45C9}"/>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6477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DB9FA2A-917C-6288-39EE-DDE51A4A9E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021D021F-AFEF-A884-D32B-1ED70D52C75D}"/>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xmlns="" id="{CB56E041-0568-252D-B92B-D6BD9E056401}"/>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442749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xmlns="" id="{BA5D5A72-CB6F-F8DE-E2C9-90459C8C3DC1}"/>
              </a:ext>
              <a:ext uri="{C183D7F6-B498-43B3-948B-1728B52AA6E4}">
                <adec:decorative xmlns:adec="http://schemas.microsoft.com/office/drawing/2017/decorative" xmlns=""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xmlns="" id="{E66FD7FF-2869-7902-36B2-2B229AB9AB19}"/>
              </a:ext>
              <a:ext uri="{C183D7F6-B498-43B3-948B-1728B52AA6E4}">
                <adec:decorative xmlns:adec="http://schemas.microsoft.com/office/drawing/2017/decorative" xmlns=""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xmlns="" id="{B1457C88-4472-81CF-02AF-4421E0A3084B}"/>
              </a:ext>
              <a:ext uri="{C183D7F6-B498-43B3-948B-1728B52AA6E4}">
                <adec:decorative xmlns:adec="http://schemas.microsoft.com/office/drawing/2017/decorative" xmlns=""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xmlns="">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xmlns="" id="{75923D9E-9381-3D11-B31A-1BF5C97F35B0}"/>
              </a:ext>
              <a:ext uri="{C183D7F6-B498-43B3-948B-1728B52AA6E4}">
                <adec:decorative xmlns:adec="http://schemas.microsoft.com/office/drawing/2017/decorative" xmlns=""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xmlns=""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xmlns=""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xmlns="" id="{0F297964-0B81-31DC-6D6D-1414832238B1}"/>
              </a:ext>
              <a:ext uri="{C183D7F6-B498-43B3-948B-1728B52AA6E4}">
                <adec:decorative xmlns:adec="http://schemas.microsoft.com/office/drawing/2017/decorative" xmlns=""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xmlns=""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xmlns=""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xmlns="" id="{EFFAEAD9-58A9-096B-C6D0-58F7AD08EB20}"/>
              </a:ext>
              <a:ext uri="{C183D7F6-B498-43B3-948B-1728B52AA6E4}">
                <adec:decorative xmlns:adec="http://schemas.microsoft.com/office/drawing/2017/decorative" xmlns=""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xmlns=""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xmlns=""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xmlns=""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xmlns="" id="{7537D12D-0FCA-3396-988D-452D3D526E3D}"/>
              </a:ext>
              <a:ext uri="{C183D7F6-B498-43B3-948B-1728B52AA6E4}">
                <adec:decorative xmlns:adec="http://schemas.microsoft.com/office/drawing/2017/decorative" xmlns=""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xmlns="" id="{11710CE8-8A83-C0D3-623E-AFCC6C6A2930}"/>
              </a:ext>
              <a:ext uri="{C183D7F6-B498-43B3-948B-1728B52AA6E4}">
                <adec:decorative xmlns:adec="http://schemas.microsoft.com/office/drawing/2017/decorative" xmlns=""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xmlns="" id="{7AA66C80-37C3-6D28-7564-733A30B2CD8D}"/>
              </a:ext>
              <a:ext uri="{C183D7F6-B498-43B3-948B-1728B52AA6E4}">
                <adec:decorative xmlns:adec="http://schemas.microsoft.com/office/drawing/2017/decorative" xmlns=""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xmlns="" id="{D9DB7C23-E0CF-A75F-BFFD-4E7679AF4AD5}"/>
                </a:ext>
                <a:ext uri="{C183D7F6-B498-43B3-948B-1728B52AA6E4}">
                  <adec:decorative xmlns:adec="http://schemas.microsoft.com/office/drawing/2017/decorative" xmlns=""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xmlns="" id="{4D62A0CC-A0CE-403A-A167-27225B2C6083}"/>
                </a:ext>
                <a:ext uri="{C183D7F6-B498-43B3-948B-1728B52AA6E4}">
                  <adec:decorative xmlns:adec="http://schemas.microsoft.com/office/drawing/2017/decorative" xmlns=""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xmlns="" id="{F8AD83DA-A293-6D56-F606-7C98C403A3F7}"/>
                </a:ext>
                <a:ext uri="{C183D7F6-B498-43B3-948B-1728B52AA6E4}">
                  <adec:decorative xmlns:adec="http://schemas.microsoft.com/office/drawing/2017/decorative" xmlns=""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xmlns=""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xmlns="" id="{86F8B46B-EF6E-BC12-09E2-0F3B779197B4}"/>
              </a:ext>
              <a:ext uri="{C183D7F6-B498-43B3-948B-1728B52AA6E4}">
                <adec:decorative xmlns:adec="http://schemas.microsoft.com/office/drawing/2017/decorative" xmlns=""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xmlns="" id="{5D7B4F11-E150-473B-98F5-6E6AC9646863}"/>
              </a:ext>
              <a:ext uri="{C183D7F6-B498-43B3-948B-1728B52AA6E4}">
                <adec:decorative xmlns:adec="http://schemas.microsoft.com/office/drawing/2017/decorative" xmlns=""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xmlns="" id="{A8E2FA61-C047-21BB-AA50-F84AD7685498}"/>
              </a:ext>
              <a:ext uri="{C183D7F6-B498-43B3-948B-1728B52AA6E4}">
                <adec:decorative xmlns:adec="http://schemas.microsoft.com/office/drawing/2017/decorative" xmlns=""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xmlns="" id="{1A2791BA-760E-9FA5-8743-D0B699FC9835}"/>
              </a:ext>
              <a:ext uri="{C183D7F6-B498-43B3-948B-1728B52AA6E4}">
                <adec:decorative xmlns:adec="http://schemas.microsoft.com/office/drawing/2017/decorative" xmlns=""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xmlns=""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xmlns=""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xmlns=""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xmlns="" id="{2A3EC91E-4089-D366-06D3-3E66F93DFAF3}"/>
              </a:ext>
              <a:ext uri="{C183D7F6-B498-43B3-948B-1728B52AA6E4}">
                <adec:decorative xmlns:adec="http://schemas.microsoft.com/office/drawing/2017/decorative" xmlns=""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xmlns="" id="{70F595E1-C910-3710-90E9-AF5FFCE05861}"/>
              </a:ext>
              <a:ext uri="{C183D7F6-B498-43B3-948B-1728B52AA6E4}">
                <adec:decorative xmlns:adec="http://schemas.microsoft.com/office/drawing/2017/decorative" xmlns=""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xmlns="" id="{AA39EF58-54F1-4AC9-1D83-2E7DEEAAEA6A}"/>
              </a:ext>
              <a:ext uri="{C183D7F6-B498-43B3-948B-1728B52AA6E4}">
                <adec:decorative xmlns:adec="http://schemas.microsoft.com/office/drawing/2017/decorative" xmlns=""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xmlns="" id="{0C320934-59CC-4123-C7C1-FEEE89F3045F}"/>
              </a:ext>
              <a:ext uri="{C183D7F6-B498-43B3-948B-1728B52AA6E4}">
                <adec:decorative xmlns:adec="http://schemas.microsoft.com/office/drawing/2017/decorative" xmlns=""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xmlns="" id="{EC46DC71-C12A-96C8-3FE2-AA95AB58B349}"/>
              </a:ext>
              <a:ext uri="{C183D7F6-B498-43B3-948B-1728B52AA6E4}">
                <adec:decorative xmlns:adec="http://schemas.microsoft.com/office/drawing/2017/decorative" xmlns=""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xmlns=""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xmlns=""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xmlns=""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xmlns="" id="{CD2D664E-6702-6607-A37E-2E996144917C}"/>
              </a:ext>
              <a:ext uri="{C183D7F6-B498-43B3-948B-1728B52AA6E4}">
                <adec:decorative xmlns:adec="http://schemas.microsoft.com/office/drawing/2017/decorative" xmlns=""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xmlns="" id="{951C5737-DF7E-D671-AC74-9E488335BCA2}"/>
              </a:ext>
              <a:ext uri="{C183D7F6-B498-43B3-948B-1728B52AA6E4}">
                <adec:decorative xmlns:adec="http://schemas.microsoft.com/office/drawing/2017/decorative" xmlns=""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xmlns="" id="{F232A1E1-DD38-15EA-6CA1-A84950EC43F0}"/>
              </a:ext>
              <a:ext uri="{C183D7F6-B498-43B3-948B-1728B52AA6E4}">
                <adec:decorative xmlns:adec="http://schemas.microsoft.com/office/drawing/2017/decorative" xmlns=""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xmlns="" id="{B9036D42-A06F-E6EE-BB91-8BAF045198BE}"/>
              </a:ext>
              <a:ext uri="{C183D7F6-B498-43B3-948B-1728B52AA6E4}">
                <adec:decorative xmlns:adec="http://schemas.microsoft.com/office/drawing/2017/decorative" xmlns=""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xmlns="" id="{86E0540C-3355-A50D-AC61-047B54B70C64}"/>
              </a:ext>
              <a:ext uri="{C183D7F6-B498-43B3-948B-1728B52AA6E4}">
                <adec:decorative xmlns:adec="http://schemas.microsoft.com/office/drawing/2017/decorative" xmlns=""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xmlns=""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xmlns=""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xmlns=""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xmlns="" id="{3C7B0BB3-A5CA-7C72-DC39-AD00EC90964C}"/>
              </a:ext>
              <a:ext uri="{C183D7F6-B498-43B3-948B-1728B52AA6E4}">
                <adec:decorative xmlns:adec="http://schemas.microsoft.com/office/drawing/2017/decorative" xmlns=""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xmlns="" id="{07871527-68A5-0A5C-F5A6-A80523BAC92F}"/>
              </a:ext>
              <a:ext uri="{C183D7F6-B498-43B3-948B-1728B52AA6E4}">
                <adec:decorative xmlns:adec="http://schemas.microsoft.com/office/drawing/2017/decorative" xmlns=""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xmlns="" id="{CEB118B3-9B06-AD11-738A-7A0651F98B7E}"/>
              </a:ext>
              <a:ext uri="{C183D7F6-B498-43B3-948B-1728B52AA6E4}">
                <adec:decorative xmlns:adec="http://schemas.microsoft.com/office/drawing/2017/decorative" xmlns=""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xmlns="" id="{0EA94262-504E-06F2-F383-E832C37B1250}"/>
              </a:ext>
              <a:ext uri="{C183D7F6-B498-43B3-948B-1728B52AA6E4}">
                <adec:decorative xmlns:adec="http://schemas.microsoft.com/office/drawing/2017/decorative" xmlns=""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xmlns=""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xmlns=""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xmlns=""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xmlns=""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xmlns="" id="{376CF4B8-1811-BD21-43A7-560AC4724F3B}"/>
              </a:ext>
              <a:ext uri="{C183D7F6-B498-43B3-948B-1728B52AA6E4}">
                <adec:decorative xmlns:adec="http://schemas.microsoft.com/office/drawing/2017/decorative" xmlns=""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xmlns="" id="{30B7B4F0-D3BC-63DF-6429-F771BE5A3270}"/>
              </a:ext>
              <a:ext uri="{C183D7F6-B498-43B3-948B-1728B52AA6E4}">
                <adec:decorative xmlns:adec="http://schemas.microsoft.com/office/drawing/2017/decorative" xmlns=""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xmlns=""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xmlns=""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xmlns=""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xmlns=""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xmlns="" id="{B9152F76-E42E-3D76-6BDB-2FA0D69216AD}"/>
              </a:ext>
              <a:ext uri="{C183D7F6-B498-43B3-948B-1728B52AA6E4}">
                <adec:decorative xmlns:adec="http://schemas.microsoft.com/office/drawing/2017/decorative" xmlns=""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xmlns="" id="{ED0348C7-D83F-0AD7-2539-41219A795693}"/>
                </a:ext>
                <a:ext uri="{C183D7F6-B498-43B3-948B-1728B52AA6E4}">
                  <adec:decorative xmlns:adec="http://schemas.microsoft.com/office/drawing/2017/decorative" xmlns=""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xmlns="" id="{E911AA2D-BE77-278D-CD2E-2EB3E180F3B8}"/>
                </a:ext>
                <a:ext uri="{C183D7F6-B498-43B3-948B-1728B52AA6E4}">
                  <adec:decorative xmlns:adec="http://schemas.microsoft.com/office/drawing/2017/decorative" xmlns=""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xmlns="" id="{B6CE0BA6-C0FD-AC39-6C31-8477E0CAFDB0}"/>
                </a:ext>
                <a:ext uri="{C183D7F6-B498-43B3-948B-1728B52AA6E4}">
                  <adec:decorative xmlns:adec="http://schemas.microsoft.com/office/drawing/2017/decorative" xmlns=""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xmlns="" id="{666AD1A4-36DE-12F3-BB78-BA678A59572C}"/>
                </a:ext>
                <a:ext uri="{C183D7F6-B498-43B3-948B-1728B52AA6E4}">
                  <adec:decorative xmlns:adec="http://schemas.microsoft.com/office/drawing/2017/decorative" xmlns=""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xmlns=""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xmlns="" id="{28259CF0-6BC5-3693-6F49-C4489C07C317}"/>
              </a:ext>
              <a:ext uri="{C183D7F6-B498-43B3-948B-1728B52AA6E4}">
                <adec:decorative xmlns:adec="http://schemas.microsoft.com/office/drawing/2017/decorative" xmlns=""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xmlns="" id="{9019DA73-2516-F3D2-ECDB-620C90483DB3}"/>
              </a:ext>
              <a:ext uri="{C183D7F6-B498-43B3-948B-1728B52AA6E4}">
                <adec:decorative xmlns:adec="http://schemas.microsoft.com/office/drawing/2017/decorative" xmlns=""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xmlns="" id="{5665DA82-D253-8EC5-5DFB-F0266ED9FBB4}"/>
              </a:ext>
              <a:ext uri="{C183D7F6-B498-43B3-948B-1728B52AA6E4}">
                <adec:decorative xmlns:adec="http://schemas.microsoft.com/office/drawing/2017/decorative" xmlns=""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xmlns="" id="{A8B7F1F1-806C-8D65-7340-220A0C4653C8}"/>
              </a:ext>
              <a:ext uri="{C183D7F6-B498-43B3-948B-1728B52AA6E4}">
                <adec:decorative xmlns:adec="http://schemas.microsoft.com/office/drawing/2017/decorative" xmlns=""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xmlns="" id="{E76518D4-6149-BA03-3BE5-6A13A792C115}"/>
              </a:ext>
              <a:ext uri="{C183D7F6-B498-43B3-948B-1728B52AA6E4}">
                <adec:decorative xmlns:adec="http://schemas.microsoft.com/office/drawing/2017/decorative" xmlns=""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xmlns=""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xmlns=""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xmlns=""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xmlns="" id="{D014917C-8694-B4A4-A211-0F31F00E247E}"/>
              </a:ext>
              <a:ext uri="{C183D7F6-B498-43B3-948B-1728B52AA6E4}">
                <adec:decorative xmlns:adec="http://schemas.microsoft.com/office/drawing/2017/decorative" xmlns=""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xmlns="" id="{A7DB6972-BB75-254A-BA88-C0C3E6E93BDB}"/>
              </a:ext>
              <a:ext uri="{C183D7F6-B498-43B3-948B-1728B52AA6E4}">
                <adec:decorative xmlns:adec="http://schemas.microsoft.com/office/drawing/2017/decorative" xmlns=""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xmlns="" id="{790E862E-398F-571C-EC2C-3D17164DE059}"/>
              </a:ext>
              <a:ext uri="{C183D7F6-B498-43B3-948B-1728B52AA6E4}">
                <adec:decorative xmlns:adec="http://schemas.microsoft.com/office/drawing/2017/decorative" xmlns=""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xmlns=""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xmlns=""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xmlns=""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xmlns=""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xmlns="" id="{D5595DD5-43B0-252F-8BC6-6B74340C5BCF}"/>
              </a:ext>
              <a:ext uri="{C183D7F6-B498-43B3-948B-1728B52AA6E4}">
                <adec:decorative xmlns:adec="http://schemas.microsoft.com/office/drawing/2017/decorative" xmlns=""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xmlns="" id="{BC3A3767-6C5E-8188-0A49-955BBACE37F0}"/>
              </a:ext>
              <a:ext uri="{C183D7F6-B498-43B3-948B-1728B52AA6E4}">
                <adec:decorative xmlns:adec="http://schemas.microsoft.com/office/drawing/2017/decorative" xmlns=""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xmlns=""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xmlns=""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xmlns=""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xmlns="" id="{C6639AD7-128F-B39D-B45F-0F22A2C6D68B}"/>
              </a:ext>
              <a:ext uri="{C183D7F6-B498-43B3-948B-1728B52AA6E4}">
                <adec:decorative xmlns:adec="http://schemas.microsoft.com/office/drawing/2017/decorative" xmlns=""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xmlns="" id="{48479A23-C29C-C711-510C-05B69B882268}"/>
              </a:ext>
              <a:ext uri="{C183D7F6-B498-43B3-948B-1728B52AA6E4}">
                <adec:decorative xmlns:adec="http://schemas.microsoft.com/office/drawing/2017/decorative" xmlns=""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xmlns=""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xmlns="" id="{F3DC42FA-4B8F-2EFC-CAB4-1CCAB93BEB7B}"/>
              </a:ext>
              <a:ext uri="{C183D7F6-B498-43B3-948B-1728B52AA6E4}">
                <adec:decorative xmlns:adec="http://schemas.microsoft.com/office/drawing/2017/decorative" xmlns=""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xmlns="" id="{376CF4B8-1811-BD21-43A7-560AC4724F3B}"/>
              </a:ext>
              <a:ext uri="{C183D7F6-B498-43B3-948B-1728B52AA6E4}">
                <adec:decorative xmlns:adec="http://schemas.microsoft.com/office/drawing/2017/decorative" xmlns=""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xmlns="" id="{30B7B4F0-D3BC-63DF-6429-F771BE5A3270}"/>
              </a:ext>
              <a:ext uri="{C183D7F6-B498-43B3-948B-1728B52AA6E4}">
                <adec:decorative xmlns:adec="http://schemas.microsoft.com/office/drawing/2017/decorative" xmlns=""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xmlns=""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xmlns=""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xmlns=""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xmlns="" id="{AEF1F750-031C-BDB7-BD7B-9CBE17406FDB}"/>
              </a:ext>
              <a:ext uri="{C183D7F6-B498-43B3-948B-1728B52AA6E4}">
                <adec:decorative xmlns:adec="http://schemas.microsoft.com/office/drawing/2017/decorative" xmlns=""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xmlns="" id="{FEB515B5-2D9F-58E1-6E3C-CCBF105D891E}"/>
              </a:ext>
              <a:ext uri="{C183D7F6-B498-43B3-948B-1728B52AA6E4}">
                <adec:decorative xmlns:adec="http://schemas.microsoft.com/office/drawing/2017/decorative" xmlns=""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xmlns="" id="{5CCFEDF9-5B69-87BA-8A33-35033DA4013F}"/>
              </a:ext>
              <a:ext uri="{C183D7F6-B498-43B3-948B-1728B52AA6E4}">
                <adec:decorative xmlns:adec="http://schemas.microsoft.com/office/drawing/2017/decorative" xmlns=""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xmlns=""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xmlns="" id="{2C6B5F91-ABF5-D0B6-E43F-40CEDC3A6DF8}"/>
              </a:ext>
              <a:ext uri="{C183D7F6-B498-43B3-948B-1728B52AA6E4}">
                <adec:decorative xmlns:adec="http://schemas.microsoft.com/office/drawing/2017/decorative" xmlns=""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xmlns="" id="{A52D64F1-27B6-A1E5-4F44-A6029FAB307B}"/>
              </a:ext>
              <a:ext uri="{C183D7F6-B498-43B3-948B-1728B52AA6E4}">
                <adec:decorative xmlns:adec="http://schemas.microsoft.com/office/drawing/2017/decorative" xmlns=""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xmlns="" id="{A626DE4B-D4E5-B36A-89FA-7C0E87AFC31D}"/>
              </a:ext>
              <a:ext uri="{C183D7F6-B498-43B3-948B-1728B52AA6E4}">
                <adec:decorative xmlns:adec="http://schemas.microsoft.com/office/drawing/2017/decorative" xmlns=""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xmlns="" id="{95243571-BE64-3777-F992-88FC43A60537}"/>
              </a:ext>
              <a:ext uri="{C183D7F6-B498-43B3-948B-1728B52AA6E4}">
                <adec:decorative xmlns:adec="http://schemas.microsoft.com/office/drawing/2017/decorative" xmlns=""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xmlns="" id="{ADFAE2CB-0EAD-E788-FCB7-FB12F6939199}"/>
              </a:ext>
              <a:ext uri="{C183D7F6-B498-43B3-948B-1728B52AA6E4}">
                <adec:decorative xmlns:adec="http://schemas.microsoft.com/office/drawing/2017/decorative" xmlns=""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xmlns="" id="{CAA6B609-D718-DB49-892F-7E49376CC913}"/>
              </a:ext>
              <a:ext uri="{C183D7F6-B498-43B3-948B-1728B52AA6E4}">
                <adec:decorative xmlns:adec="http://schemas.microsoft.com/office/drawing/2017/decorative" xmlns=""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207FF65-A536-F639-8591-ED024C223308}"/>
              </a:ext>
            </a:extLst>
          </p:cNvPr>
          <p:cNvSpPr>
            <a:spLocks noGrp="1"/>
          </p:cNvSpPr>
          <p:nvPr>
            <p:ph type="ctrTitle"/>
          </p:nvPr>
        </p:nvSpPr>
        <p:spPr>
          <a:xfrm>
            <a:off x="2565932" y="247520"/>
            <a:ext cx="7060136" cy="3831221"/>
          </a:xfrm>
        </p:spPr>
        <p:txBody>
          <a:bodyPr anchor="ctr"/>
          <a:lstStyle/>
          <a:p>
            <a:r>
              <a:rPr lang="en-US" sz="3200" cap="none" dirty="0"/>
              <a:t>ORGANIZATION OF PROGRAMMING LANGUAGES</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22F6F68-2324-3A9D-CBD5-651C46F046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B3CDCDCA-6010-AEEE-5483-2776EFFF3E03}"/>
              </a:ext>
            </a:extLst>
          </p:cNvPr>
          <p:cNvSpPr>
            <a:spLocks noGrp="1"/>
          </p:cNvSpPr>
          <p:nvPr>
            <p:ph type="title"/>
          </p:nvPr>
        </p:nvSpPr>
        <p:spPr>
          <a:xfrm>
            <a:off x="2088108" y="124613"/>
            <a:ext cx="10103892" cy="994164"/>
          </a:xfrm>
        </p:spPr>
        <p:txBody>
          <a:bodyPr/>
          <a:lstStyle/>
          <a:p>
            <a:r>
              <a:rPr lang="en-US" sz="2800" dirty="0">
                <a:latin typeface="Times New Roman" panose="02020603050405020304" pitchFamily="18" charset="0"/>
                <a:cs typeface="Times New Roman" panose="02020603050405020304" pitchFamily="18" charset="0"/>
              </a:rPr>
              <a:t>Language Implementation in Programming</a:t>
            </a:r>
            <a:endParaRPr lang="en-US" sz="2800" dirty="0">
              <a:latin typeface="Times New Roman" panose="02020603050405020304" pitchFamily="18" charset="0"/>
              <a:cs typeface="Times New Roman" panose="02020603050405020304" pitchFamily="18" charset="0"/>
            </a:endParaRPr>
          </a:p>
        </p:txBody>
      </p:sp>
      <p:sp>
        <p:nvSpPr>
          <p:cNvPr id="23" name="Slide Number Placeholder 22">
            <a:extLst>
              <a:ext uri="{FF2B5EF4-FFF2-40B4-BE49-F238E27FC236}">
                <a16:creationId xmlns:a16="http://schemas.microsoft.com/office/drawing/2014/main" xmlns="" id="{80B7F850-3DDD-EF52-9811-C927B56F5218}"/>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
        <p:nvSpPr>
          <p:cNvPr id="7" name="TextBox 6">
            <a:extLst>
              <a:ext uri="{FF2B5EF4-FFF2-40B4-BE49-F238E27FC236}">
                <a16:creationId xmlns:a16="http://schemas.microsoft.com/office/drawing/2014/main" xmlns="" id="{8C366BCD-E025-B396-FD85-23B84773E976}"/>
              </a:ext>
            </a:extLst>
          </p:cNvPr>
          <p:cNvSpPr txBox="1"/>
          <p:nvPr/>
        </p:nvSpPr>
        <p:spPr>
          <a:xfrm>
            <a:off x="2813538" y="1344527"/>
            <a:ext cx="7544899" cy="5016758"/>
          </a:xfrm>
          <a:prstGeom prst="rect">
            <a:avLst/>
          </a:prstGeom>
          <a:noFill/>
        </p:spPr>
        <p:txBody>
          <a:bodyPr wrap="square">
            <a:spAutoFit/>
          </a:bodyPr>
          <a:lstStyle/>
          <a:p>
            <a:pPr algn="just">
              <a:buNone/>
            </a:pPr>
            <a:r>
              <a:rPr lang="en-US" sz="3200" b="1" dirty="0">
                <a:latin typeface="Times New Roman" panose="02020603050405020304" pitchFamily="18" charset="0"/>
                <a:cs typeface="Times New Roman" panose="02020603050405020304" pitchFamily="18" charset="0"/>
              </a:rPr>
              <a:t>Language implementation refers to the process of creating a system that can execute programs written in a specific programming language. </a:t>
            </a:r>
            <a:endParaRPr lang="en-US" sz="3200" b="1" dirty="0" smtClean="0">
              <a:latin typeface="Times New Roman" panose="02020603050405020304" pitchFamily="18" charset="0"/>
              <a:cs typeface="Times New Roman" panose="02020603050405020304" pitchFamily="18" charset="0"/>
            </a:endParaRPr>
          </a:p>
          <a:p>
            <a:pPr algn="just">
              <a:buNone/>
            </a:pPr>
            <a:endParaRPr lang="en-US" sz="3200" b="1" dirty="0">
              <a:latin typeface="Times New Roman" panose="02020603050405020304" pitchFamily="18" charset="0"/>
              <a:cs typeface="Times New Roman" panose="02020603050405020304" pitchFamily="18" charset="0"/>
            </a:endParaRPr>
          </a:p>
          <a:p>
            <a:pPr algn="just">
              <a:buNone/>
            </a:pPr>
            <a:r>
              <a:rPr lang="en-US" sz="3200" b="1" dirty="0" smtClean="0">
                <a:latin typeface="Times New Roman" panose="02020603050405020304" pitchFamily="18" charset="0"/>
                <a:cs typeface="Times New Roman" panose="02020603050405020304" pitchFamily="18" charset="0"/>
              </a:rPr>
              <a:t>This </a:t>
            </a:r>
            <a:r>
              <a:rPr lang="en-US" sz="3200" b="1" dirty="0">
                <a:latin typeface="Times New Roman" panose="02020603050405020304" pitchFamily="18" charset="0"/>
                <a:cs typeface="Times New Roman" panose="02020603050405020304" pitchFamily="18" charset="0"/>
              </a:rPr>
              <a:t>includes the design and development of compilers, interpreters, and runtime environments that translate high-level code into machine code or directly execute it</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6031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6DF53C0-8805-B294-E558-864F1B9457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66DB7C8B-3C83-C019-6D44-1D0F40845FE6}"/>
              </a:ext>
            </a:extLst>
          </p:cNvPr>
          <p:cNvSpPr>
            <a:spLocks noGrp="1"/>
          </p:cNvSpPr>
          <p:nvPr>
            <p:ph type="title"/>
          </p:nvPr>
        </p:nvSpPr>
        <p:spPr>
          <a:xfrm>
            <a:off x="2672862" y="100817"/>
            <a:ext cx="9519137" cy="994164"/>
          </a:xfrm>
        </p:spPr>
        <p:txBody>
          <a:bodyPr/>
          <a:lstStyle/>
          <a:p>
            <a:pPr algn="just"/>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r>
            <a:br>
              <a:rPr lang="en-US" sz="2800" dirty="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r>
            <a:br>
              <a:rPr lang="en-US" sz="2800" dirty="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COMPONENTS </a:t>
            </a:r>
            <a:r>
              <a:rPr lang="en-US" sz="2800" dirty="0">
                <a:latin typeface="Times New Roman" panose="02020603050405020304" pitchFamily="18" charset="0"/>
                <a:cs typeface="Times New Roman" panose="02020603050405020304" pitchFamily="18" charset="0"/>
              </a:rPr>
              <a:t>AND CONCEPTS INVOLVED IN LANGUAGE IMPLEMENTATION.</a:t>
            </a:r>
            <a:endParaRPr lang="en-US" sz="2800" dirty="0">
              <a:latin typeface="Times New Roman" panose="02020603050405020304" pitchFamily="18" charset="0"/>
              <a:cs typeface="Times New Roman" panose="02020603050405020304" pitchFamily="18" charset="0"/>
            </a:endParaRPr>
          </a:p>
        </p:txBody>
      </p:sp>
      <p:sp>
        <p:nvSpPr>
          <p:cNvPr id="23" name="Slide Number Placeholder 22">
            <a:extLst>
              <a:ext uri="{FF2B5EF4-FFF2-40B4-BE49-F238E27FC236}">
                <a16:creationId xmlns:a16="http://schemas.microsoft.com/office/drawing/2014/main" xmlns="" id="{84D09C0F-9DDE-FF8E-DD68-855E0AFE6EE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3</a:t>
            </a:fld>
            <a:endParaRPr lang="en-US" dirty="0"/>
          </a:p>
        </p:txBody>
      </p:sp>
      <p:sp>
        <p:nvSpPr>
          <p:cNvPr id="4" name="TextBox 3">
            <a:extLst>
              <a:ext uri="{FF2B5EF4-FFF2-40B4-BE49-F238E27FC236}">
                <a16:creationId xmlns:a16="http://schemas.microsoft.com/office/drawing/2014/main" xmlns="" id="{02EAE199-778E-D383-B62D-F6EEF29ABEFC}"/>
              </a:ext>
            </a:extLst>
          </p:cNvPr>
          <p:cNvSpPr txBox="1"/>
          <p:nvPr/>
        </p:nvSpPr>
        <p:spPr>
          <a:xfrm>
            <a:off x="2855740" y="597899"/>
            <a:ext cx="8145194" cy="5632311"/>
          </a:xfrm>
          <a:prstGeom prst="rect">
            <a:avLst/>
          </a:prstGeom>
          <a:noFill/>
        </p:spPr>
        <p:txBody>
          <a:bodyPr wrap="square">
            <a:spAutoFit/>
          </a:bodyPr>
          <a:lstStyle/>
          <a:p>
            <a:pPr>
              <a:lnSpc>
                <a:spcPct val="150000"/>
              </a:lnSpc>
              <a:buNone/>
            </a:pPr>
            <a:r>
              <a:rPr lang="en-US" sz="2400" b="1" dirty="0">
                <a:latin typeface="Times New Roman" panose="02020603050405020304" pitchFamily="18" charset="0"/>
                <a:cs typeface="Times New Roman" panose="02020603050405020304" pitchFamily="18" charset="0"/>
              </a:rPr>
              <a:t> </a:t>
            </a:r>
            <a:endParaRPr lang="en-US" sz="2400" b="1" dirty="0" smtClean="0">
              <a:latin typeface="Times New Roman" panose="02020603050405020304" pitchFamily="18" charset="0"/>
              <a:cs typeface="Times New Roman" panose="02020603050405020304" pitchFamily="18" charset="0"/>
            </a:endParaRPr>
          </a:p>
          <a:p>
            <a:pPr>
              <a:lnSpc>
                <a:spcPct val="150000"/>
              </a:lnSpc>
              <a:buNone/>
            </a:pPr>
            <a:r>
              <a:rPr lang="en-US" sz="2400" b="1" dirty="0">
                <a:latin typeface="Times New Roman" panose="02020603050405020304" pitchFamily="18" charset="0"/>
                <a:cs typeface="Times New Roman" panose="02020603050405020304" pitchFamily="18" charset="0"/>
              </a:rPr>
              <a:t>1. Interpreters vs. Compilers</a:t>
            </a:r>
          </a:p>
          <a:p>
            <a:pPr>
              <a:lnSpc>
                <a:spcPct val="150000"/>
              </a:lnSpc>
              <a:buNone/>
            </a:pPr>
            <a:r>
              <a:rPr lang="en-US" sz="2400" b="1" dirty="0">
                <a:latin typeface="Times New Roman" panose="02020603050405020304" pitchFamily="18" charset="0"/>
                <a:cs typeface="Times New Roman" panose="02020603050405020304" pitchFamily="18" charset="0"/>
              </a:rPr>
              <a:t>•	Interpreters:</a:t>
            </a:r>
          </a:p>
          <a:p>
            <a:pPr>
              <a:lnSpc>
                <a:spcPct val="150000"/>
              </a:lnSpc>
              <a:buNone/>
            </a:pPr>
            <a:r>
              <a:rPr lang="en-US" sz="2400" b="1" dirty="0" smtClean="0">
                <a:latin typeface="Times New Roman" panose="02020603050405020304" pitchFamily="18" charset="0"/>
                <a:cs typeface="Times New Roman" panose="02020603050405020304" pitchFamily="18" charset="0"/>
              </a:rPr>
              <a:t>An </a:t>
            </a:r>
            <a:r>
              <a:rPr lang="en-US" sz="2400" b="1" dirty="0">
                <a:latin typeface="Times New Roman" panose="02020603050405020304" pitchFamily="18" charset="0"/>
                <a:cs typeface="Times New Roman" panose="02020603050405020304" pitchFamily="18" charset="0"/>
              </a:rPr>
              <a:t>interpreter translates high-level code into machine code line-by-line or statement-by-statement, executing each line as it is translated.</a:t>
            </a:r>
          </a:p>
          <a:p>
            <a:pPr>
              <a:lnSpc>
                <a:spcPct val="150000"/>
              </a:lnSpc>
              <a:buNone/>
            </a:pPr>
            <a:r>
              <a:rPr lang="en-US" sz="2400" b="1" dirty="0" smtClean="0">
                <a:latin typeface="Times New Roman" panose="02020603050405020304" pitchFamily="18" charset="0"/>
                <a:cs typeface="Times New Roman" panose="02020603050405020304" pitchFamily="18" charset="0"/>
              </a:rPr>
              <a:t>This </a:t>
            </a:r>
            <a:r>
              <a:rPr lang="en-US" sz="2400" b="1" dirty="0">
                <a:latin typeface="Times New Roman" panose="02020603050405020304" pitchFamily="18" charset="0"/>
                <a:cs typeface="Times New Roman" panose="02020603050405020304" pitchFamily="18" charset="0"/>
              </a:rPr>
              <a:t>approach allows for immediate execution and easier debugging but can be slower than compiled code.</a:t>
            </a:r>
          </a:p>
          <a:p>
            <a:pPr>
              <a:lnSpc>
                <a:spcPct val="150000"/>
              </a:lnSpc>
              <a:buNone/>
            </a:pPr>
            <a:r>
              <a:rPr lang="en-US" sz="2400" b="1" dirty="0" smtClean="0">
                <a:latin typeface="Times New Roman" panose="02020603050405020304" pitchFamily="18" charset="0"/>
                <a:cs typeface="Times New Roman" panose="02020603050405020304" pitchFamily="18" charset="0"/>
              </a:rPr>
              <a:t>Example</a:t>
            </a:r>
            <a:r>
              <a:rPr lang="en-US" sz="2400" b="1" dirty="0">
                <a:latin typeface="Times New Roman" panose="02020603050405020304" pitchFamily="18" charset="0"/>
                <a:cs typeface="Times New Roman" panose="02020603050405020304" pitchFamily="18" charset="0"/>
              </a:rPr>
              <a:t>: Python is primarily an interpreted language.</a:t>
            </a:r>
          </a:p>
          <a:p>
            <a:pPr lvl="1">
              <a:lnSpc>
                <a:spcPct val="150000"/>
              </a:lnSpc>
            </a:pP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8363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ECDC877-5D3B-EB71-EEAF-B496F8E26C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26D31BD-DFB0-695D-535F-69D0F05BD2E2}"/>
              </a:ext>
            </a:extLst>
          </p:cNvPr>
          <p:cNvSpPr>
            <a:spLocks noGrp="1"/>
          </p:cNvSpPr>
          <p:nvPr>
            <p:ph type="title"/>
          </p:nvPr>
        </p:nvSpPr>
        <p:spPr>
          <a:xfrm>
            <a:off x="2672862" y="124613"/>
            <a:ext cx="9519137" cy="804075"/>
          </a:xfrm>
        </p:spPr>
        <p:txBody>
          <a:bodyPr/>
          <a:lstStyle/>
          <a:p>
            <a:r>
              <a:rPr lang="en-US" sz="2800" dirty="0">
                <a:latin typeface="Times New Roman" panose="02020603050405020304" pitchFamily="18" charset="0"/>
                <a:cs typeface="Times New Roman" panose="02020603050405020304" pitchFamily="18" charset="0"/>
              </a:rPr>
              <a:t>Compilers:</a:t>
            </a:r>
            <a:endParaRPr lang="en-US" sz="2800" dirty="0">
              <a:latin typeface="Times New Roman" panose="02020603050405020304" pitchFamily="18" charset="0"/>
              <a:cs typeface="Times New Roman" panose="02020603050405020304" pitchFamily="18" charset="0"/>
            </a:endParaRPr>
          </a:p>
        </p:txBody>
      </p:sp>
      <p:sp>
        <p:nvSpPr>
          <p:cNvPr id="23" name="Slide Number Placeholder 22">
            <a:extLst>
              <a:ext uri="{FF2B5EF4-FFF2-40B4-BE49-F238E27FC236}">
                <a16:creationId xmlns:a16="http://schemas.microsoft.com/office/drawing/2014/main" xmlns="" id="{575D695A-A755-6C03-C50B-99FF63A9C4F6}"/>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4</a:t>
            </a:fld>
            <a:endParaRPr lang="en-US" dirty="0"/>
          </a:p>
        </p:txBody>
      </p:sp>
      <p:sp>
        <p:nvSpPr>
          <p:cNvPr id="5" name="TextBox 4">
            <a:extLst>
              <a:ext uri="{FF2B5EF4-FFF2-40B4-BE49-F238E27FC236}">
                <a16:creationId xmlns:a16="http://schemas.microsoft.com/office/drawing/2014/main" xmlns="" id="{2B020A5C-267F-992F-9B03-7FF821A8B085}"/>
              </a:ext>
            </a:extLst>
          </p:cNvPr>
          <p:cNvSpPr txBox="1"/>
          <p:nvPr/>
        </p:nvSpPr>
        <p:spPr>
          <a:xfrm>
            <a:off x="2841673" y="1281727"/>
            <a:ext cx="8584353" cy="4524315"/>
          </a:xfrm>
          <a:prstGeom prst="rect">
            <a:avLst/>
          </a:prstGeom>
          <a:noFill/>
        </p:spPr>
        <p:txBody>
          <a:bodyPr wrap="square">
            <a:spAutoFit/>
          </a:bodyPr>
          <a:lstStyle/>
          <a:p>
            <a:pPr>
              <a:lnSpc>
                <a:spcPct val="150000"/>
              </a:lnSpc>
              <a:buNone/>
            </a:pPr>
            <a:r>
              <a:rPr lang="en-US" sz="2400" b="1" dirty="0" smtClean="0"/>
              <a:t>A </a:t>
            </a:r>
            <a:r>
              <a:rPr lang="en-US" sz="2400" b="1" dirty="0"/>
              <a:t>compiler translates the entire high-level program into machine code before execution. The generated machine code is then executed independently of the source code.</a:t>
            </a:r>
          </a:p>
          <a:p>
            <a:pPr>
              <a:lnSpc>
                <a:spcPct val="150000"/>
              </a:lnSpc>
              <a:buNone/>
            </a:pPr>
            <a:r>
              <a:rPr lang="en-US" sz="2400" b="1" dirty="0" smtClean="0"/>
              <a:t>This </a:t>
            </a:r>
            <a:r>
              <a:rPr lang="en-US" sz="2400" b="1" dirty="0"/>
              <a:t>can lead to faster execution times but requires a separate compilation step before running the program.</a:t>
            </a:r>
          </a:p>
          <a:p>
            <a:pPr>
              <a:lnSpc>
                <a:spcPct val="150000"/>
              </a:lnSpc>
              <a:buNone/>
            </a:pPr>
            <a:endParaRPr lang="en-US" sz="2400" b="1" dirty="0"/>
          </a:p>
          <a:p>
            <a:pPr>
              <a:lnSpc>
                <a:spcPct val="150000"/>
              </a:lnSpc>
              <a:buNone/>
            </a:pPr>
            <a:r>
              <a:rPr lang="en-US" sz="2400" b="1" dirty="0" smtClean="0"/>
              <a:t>Example</a:t>
            </a:r>
            <a:r>
              <a:rPr lang="en-US" sz="2400" b="1" dirty="0"/>
              <a:t>: C and C++ are typically compiled languages.</a:t>
            </a:r>
          </a:p>
          <a:p>
            <a:pPr>
              <a:lnSpc>
                <a:spcPct val="150000"/>
              </a:lnSpc>
            </a:pPr>
            <a:r>
              <a:rPr lang="en-US" sz="2400" b="1" dirty="0" smtClean="0"/>
              <a:t>programmer</a:t>
            </a:r>
            <a:r>
              <a:rPr lang="en-US" sz="2400" dirty="0"/>
              <a:t>.</a:t>
            </a:r>
          </a:p>
        </p:txBody>
      </p:sp>
    </p:spTree>
    <p:extLst>
      <p:ext uri="{BB962C8B-B14F-4D97-AF65-F5344CB8AC3E}">
        <p14:creationId xmlns:p14="http://schemas.microsoft.com/office/powerpoint/2010/main" val="4266089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3201" y="238408"/>
            <a:ext cx="8682826" cy="1467562"/>
          </a:xfrm>
        </p:spPr>
        <p:txBody>
          <a:bodyPr/>
          <a:lstStyle/>
          <a:p>
            <a:pPr algn="just"/>
            <a:r>
              <a:rPr lang="en-US" dirty="0">
                <a:solidFill>
                  <a:srgbClr val="202C8F"/>
                </a:solidFill>
              </a:rPr>
              <a:t>Syntax and Semantics in Programming Languages</a:t>
            </a:r>
            <a:endParaRPr lang="en-US" dirty="0">
              <a:solidFill>
                <a:srgbClr val="202C8F"/>
              </a:solidFill>
            </a:endParaRPr>
          </a:p>
        </p:txBody>
      </p:sp>
      <p:sp>
        <p:nvSpPr>
          <p:cNvPr id="3" name="Content Placeholder 2"/>
          <p:cNvSpPr>
            <a:spLocks noGrp="1"/>
          </p:cNvSpPr>
          <p:nvPr>
            <p:ph sz="half" idx="2"/>
          </p:nvPr>
        </p:nvSpPr>
        <p:spPr>
          <a:xfrm>
            <a:off x="2743201" y="2303029"/>
            <a:ext cx="8682824" cy="3497698"/>
          </a:xfrm>
        </p:spPr>
        <p:txBody>
          <a:bodyPr>
            <a:normAutofit/>
          </a:bodyPr>
          <a:lstStyle/>
          <a:p>
            <a:pPr marL="0" indent="0" algn="just">
              <a:buNone/>
            </a:pPr>
            <a:r>
              <a:rPr lang="en-US" sz="2400" b="1" dirty="0">
                <a:solidFill>
                  <a:schemeClr val="tx1"/>
                </a:solidFill>
              </a:rPr>
              <a:t>A programming language is defined by two fundamental components: </a:t>
            </a:r>
            <a:endParaRPr lang="en-US" sz="2400" b="1" dirty="0" smtClean="0">
              <a:solidFill>
                <a:schemeClr val="tx1"/>
              </a:solidFill>
            </a:endParaRPr>
          </a:p>
          <a:p>
            <a:pPr algn="just"/>
            <a:r>
              <a:rPr lang="en-US" sz="2400" b="1" dirty="0" smtClean="0">
                <a:solidFill>
                  <a:schemeClr val="tx1"/>
                </a:solidFill>
              </a:rPr>
              <a:t>how </a:t>
            </a:r>
            <a:r>
              <a:rPr lang="en-US" sz="2400" b="1" dirty="0">
                <a:solidFill>
                  <a:schemeClr val="tx1"/>
                </a:solidFill>
              </a:rPr>
              <a:t>it looks (syntax) and </a:t>
            </a:r>
            <a:endParaRPr lang="en-US" sz="2400" b="1" dirty="0" smtClean="0">
              <a:solidFill>
                <a:schemeClr val="tx1"/>
              </a:solidFill>
            </a:endParaRPr>
          </a:p>
          <a:p>
            <a:pPr algn="just"/>
            <a:r>
              <a:rPr lang="en-US" sz="2400" b="1" dirty="0" smtClean="0">
                <a:solidFill>
                  <a:schemeClr val="tx1"/>
                </a:solidFill>
              </a:rPr>
              <a:t>what </a:t>
            </a:r>
            <a:r>
              <a:rPr lang="en-US" sz="2400" b="1" dirty="0">
                <a:solidFill>
                  <a:schemeClr val="tx1"/>
                </a:solidFill>
              </a:rPr>
              <a:t>it means (semantics). </a:t>
            </a:r>
            <a:endParaRPr lang="en-US" sz="2400" b="1" dirty="0" smtClean="0">
              <a:solidFill>
                <a:schemeClr val="tx1"/>
              </a:solidFill>
            </a:endParaRPr>
          </a:p>
          <a:p>
            <a:pPr marL="0" indent="0" algn="just">
              <a:buNone/>
            </a:pPr>
            <a:r>
              <a:rPr lang="en-US" sz="2400" b="1" dirty="0" smtClean="0">
                <a:solidFill>
                  <a:schemeClr val="tx1"/>
                </a:solidFill>
              </a:rPr>
              <a:t>Together</a:t>
            </a:r>
            <a:r>
              <a:rPr lang="en-US" sz="2400" b="1" dirty="0">
                <a:solidFill>
                  <a:schemeClr val="tx1"/>
                </a:solidFill>
              </a:rPr>
              <a:t>, they form the rules that allow humans to write code that computers can execute correctly</a:t>
            </a:r>
            <a:r>
              <a:rPr lang="en-US" sz="2400" dirty="0"/>
              <a:t>.</a:t>
            </a:r>
          </a:p>
        </p:txBody>
      </p:sp>
      <p:sp>
        <p:nvSpPr>
          <p:cNvPr id="4" name="Slide Number Placeholder 3"/>
          <p:cNvSpPr>
            <a:spLocks noGrp="1"/>
          </p:cNvSpPr>
          <p:nvPr>
            <p:ph type="sldNum" sz="quarter" idx="10"/>
          </p:nvPr>
        </p:nvSpPr>
        <p:spPr/>
        <p:txBody>
          <a:bodyPr/>
          <a:lstStyle/>
          <a:p>
            <a:fld id="{48F63A3B-78C7-47BE-AE5E-E10140E04643}" type="slidenum">
              <a:rPr lang="en-US" smtClean="0"/>
              <a:pPr/>
              <a:t>5</a:t>
            </a:fld>
            <a:endParaRPr lang="en-US" dirty="0"/>
          </a:p>
        </p:txBody>
      </p:sp>
    </p:spTree>
    <p:extLst>
      <p:ext uri="{BB962C8B-B14F-4D97-AF65-F5344CB8AC3E}">
        <p14:creationId xmlns:p14="http://schemas.microsoft.com/office/powerpoint/2010/main" val="3621120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4979" y="136543"/>
            <a:ext cx="10671048" cy="1023517"/>
          </a:xfrm>
        </p:spPr>
        <p:txBody>
          <a:bodyPr/>
          <a:lstStyle/>
          <a:p>
            <a:r>
              <a:rPr lang="en-US" dirty="0"/>
              <a:t>Syntax: The Form of Code</a:t>
            </a:r>
          </a:p>
        </p:txBody>
      </p:sp>
      <p:sp>
        <p:nvSpPr>
          <p:cNvPr id="4" name="Slide Number Placeholder 3"/>
          <p:cNvSpPr>
            <a:spLocks noGrp="1"/>
          </p:cNvSpPr>
          <p:nvPr>
            <p:ph type="sldNum" sz="quarter" idx="12"/>
          </p:nvPr>
        </p:nvSpPr>
        <p:spPr/>
        <p:txBody>
          <a:bodyPr/>
          <a:lstStyle/>
          <a:p>
            <a:fld id="{48F63A3B-78C7-47BE-AE5E-E10140E04643}" type="slidenum">
              <a:rPr lang="en-US" smtClean="0"/>
              <a:pPr/>
              <a:t>6</a:t>
            </a:fld>
            <a:endParaRPr lang="en-US" dirty="0"/>
          </a:p>
        </p:txBody>
      </p:sp>
      <p:sp>
        <p:nvSpPr>
          <p:cNvPr id="3" name="Content Placeholder 2"/>
          <p:cNvSpPr>
            <a:spLocks noGrp="1"/>
          </p:cNvSpPr>
          <p:nvPr>
            <p:ph sz="half" idx="4294967295"/>
          </p:nvPr>
        </p:nvSpPr>
        <p:spPr>
          <a:xfrm>
            <a:off x="122831" y="1020929"/>
            <a:ext cx="11959988" cy="4365459"/>
          </a:xfrm>
        </p:spPr>
        <p:txBody>
          <a:bodyPr>
            <a:normAutofit fontScale="77500" lnSpcReduction="20000"/>
          </a:bodyPr>
          <a:lstStyle/>
          <a:p>
            <a:endParaRPr lang="en-US" sz="3800" dirty="0" smtClean="0">
              <a:solidFill>
                <a:schemeClr val="tx1"/>
              </a:solidFill>
            </a:endParaRPr>
          </a:p>
          <a:p>
            <a:r>
              <a:rPr lang="en-US" sz="3800" dirty="0" smtClean="0">
                <a:solidFill>
                  <a:schemeClr val="tx1"/>
                </a:solidFill>
              </a:rPr>
              <a:t>Syntax </a:t>
            </a:r>
            <a:r>
              <a:rPr lang="en-US" sz="3800" dirty="0">
                <a:solidFill>
                  <a:schemeClr val="tx1"/>
                </a:solidFill>
              </a:rPr>
              <a:t>refers to the structural rules governing the combination of symbols that form a correctly structured program</a:t>
            </a:r>
            <a:r>
              <a:rPr lang="en-US" sz="3800" dirty="0" smtClean="0">
                <a:solidFill>
                  <a:schemeClr val="tx1"/>
                </a:solidFill>
              </a:rPr>
              <a:t>.</a:t>
            </a:r>
          </a:p>
          <a:p>
            <a:r>
              <a:rPr lang="en-US" sz="3800" dirty="0" smtClean="0">
                <a:solidFill>
                  <a:schemeClr val="tx1"/>
                </a:solidFill>
              </a:rPr>
              <a:t> </a:t>
            </a:r>
            <a:r>
              <a:rPr lang="en-US" sz="3800" dirty="0">
                <a:solidFill>
                  <a:schemeClr val="tx1"/>
                </a:solidFill>
              </a:rPr>
              <a:t>It defines the grammar of the language but ignores the actual meaning of the statements</a:t>
            </a:r>
            <a:r>
              <a:rPr lang="en-US" sz="3800" dirty="0" smtClean="0">
                <a:solidFill>
                  <a:schemeClr val="tx1"/>
                </a:solidFill>
              </a:rPr>
              <a:t>.</a:t>
            </a:r>
          </a:p>
          <a:p>
            <a:pPr marL="0" indent="0">
              <a:buNone/>
            </a:pPr>
            <a:endParaRPr lang="en-US" sz="3800" dirty="0">
              <a:solidFill>
                <a:schemeClr val="tx1"/>
              </a:solidFill>
            </a:endParaRPr>
          </a:p>
          <a:p>
            <a:pPr marL="0" indent="0">
              <a:buNone/>
            </a:pPr>
            <a:r>
              <a:rPr lang="en-US" sz="3800" dirty="0" smtClean="0">
                <a:solidFill>
                  <a:schemeClr val="tx1"/>
                </a:solidFill>
              </a:rPr>
              <a:t>Components </a:t>
            </a:r>
            <a:r>
              <a:rPr lang="en-US" sz="3800" dirty="0">
                <a:solidFill>
                  <a:schemeClr val="tx1"/>
                </a:solidFill>
              </a:rPr>
              <a:t>of Syntax</a:t>
            </a:r>
          </a:p>
          <a:p>
            <a:pPr marL="742950" indent="-742950">
              <a:buFont typeface="+mj-lt"/>
              <a:buAutoNum type="arabicPeriod"/>
            </a:pPr>
            <a:r>
              <a:rPr lang="en-US" sz="3800" dirty="0" smtClean="0">
                <a:solidFill>
                  <a:schemeClr val="tx1"/>
                </a:solidFill>
              </a:rPr>
              <a:t>Lexemes</a:t>
            </a:r>
            <a:r>
              <a:rPr lang="en-US" sz="3800" dirty="0">
                <a:solidFill>
                  <a:schemeClr val="tx1"/>
                </a:solidFill>
              </a:rPr>
              <a:t>: The lowest-level syntactic units (e.g., total, *, 30</a:t>
            </a:r>
            <a:r>
              <a:rPr lang="en-US" sz="3800" dirty="0" smtClean="0">
                <a:solidFill>
                  <a:schemeClr val="tx1"/>
                </a:solidFill>
              </a:rPr>
              <a:t>).</a:t>
            </a:r>
            <a:r>
              <a:rPr lang="en-US" sz="3800" dirty="0">
                <a:solidFill>
                  <a:schemeClr val="tx1"/>
                </a:solidFill>
              </a:rPr>
              <a:t>	</a:t>
            </a:r>
            <a:endParaRPr lang="en-US" sz="3800" dirty="0" smtClean="0">
              <a:solidFill>
                <a:schemeClr val="tx1"/>
              </a:solidFill>
            </a:endParaRPr>
          </a:p>
          <a:p>
            <a:pPr marL="742950" indent="-742950">
              <a:buFont typeface="+mj-lt"/>
              <a:buAutoNum type="arabicPeriod"/>
            </a:pPr>
            <a:r>
              <a:rPr lang="en-US" sz="3800" dirty="0" smtClean="0">
                <a:solidFill>
                  <a:schemeClr val="tx1"/>
                </a:solidFill>
              </a:rPr>
              <a:t>Tokens</a:t>
            </a:r>
            <a:r>
              <a:rPr lang="en-US" sz="3800" dirty="0">
                <a:solidFill>
                  <a:schemeClr val="tx1"/>
                </a:solidFill>
              </a:rPr>
              <a:t>: Categories of lexemes (e.g., identifier, operator, literal</a:t>
            </a:r>
            <a:r>
              <a:rPr lang="en-US" sz="3800" dirty="0" smtClean="0">
                <a:solidFill>
                  <a:schemeClr val="tx1"/>
                </a:solidFill>
              </a:rPr>
              <a:t>).</a:t>
            </a:r>
          </a:p>
          <a:p>
            <a:pPr marL="742950" indent="-742950">
              <a:buFont typeface="+mj-lt"/>
              <a:buAutoNum type="arabicPeriod"/>
            </a:pPr>
            <a:endParaRPr lang="en-US" sz="3800" dirty="0" smtClean="0">
              <a:solidFill>
                <a:schemeClr val="tx1"/>
              </a:solidFill>
            </a:endParaRPr>
          </a:p>
          <a:p>
            <a:pPr marL="742950" indent="-742950">
              <a:buFont typeface="+mj-lt"/>
              <a:buAutoNum type="arabicPeriod"/>
            </a:pPr>
            <a:endParaRPr lang="en-US" sz="3800" dirty="0" smtClean="0">
              <a:solidFill>
                <a:schemeClr val="tx1"/>
              </a:solidFill>
            </a:endParaRPr>
          </a:p>
          <a:p>
            <a:pPr marL="0" indent="0">
              <a:buNone/>
            </a:pPr>
            <a:endParaRPr lang="en-US" sz="3800" dirty="0">
              <a:solidFill>
                <a:schemeClr val="tx1"/>
              </a:solidFill>
            </a:endParaRPr>
          </a:p>
          <a:p>
            <a:pPr marL="0" indent="0">
              <a:buNone/>
            </a:pPr>
            <a:endParaRPr lang="en-US" sz="3800" dirty="0" smtClean="0">
              <a:solidFill>
                <a:schemeClr val="tx1"/>
              </a:solidFill>
            </a:endParaRPr>
          </a:p>
          <a:p>
            <a:pPr marL="0" indent="0">
              <a:buNone/>
            </a:pPr>
            <a:endParaRPr lang="en-US" sz="3800" dirty="0">
              <a:solidFill>
                <a:schemeClr val="tx1"/>
              </a:solidFill>
            </a:endParaRPr>
          </a:p>
        </p:txBody>
      </p:sp>
    </p:spTree>
    <p:extLst>
      <p:ext uri="{BB962C8B-B14F-4D97-AF65-F5344CB8AC3E}">
        <p14:creationId xmlns:p14="http://schemas.microsoft.com/office/powerpoint/2010/main" val="495069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48F63A3B-78C7-47BE-AE5E-E10140E04643}" type="slidenum">
              <a:rPr lang="en-US" smtClean="0"/>
              <a:pPr/>
              <a:t>7</a:t>
            </a:fld>
            <a:endParaRPr lang="en-US" dirty="0"/>
          </a:p>
        </p:txBody>
      </p:sp>
      <p:sp>
        <p:nvSpPr>
          <p:cNvPr id="4" name="Rectangle 3"/>
          <p:cNvSpPr/>
          <p:nvPr/>
        </p:nvSpPr>
        <p:spPr>
          <a:xfrm>
            <a:off x="259307" y="812491"/>
            <a:ext cx="11573302" cy="5686172"/>
          </a:xfrm>
          <a:prstGeom prst="rect">
            <a:avLst/>
          </a:prstGeom>
        </p:spPr>
        <p:txBody>
          <a:bodyPr wrap="square">
            <a:spAutoFit/>
          </a:bodyPr>
          <a:lstStyle/>
          <a:p>
            <a:pPr>
              <a:lnSpc>
                <a:spcPct val="115000"/>
              </a:lnSpc>
              <a:spcAft>
                <a:spcPts val="900"/>
              </a:spcAft>
            </a:pPr>
            <a:r>
              <a:rPr lang="en-US" sz="3600" dirty="0">
                <a:solidFill>
                  <a:srgbClr val="FF0000"/>
                </a:solidFill>
                <a:latin typeface="Arial"/>
                <a:ea typeface="Times New Roman"/>
                <a:cs typeface="Times New Roman"/>
              </a:rPr>
              <a:t>1. </a:t>
            </a:r>
            <a:r>
              <a:rPr lang="en-US" sz="3600" dirty="0">
                <a:solidFill>
                  <a:srgbClr val="202C8F"/>
                </a:solidFill>
                <a:latin typeface="Arial"/>
                <a:ea typeface="Times New Roman"/>
                <a:cs typeface="Times New Roman"/>
              </a:rPr>
              <a:t>Lexical Elements</a:t>
            </a:r>
            <a:endParaRPr lang="en-US" sz="2000" dirty="0">
              <a:solidFill>
                <a:srgbClr val="202C8F"/>
              </a:solidFill>
              <a:latin typeface="Calibri"/>
              <a:ea typeface="Calibri"/>
              <a:cs typeface="Times New Roman"/>
            </a:endParaRPr>
          </a:p>
          <a:p>
            <a:pPr>
              <a:lnSpc>
                <a:spcPct val="115000"/>
              </a:lnSpc>
              <a:spcAft>
                <a:spcPts val="900"/>
              </a:spcAft>
            </a:pPr>
            <a:r>
              <a:rPr lang="en-US" sz="2400" b="1" dirty="0">
                <a:latin typeface="Arial"/>
                <a:ea typeface="Times New Roman"/>
                <a:cs typeface="Times New Roman"/>
              </a:rPr>
              <a:t>Before a compiler or interpreter can understand the structure of your code, it must break down the raw character stream into the smallest meaningful units called lexemes. These lexemes are then categorized into abstract groups called tokens. </a:t>
            </a:r>
            <a:endParaRPr lang="en-US" sz="2000" b="1" dirty="0">
              <a:latin typeface="Calibri"/>
              <a:ea typeface="Calibri"/>
              <a:cs typeface="Times New Roman"/>
            </a:endParaRPr>
          </a:p>
          <a:p>
            <a:pPr>
              <a:lnSpc>
                <a:spcPct val="115000"/>
              </a:lnSpc>
              <a:spcAft>
                <a:spcPts val="900"/>
              </a:spcAft>
            </a:pPr>
            <a:r>
              <a:rPr lang="en-US" sz="2400" b="1" dirty="0">
                <a:latin typeface="Arial"/>
                <a:ea typeface="Times New Roman"/>
                <a:cs typeface="Times New Roman"/>
              </a:rPr>
              <a:t>Think of lexemes as the raw "words" and tokens as the "parts of speech" (like nouns, verbs, and punctuation). </a:t>
            </a:r>
            <a:endParaRPr lang="en-US" sz="2400" b="1" dirty="0" smtClean="0">
              <a:latin typeface="Arial"/>
              <a:ea typeface="Times New Roman"/>
              <a:cs typeface="Times New Roman"/>
            </a:endParaRPr>
          </a:p>
          <a:p>
            <a:pPr>
              <a:lnSpc>
                <a:spcPct val="115000"/>
              </a:lnSpc>
              <a:spcAft>
                <a:spcPts val="900"/>
              </a:spcAft>
            </a:pPr>
            <a:endParaRPr lang="en-US" sz="20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latin typeface="Courier New"/>
                <a:ea typeface="Times New Roman"/>
                <a:cs typeface="Times New Roman"/>
              </a:rPr>
              <a:t>Raw Source Code:   [  total  ]   [  =  ]   [  base  ]   [  +  ]   [  10  ]</a:t>
            </a:r>
            <a:endParaRPr lang="en-US" sz="20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latin typeface="Courier New"/>
                <a:ea typeface="Times New Roman"/>
                <a:cs typeface="Times New Roman"/>
              </a:rPr>
              <a:t>                      │            │          │           │          │</a:t>
            </a:r>
            <a:endParaRPr lang="en-US" sz="20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latin typeface="Courier New"/>
                <a:ea typeface="Times New Roman"/>
                <a:cs typeface="Times New Roman"/>
              </a:rPr>
              <a:t>Lexemes:             "total"      "="       "base"       "+"        "10"</a:t>
            </a:r>
            <a:endParaRPr lang="en-US" sz="20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latin typeface="Courier New"/>
                <a:ea typeface="Times New Roman"/>
                <a:cs typeface="Times New Roman"/>
              </a:rPr>
              <a:t>                      │            │          │           │          │</a:t>
            </a:r>
            <a:endParaRPr lang="en-US" sz="2000" b="1" dirty="0">
              <a:latin typeface="Calibri"/>
              <a:ea typeface="Calibri"/>
              <a:cs typeface="Times New Roman"/>
            </a:endParaRPr>
          </a:p>
          <a:p>
            <a:pPr>
              <a:lnSpc>
                <a:spcPct val="115000"/>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latin typeface="Courier New"/>
                <a:ea typeface="Times New Roman"/>
                <a:cs typeface="Times New Roman"/>
              </a:rPr>
              <a:t>Tokens:           Identifier   Operator   Identifier   Operator   Literal</a:t>
            </a:r>
            <a:endParaRPr lang="en-US" sz="2000" b="1" dirty="0">
              <a:effectLst/>
              <a:latin typeface="Calibri"/>
              <a:ea typeface="Calibri"/>
              <a:cs typeface="Times New Roman"/>
            </a:endParaRPr>
          </a:p>
        </p:txBody>
      </p:sp>
    </p:spTree>
    <p:extLst>
      <p:ext uri="{BB962C8B-B14F-4D97-AF65-F5344CB8AC3E}">
        <p14:creationId xmlns:p14="http://schemas.microsoft.com/office/powerpoint/2010/main" val="1002558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Keywords (and Reserved Words)</a:t>
            </a:r>
            <a:br>
              <a:rPr lang="en-US" dirty="0"/>
            </a:br>
            <a:endParaRPr lang="en-US" dirty="0"/>
          </a:p>
        </p:txBody>
      </p:sp>
      <p:sp>
        <p:nvSpPr>
          <p:cNvPr id="2" name="Slide Number Placeholder 1"/>
          <p:cNvSpPr>
            <a:spLocks noGrp="1"/>
          </p:cNvSpPr>
          <p:nvPr>
            <p:ph type="sldNum" sz="quarter" idx="12"/>
          </p:nvPr>
        </p:nvSpPr>
        <p:spPr/>
        <p:txBody>
          <a:bodyPr/>
          <a:lstStyle/>
          <a:p>
            <a:fld id="{48F63A3B-78C7-47BE-AE5E-E10140E04643}" type="slidenum">
              <a:rPr lang="en-US" smtClean="0"/>
              <a:pPr/>
              <a:t>8</a:t>
            </a:fld>
            <a:endParaRPr lang="en-US" dirty="0"/>
          </a:p>
        </p:txBody>
      </p:sp>
      <p:sp>
        <p:nvSpPr>
          <p:cNvPr id="4" name="Rectangle 3"/>
          <p:cNvSpPr/>
          <p:nvPr/>
        </p:nvSpPr>
        <p:spPr>
          <a:xfrm>
            <a:off x="627797" y="1891656"/>
            <a:ext cx="10798230" cy="3490186"/>
          </a:xfrm>
          <a:prstGeom prst="rect">
            <a:avLst/>
          </a:prstGeom>
        </p:spPr>
        <p:txBody>
          <a:bodyPr wrap="square">
            <a:spAutoFit/>
          </a:bodyPr>
          <a:lstStyle/>
          <a:p>
            <a:pPr marL="342900" marR="0" lvl="0" indent="-342900">
              <a:lnSpc>
                <a:spcPct val="115000"/>
              </a:lnSpc>
              <a:spcBef>
                <a:spcPts val="0"/>
              </a:spcBef>
              <a:spcAft>
                <a:spcPts val="0"/>
              </a:spcAft>
              <a:buSzPts val="1000"/>
              <a:buFont typeface="Symbol"/>
              <a:buChar char=""/>
              <a:tabLst>
                <a:tab pos="457200" algn="l"/>
              </a:tabLst>
            </a:pPr>
            <a:r>
              <a:rPr lang="en-US" sz="2400" b="1" dirty="0" smtClean="0">
                <a:latin typeface="Arial"/>
                <a:ea typeface="Times New Roman"/>
                <a:cs typeface="Times New Roman"/>
              </a:rPr>
              <a:t>Definition</a:t>
            </a:r>
            <a:r>
              <a:rPr lang="en-US" sz="2400" b="1" dirty="0">
                <a:latin typeface="Arial"/>
                <a:ea typeface="Times New Roman"/>
                <a:cs typeface="Times New Roman"/>
              </a:rPr>
              <a:t>:</a:t>
            </a:r>
            <a:r>
              <a:rPr lang="en-US" sz="2400" dirty="0">
                <a:latin typeface="Arial"/>
                <a:ea typeface="Times New Roman"/>
                <a:cs typeface="Times New Roman"/>
              </a:rPr>
              <a:t> Fixed words predefined by the language design that have special structural meanings.</a:t>
            </a:r>
            <a:endParaRPr lang="en-US" sz="2400" dirty="0">
              <a:latin typeface="Calibri"/>
              <a:ea typeface="Calibri"/>
              <a:cs typeface="Times New Roman"/>
            </a:endParaRPr>
          </a:p>
          <a:p>
            <a:pPr marL="342900" marR="0" lvl="0" indent="-342900">
              <a:lnSpc>
                <a:spcPct val="115000"/>
              </a:lnSpc>
              <a:spcBef>
                <a:spcPts val="0"/>
              </a:spcBef>
              <a:spcAft>
                <a:spcPts val="0"/>
              </a:spcAft>
              <a:buSzPts val="1000"/>
              <a:buFont typeface="Symbol"/>
              <a:buChar char=""/>
              <a:tabLst>
                <a:tab pos="457200" algn="l"/>
              </a:tabLst>
            </a:pPr>
            <a:r>
              <a:rPr lang="en-US" sz="2400" b="1" dirty="0">
                <a:latin typeface="Arial"/>
                <a:ea typeface="Times New Roman"/>
                <a:cs typeface="Times New Roman"/>
              </a:rPr>
              <a:t>Characteristics:</a:t>
            </a:r>
            <a:r>
              <a:rPr lang="en-US" sz="2400" dirty="0">
                <a:latin typeface="Arial"/>
                <a:ea typeface="Times New Roman"/>
                <a:cs typeface="Times New Roman"/>
              </a:rPr>
              <a:t> You cannot use these words as name variables or functions because doing so would break the language's core syntax rules</a:t>
            </a:r>
            <a:r>
              <a:rPr lang="en-US" sz="2400" dirty="0" smtClean="0">
                <a:latin typeface="Arial"/>
                <a:ea typeface="Times New Roman"/>
                <a:cs typeface="Times New Roman"/>
              </a:rPr>
              <a:t>.</a:t>
            </a:r>
          </a:p>
          <a:p>
            <a:pPr marL="342900" marR="0" lvl="0" indent="-342900">
              <a:lnSpc>
                <a:spcPct val="115000"/>
              </a:lnSpc>
              <a:spcBef>
                <a:spcPts val="0"/>
              </a:spcBef>
              <a:spcAft>
                <a:spcPts val="0"/>
              </a:spcAft>
              <a:buSzPts val="1000"/>
              <a:buFont typeface="Symbol"/>
              <a:buChar char=""/>
              <a:tabLst>
                <a:tab pos="457200" algn="l"/>
              </a:tabLst>
            </a:pPr>
            <a:endParaRPr lang="en-US" sz="2400" dirty="0">
              <a:latin typeface="Calibri"/>
              <a:ea typeface="Calibri"/>
              <a:cs typeface="Times New Roman"/>
            </a:endParaRPr>
          </a:p>
          <a:p>
            <a:pPr marR="0" lvl="0">
              <a:lnSpc>
                <a:spcPct val="115000"/>
              </a:lnSpc>
              <a:spcBef>
                <a:spcPts val="0"/>
              </a:spcBef>
              <a:spcAft>
                <a:spcPts val="0"/>
              </a:spcAft>
              <a:buSzPts val="1000"/>
              <a:tabLst>
                <a:tab pos="457200" algn="l"/>
              </a:tabLst>
            </a:pPr>
            <a:r>
              <a:rPr lang="en-US" sz="2400" b="1" dirty="0">
                <a:latin typeface="Arial"/>
                <a:ea typeface="Times New Roman"/>
                <a:cs typeface="Times New Roman"/>
              </a:rPr>
              <a:t>Examples:</a:t>
            </a:r>
            <a:endParaRPr lang="en-US" sz="2400" dirty="0">
              <a:latin typeface="Calibri"/>
              <a:ea typeface="Calibri"/>
              <a:cs typeface="Times New Roman"/>
            </a:endParaRPr>
          </a:p>
          <a:p>
            <a:pPr marL="742950" marR="0" lvl="1" indent="-285750">
              <a:lnSpc>
                <a:spcPct val="115000"/>
              </a:lnSpc>
              <a:spcBef>
                <a:spcPts val="0"/>
              </a:spcBef>
              <a:spcAft>
                <a:spcPts val="0"/>
              </a:spcAft>
              <a:buSzPts val="1000"/>
              <a:buFont typeface="Courier New"/>
              <a:buChar char="o"/>
              <a:tabLst>
                <a:tab pos="914400" algn="l"/>
              </a:tabLst>
            </a:pPr>
            <a:r>
              <a:rPr lang="en-US" sz="2400" dirty="0">
                <a:latin typeface="Courier New"/>
                <a:ea typeface="Times New Roman"/>
                <a:cs typeface="Times New Roman"/>
              </a:rPr>
              <a:t>if</a:t>
            </a:r>
            <a:r>
              <a:rPr lang="en-US" sz="2400" dirty="0">
                <a:latin typeface="Arial"/>
                <a:ea typeface="Times New Roman"/>
                <a:cs typeface="Times New Roman"/>
              </a:rPr>
              <a:t>, </a:t>
            </a:r>
            <a:r>
              <a:rPr lang="en-US" sz="2400" dirty="0">
                <a:latin typeface="Courier New"/>
                <a:ea typeface="Times New Roman"/>
                <a:cs typeface="Times New Roman"/>
              </a:rPr>
              <a:t>else</a:t>
            </a:r>
            <a:r>
              <a:rPr lang="en-US" sz="2400" dirty="0">
                <a:latin typeface="Arial"/>
                <a:ea typeface="Times New Roman"/>
                <a:cs typeface="Times New Roman"/>
              </a:rPr>
              <a:t>, </a:t>
            </a:r>
            <a:r>
              <a:rPr lang="en-US" sz="2400" dirty="0">
                <a:latin typeface="Courier New"/>
                <a:ea typeface="Times New Roman"/>
                <a:cs typeface="Times New Roman"/>
              </a:rPr>
              <a:t>while</a:t>
            </a:r>
            <a:r>
              <a:rPr lang="en-US" sz="2400" dirty="0">
                <a:latin typeface="Arial"/>
                <a:ea typeface="Times New Roman"/>
                <a:cs typeface="Times New Roman"/>
              </a:rPr>
              <a:t> (Control flow)</a:t>
            </a:r>
            <a:endParaRPr lang="en-US" sz="2400" dirty="0">
              <a:latin typeface="Calibri"/>
              <a:ea typeface="Calibri"/>
              <a:cs typeface="Times New Roman"/>
            </a:endParaRPr>
          </a:p>
          <a:p>
            <a:pPr marL="742950" marR="0" lvl="1" indent="-285750">
              <a:lnSpc>
                <a:spcPct val="115000"/>
              </a:lnSpc>
              <a:spcBef>
                <a:spcPts val="0"/>
              </a:spcBef>
              <a:spcAft>
                <a:spcPts val="0"/>
              </a:spcAft>
              <a:buSzPts val="1000"/>
              <a:buFont typeface="Courier New"/>
              <a:buChar char="o"/>
              <a:tabLst>
                <a:tab pos="914400" algn="l"/>
              </a:tabLst>
            </a:pPr>
            <a:r>
              <a:rPr lang="en-US" sz="2400" dirty="0">
                <a:latin typeface="Courier New"/>
                <a:ea typeface="Times New Roman"/>
                <a:cs typeface="Times New Roman"/>
              </a:rPr>
              <a:t>class</a:t>
            </a:r>
            <a:r>
              <a:rPr lang="en-US" sz="2400" dirty="0">
                <a:latin typeface="Arial"/>
                <a:ea typeface="Times New Roman"/>
                <a:cs typeface="Times New Roman"/>
              </a:rPr>
              <a:t>, </a:t>
            </a:r>
            <a:r>
              <a:rPr lang="en-US" sz="2400" dirty="0">
                <a:latin typeface="Courier New"/>
                <a:ea typeface="Times New Roman"/>
                <a:cs typeface="Times New Roman"/>
              </a:rPr>
              <a:t>return</a:t>
            </a:r>
            <a:r>
              <a:rPr lang="en-US" sz="2400" dirty="0">
                <a:latin typeface="Arial"/>
                <a:ea typeface="Times New Roman"/>
                <a:cs typeface="Times New Roman"/>
              </a:rPr>
              <a:t>, </a:t>
            </a:r>
            <a:r>
              <a:rPr lang="en-US" sz="2400" dirty="0">
                <a:latin typeface="Courier New"/>
                <a:ea typeface="Times New Roman"/>
                <a:cs typeface="Times New Roman"/>
              </a:rPr>
              <a:t>import</a:t>
            </a:r>
            <a:r>
              <a:rPr lang="en-US" sz="2400" dirty="0">
                <a:latin typeface="Arial"/>
                <a:ea typeface="Times New Roman"/>
                <a:cs typeface="Times New Roman"/>
              </a:rPr>
              <a:t> (Structure and data routing)</a:t>
            </a:r>
            <a:r>
              <a:rPr lang="en-US" sz="2400" dirty="0">
                <a:solidFill>
                  <a:srgbClr val="FF0000"/>
                </a:solidFill>
                <a:latin typeface="Arial"/>
                <a:ea typeface="Times New Roman"/>
                <a:cs typeface="Times New Roman"/>
              </a:rPr>
              <a:t> </a:t>
            </a:r>
            <a:endParaRPr lang="en-US" sz="2400" dirty="0">
              <a:effectLst/>
              <a:latin typeface="Calibri"/>
              <a:ea typeface="Calibri"/>
              <a:cs typeface="Times New Roman"/>
            </a:endParaRPr>
          </a:p>
        </p:txBody>
      </p:sp>
    </p:spTree>
    <p:extLst>
      <p:ext uri="{BB962C8B-B14F-4D97-AF65-F5344CB8AC3E}">
        <p14:creationId xmlns:p14="http://schemas.microsoft.com/office/powerpoint/2010/main" val="6347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6940" y="158314"/>
            <a:ext cx="10671048" cy="919859"/>
          </a:xfrm>
        </p:spPr>
        <p:txBody>
          <a:bodyPr/>
          <a:lstStyle/>
          <a:p>
            <a:pPr>
              <a:lnSpc>
                <a:spcPct val="115000"/>
              </a:lnSpc>
              <a:spcAft>
                <a:spcPts val="900"/>
              </a:spcAft>
            </a:pPr>
            <a:r>
              <a:rPr lang="en-US" dirty="0">
                <a:solidFill>
                  <a:srgbClr val="202C8F"/>
                </a:solidFill>
                <a:latin typeface="Arial"/>
                <a:ea typeface="Times New Roman"/>
                <a:cs typeface="Times New Roman"/>
              </a:rPr>
              <a:t>Identifiers</a:t>
            </a:r>
            <a:endParaRPr lang="en-US" sz="2800" dirty="0">
              <a:solidFill>
                <a:srgbClr val="202C8F"/>
              </a:solidFill>
              <a:latin typeface="Calibri"/>
              <a:ea typeface="Calibri"/>
              <a:cs typeface="Times New Roman"/>
            </a:endParaRPr>
          </a:p>
        </p:txBody>
      </p:sp>
      <p:sp>
        <p:nvSpPr>
          <p:cNvPr id="3" name="Slide Number Placeholder 2"/>
          <p:cNvSpPr>
            <a:spLocks noGrp="1"/>
          </p:cNvSpPr>
          <p:nvPr>
            <p:ph type="sldNum" sz="quarter" idx="12"/>
          </p:nvPr>
        </p:nvSpPr>
        <p:spPr/>
        <p:txBody>
          <a:bodyPr/>
          <a:lstStyle/>
          <a:p>
            <a:fld id="{48F63A3B-78C7-47BE-AE5E-E10140E04643}" type="slidenum">
              <a:rPr lang="en-US" smtClean="0"/>
              <a:pPr/>
              <a:t>9</a:t>
            </a:fld>
            <a:endParaRPr lang="en-US" dirty="0"/>
          </a:p>
        </p:txBody>
      </p:sp>
      <p:sp>
        <p:nvSpPr>
          <p:cNvPr id="4" name="Rectangle 3"/>
          <p:cNvSpPr/>
          <p:nvPr/>
        </p:nvSpPr>
        <p:spPr>
          <a:xfrm>
            <a:off x="366018" y="1407684"/>
            <a:ext cx="11060009" cy="4339650"/>
          </a:xfrm>
          <a:prstGeom prst="rect">
            <a:avLst/>
          </a:prstGeom>
        </p:spPr>
        <p:txBody>
          <a:bodyPr wrap="square">
            <a:spAutoFit/>
          </a:bodyPr>
          <a:lstStyle/>
          <a:p>
            <a:pPr marL="342900" marR="0" lvl="0" indent="-342900">
              <a:lnSpc>
                <a:spcPct val="115000"/>
              </a:lnSpc>
              <a:spcBef>
                <a:spcPts val="0"/>
              </a:spcBef>
              <a:spcAft>
                <a:spcPts val="0"/>
              </a:spcAft>
              <a:buSzPts val="1000"/>
              <a:buFont typeface="Symbol"/>
              <a:buChar char=""/>
              <a:tabLst>
                <a:tab pos="457200" algn="l"/>
              </a:tabLst>
            </a:pPr>
            <a:r>
              <a:rPr lang="en-US" sz="2400" b="1" dirty="0" smtClean="0">
                <a:latin typeface="Arial"/>
                <a:ea typeface="Times New Roman"/>
                <a:cs typeface="Times New Roman"/>
              </a:rPr>
              <a:t>Definition</a:t>
            </a:r>
            <a:r>
              <a:rPr lang="en-US" sz="2400" b="1" dirty="0">
                <a:latin typeface="Arial"/>
                <a:ea typeface="Times New Roman"/>
                <a:cs typeface="Times New Roman"/>
              </a:rPr>
              <a:t>:</a:t>
            </a:r>
            <a:r>
              <a:rPr lang="en-US" sz="2400" dirty="0">
                <a:latin typeface="Arial"/>
                <a:ea typeface="Times New Roman"/>
                <a:cs typeface="Times New Roman"/>
              </a:rPr>
              <a:t> User-defined names given to variables, functions, classes, and objects.</a:t>
            </a:r>
            <a:endParaRPr lang="en-US" sz="2400" dirty="0">
              <a:latin typeface="Calibri"/>
              <a:ea typeface="Calibri"/>
              <a:cs typeface="Times New Roman"/>
            </a:endParaRPr>
          </a:p>
          <a:p>
            <a:pPr marL="342900" marR="0" lvl="0" indent="-342900">
              <a:lnSpc>
                <a:spcPct val="115000"/>
              </a:lnSpc>
              <a:spcBef>
                <a:spcPts val="0"/>
              </a:spcBef>
              <a:spcAft>
                <a:spcPts val="0"/>
              </a:spcAft>
              <a:buSzPts val="1000"/>
              <a:buFont typeface="Symbol"/>
              <a:buChar char=""/>
              <a:tabLst>
                <a:tab pos="457200" algn="l"/>
              </a:tabLst>
            </a:pPr>
            <a:r>
              <a:rPr lang="en-US" sz="2400" b="1" dirty="0">
                <a:latin typeface="Arial"/>
                <a:ea typeface="Times New Roman"/>
                <a:cs typeface="Times New Roman"/>
              </a:rPr>
              <a:t>Lexical Rules:</a:t>
            </a:r>
            <a:r>
              <a:rPr lang="en-US" sz="2400" dirty="0">
                <a:latin typeface="Arial"/>
                <a:ea typeface="Times New Roman"/>
                <a:cs typeface="Times New Roman"/>
              </a:rPr>
              <a:t> Languages use strict lexical patterns to differentiate identifiers from numbers or keywords</a:t>
            </a:r>
            <a:r>
              <a:rPr lang="en-US" sz="2400" dirty="0" smtClean="0">
                <a:latin typeface="Arial"/>
                <a:ea typeface="Times New Roman"/>
                <a:cs typeface="Times New Roman"/>
              </a:rPr>
              <a:t>.</a:t>
            </a:r>
          </a:p>
          <a:p>
            <a:pPr marL="342900" marR="0" lvl="0" indent="-342900">
              <a:lnSpc>
                <a:spcPct val="115000"/>
              </a:lnSpc>
              <a:spcBef>
                <a:spcPts val="0"/>
              </a:spcBef>
              <a:spcAft>
                <a:spcPts val="0"/>
              </a:spcAft>
              <a:buSzPts val="1000"/>
              <a:buFont typeface="Symbol"/>
              <a:buChar char=""/>
              <a:tabLst>
                <a:tab pos="457200" algn="l"/>
              </a:tabLst>
            </a:pPr>
            <a:r>
              <a:rPr lang="en-US" sz="2400" dirty="0" smtClean="0">
                <a:latin typeface="Arial"/>
                <a:ea typeface="Times New Roman"/>
                <a:cs typeface="Times New Roman"/>
              </a:rPr>
              <a:t> </a:t>
            </a:r>
            <a:r>
              <a:rPr lang="en-US" sz="2400" dirty="0">
                <a:latin typeface="Arial"/>
                <a:ea typeface="Times New Roman"/>
                <a:cs typeface="Times New Roman"/>
              </a:rPr>
              <a:t>Most languages enforce that an identifier</a:t>
            </a:r>
            <a:r>
              <a:rPr lang="en-US" sz="2400" dirty="0" smtClean="0">
                <a:latin typeface="Arial"/>
                <a:ea typeface="Times New Roman"/>
                <a:cs typeface="Times New Roman"/>
              </a:rPr>
              <a:t>:</a:t>
            </a:r>
          </a:p>
          <a:p>
            <a:pPr marL="342900" marR="0" lvl="0" indent="-342900">
              <a:lnSpc>
                <a:spcPct val="115000"/>
              </a:lnSpc>
              <a:spcBef>
                <a:spcPts val="0"/>
              </a:spcBef>
              <a:spcAft>
                <a:spcPts val="0"/>
              </a:spcAft>
              <a:buSzPts val="1000"/>
              <a:buFont typeface="Symbol"/>
              <a:buChar char=""/>
              <a:tabLst>
                <a:tab pos="457200" algn="l"/>
              </a:tabLst>
            </a:pPr>
            <a:endParaRPr lang="en-US" sz="2400" dirty="0" smtClean="0">
              <a:latin typeface="Arial"/>
              <a:ea typeface="Times New Roman"/>
              <a:cs typeface="Times New Roman"/>
            </a:endParaRPr>
          </a:p>
          <a:p>
            <a:pPr marL="742950" marR="0" lvl="1" indent="-285750">
              <a:lnSpc>
                <a:spcPct val="115000"/>
              </a:lnSpc>
              <a:spcBef>
                <a:spcPts val="0"/>
              </a:spcBef>
              <a:spcAft>
                <a:spcPts val="0"/>
              </a:spcAft>
              <a:buSzPts val="1000"/>
              <a:buFont typeface="Courier New"/>
              <a:buChar char="o"/>
              <a:tabLst>
                <a:tab pos="914400" algn="l"/>
              </a:tabLst>
            </a:pPr>
            <a:r>
              <a:rPr lang="en-US" sz="2400" dirty="0" smtClean="0">
                <a:latin typeface="Arial"/>
                <a:ea typeface="Times New Roman"/>
                <a:cs typeface="Times New Roman"/>
              </a:rPr>
              <a:t>Must </a:t>
            </a:r>
            <a:r>
              <a:rPr lang="en-US" sz="2400" dirty="0">
                <a:latin typeface="Arial"/>
                <a:ea typeface="Times New Roman"/>
                <a:cs typeface="Times New Roman"/>
              </a:rPr>
              <a:t>start with a letter (\(A-Z, a-z\)) or an underscore (</a:t>
            </a:r>
            <a:r>
              <a:rPr lang="en-US" sz="2400" dirty="0">
                <a:latin typeface="Courier New"/>
                <a:ea typeface="Times New Roman"/>
                <a:cs typeface="Times New Roman"/>
              </a:rPr>
              <a:t>_</a:t>
            </a:r>
            <a:r>
              <a:rPr lang="en-US" sz="2400" dirty="0">
                <a:latin typeface="Arial"/>
                <a:ea typeface="Times New Roman"/>
                <a:cs typeface="Times New Roman"/>
              </a:rPr>
              <a:t>).</a:t>
            </a:r>
            <a:endParaRPr lang="en-US" sz="2400" dirty="0">
              <a:latin typeface="Calibri"/>
              <a:ea typeface="Calibri"/>
              <a:cs typeface="Times New Roman"/>
            </a:endParaRPr>
          </a:p>
          <a:p>
            <a:pPr marL="742950" marR="0" lvl="1" indent="-285750">
              <a:lnSpc>
                <a:spcPct val="115000"/>
              </a:lnSpc>
              <a:spcBef>
                <a:spcPts val="0"/>
              </a:spcBef>
              <a:spcAft>
                <a:spcPts val="0"/>
              </a:spcAft>
              <a:buSzPts val="1000"/>
              <a:buFont typeface="Courier New"/>
              <a:buChar char="o"/>
              <a:tabLst>
                <a:tab pos="914400" algn="l"/>
              </a:tabLst>
            </a:pPr>
            <a:r>
              <a:rPr lang="en-US" sz="2400" dirty="0">
                <a:latin typeface="Arial"/>
                <a:ea typeface="Times New Roman"/>
                <a:cs typeface="Times New Roman"/>
              </a:rPr>
              <a:t>Cannot start with a digit (\(0-9\)).</a:t>
            </a:r>
            <a:endParaRPr lang="en-US" sz="2400" dirty="0">
              <a:latin typeface="Calibri"/>
              <a:ea typeface="Calibri"/>
              <a:cs typeface="Times New Roman"/>
            </a:endParaRPr>
          </a:p>
          <a:p>
            <a:pPr marL="742950" marR="0" lvl="1" indent="-285750">
              <a:lnSpc>
                <a:spcPct val="115000"/>
              </a:lnSpc>
              <a:spcBef>
                <a:spcPts val="0"/>
              </a:spcBef>
              <a:spcAft>
                <a:spcPts val="0"/>
              </a:spcAft>
              <a:buSzPts val="1000"/>
              <a:buFont typeface="Courier New"/>
              <a:buChar char="o"/>
              <a:tabLst>
                <a:tab pos="914400" algn="l"/>
              </a:tabLst>
            </a:pPr>
            <a:r>
              <a:rPr lang="en-US" sz="2400" dirty="0">
                <a:latin typeface="Arial"/>
                <a:ea typeface="Times New Roman"/>
                <a:cs typeface="Times New Roman"/>
              </a:rPr>
              <a:t>Cannot contain spaces or special punctuation characters (e.g., </a:t>
            </a:r>
            <a:r>
              <a:rPr lang="en-US" sz="2400" dirty="0">
                <a:latin typeface="Courier New"/>
                <a:ea typeface="Times New Roman"/>
                <a:cs typeface="Times New Roman"/>
              </a:rPr>
              <a:t>@</a:t>
            </a:r>
            <a:r>
              <a:rPr lang="en-US" sz="2400" dirty="0">
                <a:latin typeface="Arial"/>
                <a:ea typeface="Times New Roman"/>
                <a:cs typeface="Times New Roman"/>
              </a:rPr>
              <a:t>, </a:t>
            </a:r>
            <a:r>
              <a:rPr lang="en-US" sz="2400" dirty="0">
                <a:latin typeface="Courier New"/>
                <a:ea typeface="Times New Roman"/>
                <a:cs typeface="Times New Roman"/>
              </a:rPr>
              <a:t>!</a:t>
            </a:r>
            <a:r>
              <a:rPr lang="en-US" sz="2400" dirty="0">
                <a:latin typeface="Arial"/>
                <a:ea typeface="Times New Roman"/>
                <a:cs typeface="Times New Roman"/>
              </a:rPr>
              <a:t>, </a:t>
            </a:r>
            <a:r>
              <a:rPr lang="en-US" sz="2400" dirty="0" smtClean="0">
                <a:latin typeface="Courier New"/>
                <a:ea typeface="Times New Roman"/>
                <a:cs typeface="Times New Roman"/>
              </a:rPr>
              <a:t>-</a:t>
            </a:r>
            <a:r>
              <a:rPr lang="en-US" sz="2400" dirty="0" smtClean="0">
                <a:latin typeface="Arial"/>
                <a:ea typeface="Times New Roman"/>
                <a:cs typeface="Times New Roman"/>
              </a:rPr>
              <a:t>).</a:t>
            </a:r>
          </a:p>
          <a:p>
            <a:pPr marL="342900" marR="0" lvl="0" indent="-342900">
              <a:lnSpc>
                <a:spcPct val="115000"/>
              </a:lnSpc>
              <a:spcBef>
                <a:spcPts val="0"/>
              </a:spcBef>
              <a:spcAft>
                <a:spcPts val="0"/>
              </a:spcAft>
              <a:buSzPts val="1000"/>
              <a:buFont typeface="Symbol"/>
              <a:buChar char=""/>
              <a:tabLst>
                <a:tab pos="457200" algn="l"/>
              </a:tabLst>
            </a:pPr>
            <a:r>
              <a:rPr lang="en-US" sz="2400" b="1" dirty="0" smtClean="0">
                <a:latin typeface="Arial"/>
                <a:ea typeface="Times New Roman"/>
                <a:cs typeface="Times New Roman"/>
              </a:rPr>
              <a:t>Examples</a:t>
            </a:r>
            <a:r>
              <a:rPr lang="en-US" sz="2400" b="1" dirty="0">
                <a:latin typeface="Arial"/>
                <a:ea typeface="Times New Roman"/>
                <a:cs typeface="Times New Roman"/>
              </a:rPr>
              <a:t>:</a:t>
            </a:r>
            <a:r>
              <a:rPr lang="en-US" sz="2400" dirty="0">
                <a:latin typeface="Arial"/>
                <a:ea typeface="Times New Roman"/>
                <a:cs typeface="Times New Roman"/>
              </a:rPr>
              <a:t> </a:t>
            </a:r>
            <a:r>
              <a:rPr lang="en-US" sz="2400" dirty="0" err="1">
                <a:latin typeface="Courier New"/>
                <a:ea typeface="Times New Roman"/>
                <a:cs typeface="Times New Roman"/>
              </a:rPr>
              <a:t>total_score</a:t>
            </a:r>
            <a:r>
              <a:rPr lang="en-US" sz="2400" dirty="0">
                <a:latin typeface="Arial"/>
                <a:ea typeface="Times New Roman"/>
                <a:cs typeface="Times New Roman"/>
              </a:rPr>
              <a:t>, </a:t>
            </a:r>
            <a:r>
              <a:rPr lang="en-US" sz="2400" dirty="0" err="1">
                <a:latin typeface="Courier New"/>
                <a:ea typeface="Times New Roman"/>
                <a:cs typeface="Times New Roman"/>
              </a:rPr>
              <a:t>calculateTax</a:t>
            </a:r>
            <a:r>
              <a:rPr lang="en-US" sz="2400" dirty="0">
                <a:latin typeface="Arial"/>
                <a:ea typeface="Times New Roman"/>
                <a:cs typeface="Times New Roman"/>
              </a:rPr>
              <a:t>, </a:t>
            </a:r>
            <a:r>
              <a:rPr lang="en-US" sz="2400" dirty="0">
                <a:latin typeface="Courier New"/>
                <a:ea typeface="Times New Roman"/>
                <a:cs typeface="Times New Roman"/>
              </a:rPr>
              <a:t>user01</a:t>
            </a:r>
            <a:r>
              <a:rPr lang="en-US" sz="2400" dirty="0">
                <a:latin typeface="Arial"/>
                <a:ea typeface="Times New Roman"/>
                <a:cs typeface="Times New Roman"/>
              </a:rPr>
              <a:t>. </a:t>
            </a:r>
            <a:endParaRPr lang="en-US" sz="2400" dirty="0">
              <a:effectLst/>
              <a:latin typeface="Calibri"/>
              <a:ea typeface="Calibri"/>
              <a:cs typeface="Times New Roman"/>
            </a:endParaRPr>
          </a:p>
        </p:txBody>
      </p:sp>
    </p:spTree>
    <p:extLst>
      <p:ext uri="{BB962C8B-B14F-4D97-AF65-F5344CB8AC3E}">
        <p14:creationId xmlns:p14="http://schemas.microsoft.com/office/powerpoint/2010/main" val="42468604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7884" y="264766"/>
            <a:ext cx="10671048" cy="933507"/>
          </a:xfrm>
        </p:spPr>
        <p:txBody>
          <a:bodyPr/>
          <a:lstStyle/>
          <a:p>
            <a:r>
              <a:rPr lang="en-US" dirty="0" smtClean="0"/>
              <a:t/>
            </a:r>
            <a:br>
              <a:rPr lang="en-US" dirty="0" smtClean="0"/>
            </a:br>
            <a:r>
              <a:rPr lang="en-US" dirty="0" smtClean="0"/>
              <a:t>Operators</a:t>
            </a:r>
            <a:r>
              <a:rPr lang="en-US" dirty="0"/>
              <a:t/>
            </a:r>
            <a:br>
              <a:rPr lang="en-US" dirty="0"/>
            </a:br>
            <a:endParaRPr lang="en-US" dirty="0"/>
          </a:p>
        </p:txBody>
      </p:sp>
      <p:sp>
        <p:nvSpPr>
          <p:cNvPr id="3" name="Slide Number Placeholder 2"/>
          <p:cNvSpPr>
            <a:spLocks noGrp="1"/>
          </p:cNvSpPr>
          <p:nvPr>
            <p:ph type="sldNum" sz="quarter" idx="12"/>
          </p:nvPr>
        </p:nvSpPr>
        <p:spPr/>
        <p:txBody>
          <a:bodyPr/>
          <a:lstStyle/>
          <a:p>
            <a:fld id="{48F63A3B-78C7-47BE-AE5E-E10140E04643}" type="slidenum">
              <a:rPr lang="en-US" smtClean="0"/>
              <a:pPr/>
              <a:t>10</a:t>
            </a:fld>
            <a:endParaRPr lang="en-US" dirty="0"/>
          </a:p>
        </p:txBody>
      </p:sp>
      <p:sp>
        <p:nvSpPr>
          <p:cNvPr id="4" name="Rectangle 3"/>
          <p:cNvSpPr/>
          <p:nvPr/>
        </p:nvSpPr>
        <p:spPr>
          <a:xfrm>
            <a:off x="222338" y="1334727"/>
            <a:ext cx="11016594" cy="3434786"/>
          </a:xfrm>
          <a:prstGeom prst="rect">
            <a:avLst/>
          </a:prstGeom>
        </p:spPr>
        <p:txBody>
          <a:bodyPr wrap="square">
            <a:spAutoFit/>
          </a:bodyPr>
          <a:lstStyle/>
          <a:p>
            <a:pPr marL="342900" marR="0" lvl="0" indent="-342900">
              <a:lnSpc>
                <a:spcPct val="115000"/>
              </a:lnSpc>
              <a:spcBef>
                <a:spcPts val="0"/>
              </a:spcBef>
              <a:spcAft>
                <a:spcPts val="0"/>
              </a:spcAft>
              <a:buSzPts val="1000"/>
              <a:buFont typeface="Symbol"/>
              <a:buChar char=""/>
              <a:tabLst>
                <a:tab pos="457200" algn="l"/>
              </a:tabLst>
            </a:pPr>
            <a:r>
              <a:rPr lang="en-US" sz="2400" b="1" dirty="0" smtClean="0">
                <a:latin typeface="Arial"/>
                <a:ea typeface="Times New Roman"/>
                <a:cs typeface="Times New Roman"/>
              </a:rPr>
              <a:t>Definition</a:t>
            </a:r>
            <a:r>
              <a:rPr lang="en-US" sz="2400" b="1" dirty="0">
                <a:latin typeface="Arial"/>
                <a:ea typeface="Times New Roman"/>
                <a:cs typeface="Times New Roman"/>
              </a:rPr>
              <a:t>:</a:t>
            </a:r>
            <a:r>
              <a:rPr lang="en-US" sz="2400" dirty="0">
                <a:latin typeface="Arial"/>
                <a:ea typeface="Times New Roman"/>
                <a:cs typeface="Times New Roman"/>
              </a:rPr>
              <a:t> Special symbols that trigger specific mathematical, logical, or relational actions on data.</a:t>
            </a:r>
            <a:endParaRPr lang="en-US" sz="2400" dirty="0">
              <a:latin typeface="Calibri"/>
              <a:ea typeface="Calibri"/>
              <a:cs typeface="Times New Roman"/>
            </a:endParaRPr>
          </a:p>
          <a:p>
            <a:pPr marL="342900" marR="0" lvl="0" indent="-342900">
              <a:lnSpc>
                <a:spcPct val="115000"/>
              </a:lnSpc>
              <a:spcBef>
                <a:spcPts val="0"/>
              </a:spcBef>
              <a:spcAft>
                <a:spcPts val="0"/>
              </a:spcAft>
              <a:buSzPts val="1000"/>
              <a:buFont typeface="Symbol"/>
              <a:buChar char=""/>
              <a:tabLst>
                <a:tab pos="457200" algn="l"/>
              </a:tabLst>
            </a:pPr>
            <a:r>
              <a:rPr lang="en-US" sz="2400" b="1" dirty="0">
                <a:latin typeface="Arial"/>
                <a:ea typeface="Times New Roman"/>
                <a:cs typeface="Times New Roman"/>
              </a:rPr>
              <a:t>Categories</a:t>
            </a:r>
            <a:r>
              <a:rPr lang="en-US" sz="2400" b="1" dirty="0" smtClean="0">
                <a:latin typeface="Arial"/>
                <a:ea typeface="Times New Roman"/>
                <a:cs typeface="Times New Roman"/>
              </a:rPr>
              <a:t>:</a:t>
            </a:r>
          </a:p>
          <a:p>
            <a:pPr marL="342900" marR="0" lvl="0" indent="-342900">
              <a:lnSpc>
                <a:spcPct val="115000"/>
              </a:lnSpc>
              <a:spcBef>
                <a:spcPts val="0"/>
              </a:spcBef>
              <a:spcAft>
                <a:spcPts val="0"/>
              </a:spcAft>
              <a:buSzPts val="1000"/>
              <a:buFont typeface="Symbol"/>
              <a:buChar char=""/>
              <a:tabLst>
                <a:tab pos="457200" algn="l"/>
              </a:tabLst>
            </a:pPr>
            <a:endParaRPr lang="en-US" sz="2400" dirty="0">
              <a:latin typeface="Calibri"/>
              <a:ea typeface="Calibri"/>
              <a:cs typeface="Times New Roman"/>
            </a:endParaRPr>
          </a:p>
          <a:p>
            <a:pPr marL="742950" marR="0" lvl="1" indent="-285750">
              <a:lnSpc>
                <a:spcPct val="115000"/>
              </a:lnSpc>
              <a:spcBef>
                <a:spcPts val="0"/>
              </a:spcBef>
              <a:spcAft>
                <a:spcPts val="0"/>
              </a:spcAft>
              <a:buSzPts val="1000"/>
              <a:buFont typeface="Courier New"/>
              <a:buChar char="o"/>
              <a:tabLst>
                <a:tab pos="914400" algn="l"/>
              </a:tabLst>
            </a:pPr>
            <a:r>
              <a:rPr lang="en-US" sz="2400" b="1" dirty="0">
                <a:latin typeface="Arial"/>
                <a:ea typeface="Times New Roman"/>
                <a:cs typeface="Times New Roman"/>
              </a:rPr>
              <a:t>Arithmetic:</a:t>
            </a:r>
            <a:r>
              <a:rPr lang="en-US" sz="2400" dirty="0">
                <a:latin typeface="Arial"/>
                <a:ea typeface="Times New Roman"/>
                <a:cs typeface="Times New Roman"/>
              </a:rPr>
              <a:t> </a:t>
            </a:r>
            <a:r>
              <a:rPr lang="en-US" sz="2400" dirty="0">
                <a:latin typeface="Courier New"/>
                <a:ea typeface="Times New Roman"/>
                <a:cs typeface="Times New Roman"/>
              </a:rPr>
              <a:t>+</a:t>
            </a:r>
            <a:r>
              <a:rPr lang="en-US" sz="2400" dirty="0">
                <a:latin typeface="Arial"/>
                <a:ea typeface="Times New Roman"/>
                <a:cs typeface="Times New Roman"/>
              </a:rPr>
              <a:t>, </a:t>
            </a:r>
            <a:r>
              <a:rPr lang="en-US" sz="2400" dirty="0">
                <a:latin typeface="Courier New"/>
                <a:ea typeface="Times New Roman"/>
                <a:cs typeface="Times New Roman"/>
              </a:rPr>
              <a:t>-</a:t>
            </a:r>
            <a:r>
              <a:rPr lang="en-US" sz="2400" dirty="0">
                <a:latin typeface="Arial"/>
                <a:ea typeface="Times New Roman"/>
                <a:cs typeface="Times New Roman"/>
              </a:rPr>
              <a:t>, </a:t>
            </a:r>
            <a:r>
              <a:rPr lang="en-US" sz="2400" dirty="0">
                <a:latin typeface="Courier New"/>
                <a:ea typeface="Times New Roman"/>
                <a:cs typeface="Times New Roman"/>
              </a:rPr>
              <a:t>*</a:t>
            </a:r>
            <a:r>
              <a:rPr lang="en-US" sz="2400" dirty="0">
                <a:latin typeface="Arial"/>
                <a:ea typeface="Times New Roman"/>
                <a:cs typeface="Times New Roman"/>
              </a:rPr>
              <a:t>, </a:t>
            </a:r>
            <a:r>
              <a:rPr lang="en-US" sz="2400" dirty="0">
                <a:latin typeface="Courier New"/>
                <a:ea typeface="Times New Roman"/>
                <a:cs typeface="Times New Roman"/>
              </a:rPr>
              <a:t>/</a:t>
            </a:r>
            <a:r>
              <a:rPr lang="en-US" sz="2400" dirty="0">
                <a:latin typeface="Arial"/>
                <a:ea typeface="Times New Roman"/>
                <a:cs typeface="Times New Roman"/>
              </a:rPr>
              <a:t>, </a:t>
            </a:r>
            <a:r>
              <a:rPr lang="en-US" sz="2400" dirty="0">
                <a:latin typeface="Courier New"/>
                <a:ea typeface="Times New Roman"/>
                <a:cs typeface="Times New Roman"/>
              </a:rPr>
              <a:t>%</a:t>
            </a:r>
            <a:endParaRPr lang="en-US" sz="2400" dirty="0">
              <a:latin typeface="Calibri"/>
              <a:ea typeface="Calibri"/>
              <a:cs typeface="Times New Roman"/>
            </a:endParaRPr>
          </a:p>
          <a:p>
            <a:pPr marL="742950" marR="0" lvl="1" indent="-285750">
              <a:lnSpc>
                <a:spcPct val="115000"/>
              </a:lnSpc>
              <a:spcBef>
                <a:spcPts val="0"/>
              </a:spcBef>
              <a:spcAft>
                <a:spcPts val="0"/>
              </a:spcAft>
              <a:buSzPts val="1000"/>
              <a:buFont typeface="Courier New"/>
              <a:buChar char="o"/>
              <a:tabLst>
                <a:tab pos="914400" algn="l"/>
              </a:tabLst>
            </a:pPr>
            <a:r>
              <a:rPr lang="en-US" sz="2400" b="1" dirty="0">
                <a:latin typeface="Arial"/>
                <a:ea typeface="Times New Roman"/>
                <a:cs typeface="Times New Roman"/>
              </a:rPr>
              <a:t>Relational / Comparison:</a:t>
            </a:r>
            <a:r>
              <a:rPr lang="en-US" sz="2400" dirty="0">
                <a:latin typeface="Arial"/>
                <a:ea typeface="Times New Roman"/>
                <a:cs typeface="Times New Roman"/>
              </a:rPr>
              <a:t> </a:t>
            </a:r>
            <a:r>
              <a:rPr lang="en-US" sz="2400" dirty="0">
                <a:latin typeface="Courier New"/>
                <a:ea typeface="Times New Roman"/>
                <a:cs typeface="Times New Roman"/>
              </a:rPr>
              <a:t>==</a:t>
            </a:r>
            <a:r>
              <a:rPr lang="en-US" sz="2400" dirty="0">
                <a:latin typeface="Arial"/>
                <a:ea typeface="Times New Roman"/>
                <a:cs typeface="Times New Roman"/>
              </a:rPr>
              <a:t>, </a:t>
            </a:r>
            <a:r>
              <a:rPr lang="en-US" sz="2400" dirty="0">
                <a:latin typeface="Courier New"/>
                <a:ea typeface="Times New Roman"/>
                <a:cs typeface="Times New Roman"/>
              </a:rPr>
              <a:t>!=</a:t>
            </a:r>
            <a:r>
              <a:rPr lang="en-US" sz="2400" dirty="0">
                <a:latin typeface="Arial"/>
                <a:ea typeface="Times New Roman"/>
                <a:cs typeface="Times New Roman"/>
              </a:rPr>
              <a:t>, </a:t>
            </a:r>
            <a:r>
              <a:rPr lang="en-US" sz="2400" dirty="0">
                <a:latin typeface="Courier New"/>
                <a:ea typeface="Times New Roman"/>
                <a:cs typeface="Times New Roman"/>
              </a:rPr>
              <a:t>&lt;</a:t>
            </a:r>
            <a:r>
              <a:rPr lang="en-US" sz="2400" dirty="0">
                <a:latin typeface="Arial"/>
                <a:ea typeface="Times New Roman"/>
                <a:cs typeface="Times New Roman"/>
              </a:rPr>
              <a:t>, </a:t>
            </a:r>
            <a:r>
              <a:rPr lang="en-US" sz="2400" dirty="0">
                <a:latin typeface="Courier New"/>
                <a:ea typeface="Times New Roman"/>
                <a:cs typeface="Times New Roman"/>
              </a:rPr>
              <a:t>&gt;</a:t>
            </a:r>
            <a:r>
              <a:rPr lang="en-US" sz="2400" dirty="0">
                <a:latin typeface="Arial"/>
                <a:ea typeface="Times New Roman"/>
                <a:cs typeface="Times New Roman"/>
              </a:rPr>
              <a:t>, </a:t>
            </a:r>
            <a:r>
              <a:rPr lang="en-US" sz="2400" dirty="0">
                <a:latin typeface="Courier New"/>
                <a:ea typeface="Times New Roman"/>
                <a:cs typeface="Times New Roman"/>
              </a:rPr>
              <a:t>&lt;=</a:t>
            </a:r>
            <a:r>
              <a:rPr lang="en-US" sz="2400" dirty="0">
                <a:latin typeface="Arial"/>
                <a:ea typeface="Times New Roman"/>
                <a:cs typeface="Times New Roman"/>
              </a:rPr>
              <a:t>, </a:t>
            </a:r>
            <a:r>
              <a:rPr lang="en-US" sz="2400" dirty="0">
                <a:latin typeface="Courier New"/>
                <a:ea typeface="Times New Roman"/>
                <a:cs typeface="Times New Roman"/>
              </a:rPr>
              <a:t>&gt;=</a:t>
            </a:r>
            <a:endParaRPr lang="en-US" sz="2400" dirty="0">
              <a:latin typeface="Calibri"/>
              <a:ea typeface="Calibri"/>
              <a:cs typeface="Times New Roman"/>
            </a:endParaRPr>
          </a:p>
          <a:p>
            <a:pPr marL="742950" marR="0" lvl="1" indent="-285750">
              <a:lnSpc>
                <a:spcPct val="115000"/>
              </a:lnSpc>
              <a:spcBef>
                <a:spcPts val="0"/>
              </a:spcBef>
              <a:spcAft>
                <a:spcPts val="0"/>
              </a:spcAft>
              <a:buSzPts val="1000"/>
              <a:buFont typeface="Courier New"/>
              <a:buChar char="o"/>
              <a:tabLst>
                <a:tab pos="914400" algn="l"/>
              </a:tabLst>
            </a:pPr>
            <a:r>
              <a:rPr lang="en-US" sz="2400" b="1" dirty="0">
                <a:latin typeface="Arial"/>
                <a:ea typeface="Times New Roman"/>
                <a:cs typeface="Times New Roman"/>
              </a:rPr>
              <a:t>Logical:</a:t>
            </a:r>
            <a:r>
              <a:rPr lang="en-US" sz="2400" dirty="0">
                <a:latin typeface="Arial"/>
                <a:ea typeface="Times New Roman"/>
                <a:cs typeface="Times New Roman"/>
              </a:rPr>
              <a:t> </a:t>
            </a:r>
            <a:r>
              <a:rPr lang="en-US" sz="2400" dirty="0">
                <a:latin typeface="Courier New"/>
                <a:ea typeface="Times New Roman"/>
                <a:cs typeface="Times New Roman"/>
              </a:rPr>
              <a:t>&amp;&amp;</a:t>
            </a:r>
            <a:r>
              <a:rPr lang="en-US" sz="2400" dirty="0">
                <a:latin typeface="Arial"/>
                <a:ea typeface="Times New Roman"/>
                <a:cs typeface="Times New Roman"/>
              </a:rPr>
              <a:t>, </a:t>
            </a:r>
            <a:r>
              <a:rPr lang="en-US" sz="2400" dirty="0">
                <a:latin typeface="Courier New"/>
                <a:ea typeface="Times New Roman"/>
                <a:cs typeface="Times New Roman"/>
              </a:rPr>
              <a:t>||</a:t>
            </a:r>
            <a:r>
              <a:rPr lang="en-US" sz="2400" dirty="0">
                <a:latin typeface="Arial"/>
                <a:ea typeface="Times New Roman"/>
                <a:cs typeface="Times New Roman"/>
              </a:rPr>
              <a:t>, </a:t>
            </a:r>
            <a:r>
              <a:rPr lang="en-US" sz="2400" dirty="0">
                <a:latin typeface="Courier New"/>
                <a:ea typeface="Times New Roman"/>
                <a:cs typeface="Times New Roman"/>
              </a:rPr>
              <a:t>!</a:t>
            </a:r>
            <a:r>
              <a:rPr lang="en-US" sz="2400" dirty="0">
                <a:latin typeface="Arial"/>
                <a:ea typeface="Times New Roman"/>
                <a:cs typeface="Times New Roman"/>
              </a:rPr>
              <a:t> (or </a:t>
            </a:r>
            <a:r>
              <a:rPr lang="en-US" sz="2400" dirty="0">
                <a:latin typeface="Courier New"/>
                <a:ea typeface="Times New Roman"/>
                <a:cs typeface="Times New Roman"/>
              </a:rPr>
              <a:t>and</a:t>
            </a:r>
            <a:r>
              <a:rPr lang="en-US" sz="2400" dirty="0">
                <a:latin typeface="Arial"/>
                <a:ea typeface="Times New Roman"/>
                <a:cs typeface="Times New Roman"/>
              </a:rPr>
              <a:t>, </a:t>
            </a:r>
            <a:r>
              <a:rPr lang="en-US" sz="2400" dirty="0">
                <a:latin typeface="Courier New"/>
                <a:ea typeface="Times New Roman"/>
                <a:cs typeface="Times New Roman"/>
              </a:rPr>
              <a:t>or</a:t>
            </a:r>
            <a:r>
              <a:rPr lang="en-US" sz="2400" dirty="0">
                <a:latin typeface="Arial"/>
                <a:ea typeface="Times New Roman"/>
                <a:cs typeface="Times New Roman"/>
              </a:rPr>
              <a:t>, </a:t>
            </a:r>
            <a:r>
              <a:rPr lang="en-US" sz="2400" dirty="0">
                <a:latin typeface="Courier New"/>
                <a:ea typeface="Times New Roman"/>
                <a:cs typeface="Times New Roman"/>
              </a:rPr>
              <a:t>not</a:t>
            </a:r>
            <a:r>
              <a:rPr lang="en-US" sz="2400" dirty="0">
                <a:latin typeface="Arial"/>
                <a:ea typeface="Times New Roman"/>
                <a:cs typeface="Times New Roman"/>
              </a:rPr>
              <a:t> in Python)</a:t>
            </a:r>
            <a:endParaRPr lang="en-US" sz="2400" dirty="0">
              <a:latin typeface="Calibri"/>
              <a:ea typeface="Calibri"/>
              <a:cs typeface="Times New Roman"/>
            </a:endParaRPr>
          </a:p>
          <a:p>
            <a:r>
              <a:rPr lang="en-US" sz="2400" b="1" dirty="0" smtClean="0">
                <a:latin typeface="Arial"/>
                <a:ea typeface="Times New Roman"/>
              </a:rPr>
              <a:t>	     Assignment</a:t>
            </a:r>
            <a:r>
              <a:rPr lang="en-US" sz="2400" b="1" dirty="0">
                <a:latin typeface="Arial"/>
                <a:ea typeface="Times New Roman"/>
              </a:rPr>
              <a:t>:</a:t>
            </a:r>
            <a:r>
              <a:rPr lang="en-US" sz="2400" dirty="0">
                <a:latin typeface="Arial"/>
                <a:ea typeface="Times New Roman"/>
              </a:rPr>
              <a:t> </a:t>
            </a:r>
            <a:r>
              <a:rPr lang="en-US" sz="2400" dirty="0">
                <a:latin typeface="Courier New"/>
                <a:ea typeface="Times New Roman"/>
              </a:rPr>
              <a:t>=</a:t>
            </a:r>
            <a:r>
              <a:rPr lang="en-US" sz="2400" dirty="0">
                <a:latin typeface="Arial"/>
                <a:ea typeface="Times New Roman"/>
              </a:rPr>
              <a:t>, </a:t>
            </a:r>
            <a:r>
              <a:rPr lang="en-US" sz="2400" dirty="0">
                <a:latin typeface="Courier New"/>
                <a:ea typeface="Times New Roman"/>
              </a:rPr>
              <a:t>+=</a:t>
            </a:r>
            <a:r>
              <a:rPr lang="en-US" sz="2400" dirty="0">
                <a:latin typeface="Arial"/>
                <a:ea typeface="Times New Roman"/>
              </a:rPr>
              <a:t>, </a:t>
            </a:r>
            <a:r>
              <a:rPr lang="en-US" sz="2400" dirty="0">
                <a:latin typeface="Courier New"/>
                <a:ea typeface="Times New Roman"/>
              </a:rPr>
              <a:t>-=</a:t>
            </a:r>
            <a:r>
              <a:rPr lang="en-US" sz="2400" dirty="0">
                <a:latin typeface="Arial"/>
                <a:ea typeface="Times New Roman"/>
              </a:rPr>
              <a:t> </a:t>
            </a:r>
            <a:endParaRPr lang="en-US" sz="2400" dirty="0"/>
          </a:p>
        </p:txBody>
      </p:sp>
    </p:spTree>
    <p:extLst>
      <p:ext uri="{BB962C8B-B14F-4D97-AF65-F5344CB8AC3E}">
        <p14:creationId xmlns:p14="http://schemas.microsoft.com/office/powerpoint/2010/main" val="4060200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48F63A3B-78C7-47BE-AE5E-E10140E04643}" type="slidenum">
              <a:rPr lang="en-US" smtClean="0"/>
              <a:pPr/>
              <a:t>11</a:t>
            </a:fld>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444" y="857890"/>
            <a:ext cx="11273051" cy="4683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92618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5371" y="139376"/>
            <a:ext cx="10671048" cy="829616"/>
          </a:xfrm>
        </p:spPr>
        <p:txBody>
          <a:bodyPr/>
          <a:lstStyle/>
          <a:p>
            <a:r>
              <a:rPr lang="en-US" dirty="0">
                <a:solidFill>
                  <a:srgbClr val="1F2C8F"/>
                </a:solidFill>
              </a:rPr>
              <a:t>Semantics: The Meaning of Code</a:t>
            </a:r>
            <a:endParaRPr lang="en-US" dirty="0"/>
          </a:p>
        </p:txBody>
      </p:sp>
      <p:sp>
        <p:nvSpPr>
          <p:cNvPr id="3" name="Slide Number Placeholder 2"/>
          <p:cNvSpPr>
            <a:spLocks noGrp="1"/>
          </p:cNvSpPr>
          <p:nvPr>
            <p:ph type="sldNum" sz="quarter" idx="12"/>
          </p:nvPr>
        </p:nvSpPr>
        <p:spPr/>
        <p:txBody>
          <a:bodyPr/>
          <a:lstStyle/>
          <a:p>
            <a:fld id="{48F63A3B-78C7-47BE-AE5E-E10140E04643}" type="slidenum">
              <a:rPr lang="en-US" smtClean="0"/>
              <a:pPr/>
              <a:t>12</a:t>
            </a:fld>
            <a:endParaRPr lang="en-US" dirty="0"/>
          </a:p>
        </p:txBody>
      </p:sp>
      <p:sp>
        <p:nvSpPr>
          <p:cNvPr id="4" name="Rectangle 3"/>
          <p:cNvSpPr/>
          <p:nvPr/>
        </p:nvSpPr>
        <p:spPr>
          <a:xfrm>
            <a:off x="218364" y="968992"/>
            <a:ext cx="11750723" cy="6524863"/>
          </a:xfrm>
          <a:prstGeom prst="rect">
            <a:avLst/>
          </a:prstGeom>
        </p:spPr>
        <p:txBody>
          <a:bodyPr wrap="square">
            <a:spAutoFit/>
          </a:bodyPr>
          <a:lstStyle/>
          <a:p>
            <a:pPr>
              <a:lnSpc>
                <a:spcPct val="115000"/>
              </a:lnSpc>
              <a:spcAft>
                <a:spcPts val="1000"/>
              </a:spcAft>
            </a:pPr>
            <a:r>
              <a:rPr lang="en-US" sz="2400" dirty="0">
                <a:latin typeface="Times New Roman"/>
                <a:ea typeface="Times New Roman"/>
                <a:cs typeface="Times New Roman"/>
              </a:rPr>
              <a:t>While </a:t>
            </a:r>
            <a:r>
              <a:rPr lang="en-US" sz="2400" b="1" dirty="0">
                <a:latin typeface="Times New Roman"/>
                <a:ea typeface="Times New Roman"/>
                <a:cs typeface="Times New Roman"/>
              </a:rPr>
              <a:t>syntax</a:t>
            </a:r>
            <a:r>
              <a:rPr lang="en-US" sz="2400" dirty="0">
                <a:latin typeface="Times New Roman"/>
                <a:ea typeface="Times New Roman"/>
                <a:cs typeface="Times New Roman"/>
              </a:rPr>
              <a:t> dictates how a program is structured and written, </a:t>
            </a:r>
            <a:r>
              <a:rPr lang="en-US" sz="2400" b="1" dirty="0">
                <a:latin typeface="Times New Roman"/>
                <a:ea typeface="Times New Roman"/>
                <a:cs typeface="Times New Roman"/>
              </a:rPr>
              <a:t>semantics</a:t>
            </a:r>
            <a:r>
              <a:rPr lang="en-US" sz="2400" dirty="0">
                <a:latin typeface="Times New Roman"/>
                <a:ea typeface="Times New Roman"/>
                <a:cs typeface="Times New Roman"/>
              </a:rPr>
              <a:t> determines what happens when that code actually runs. </a:t>
            </a:r>
            <a:endParaRPr lang="en-US" sz="2400" dirty="0" smtClean="0">
              <a:latin typeface="Times New Roman"/>
              <a:ea typeface="Times New Roman"/>
              <a:cs typeface="Times New Roman"/>
            </a:endParaRPr>
          </a:p>
          <a:p>
            <a:pPr marL="342900" indent="-342900">
              <a:lnSpc>
                <a:spcPct val="115000"/>
              </a:lnSpc>
              <a:spcAft>
                <a:spcPts val="1000"/>
              </a:spcAft>
              <a:buFont typeface="Arial" pitchFamily="34" charset="0"/>
              <a:buChar char="•"/>
            </a:pPr>
            <a:r>
              <a:rPr lang="en-US" sz="2400" dirty="0" smtClean="0">
                <a:latin typeface="Times New Roman"/>
                <a:ea typeface="Times New Roman"/>
                <a:cs typeface="Times New Roman"/>
              </a:rPr>
              <a:t>Semantics </a:t>
            </a:r>
            <a:r>
              <a:rPr lang="en-US" sz="2400" dirty="0">
                <a:latin typeface="Times New Roman"/>
                <a:ea typeface="Times New Roman"/>
                <a:cs typeface="Times New Roman"/>
              </a:rPr>
              <a:t>defines the exact behavior, operational effect, and data transformations caused by a programming language construct.</a:t>
            </a:r>
            <a:endParaRPr lang="en-US" sz="2400" dirty="0">
              <a:latin typeface="Calibri"/>
              <a:ea typeface="Calibri"/>
              <a:cs typeface="Times New Roman"/>
            </a:endParaRPr>
          </a:p>
          <a:p>
            <a:pPr marL="342900" indent="-342900">
              <a:lnSpc>
                <a:spcPct val="115000"/>
              </a:lnSpc>
              <a:spcAft>
                <a:spcPts val="1000"/>
              </a:spcAft>
              <a:buFont typeface="Arial" pitchFamily="34" charset="0"/>
              <a:buChar char="•"/>
            </a:pPr>
            <a:r>
              <a:rPr lang="en-US" sz="2400" dirty="0">
                <a:latin typeface="Times New Roman"/>
                <a:ea typeface="Times New Roman"/>
                <a:cs typeface="Times New Roman"/>
              </a:rPr>
              <a:t>Without semantic rules, a computer program is just an arbitrary collection of text characters. </a:t>
            </a:r>
            <a:endParaRPr lang="en-US" sz="2400" dirty="0" smtClean="0">
              <a:latin typeface="Times New Roman"/>
              <a:ea typeface="Times New Roman"/>
              <a:cs typeface="Times New Roman"/>
            </a:endParaRPr>
          </a:p>
          <a:p>
            <a:pPr marL="342900" indent="-342900">
              <a:lnSpc>
                <a:spcPct val="115000"/>
              </a:lnSpc>
              <a:spcAft>
                <a:spcPts val="1000"/>
              </a:spcAft>
              <a:buFont typeface="Arial" pitchFamily="34" charset="0"/>
              <a:buChar char="•"/>
            </a:pPr>
            <a:r>
              <a:rPr lang="en-US" sz="2400" dirty="0" smtClean="0">
                <a:latin typeface="Times New Roman"/>
                <a:ea typeface="Times New Roman"/>
                <a:cs typeface="Times New Roman"/>
              </a:rPr>
              <a:t>Semantics </a:t>
            </a:r>
            <a:r>
              <a:rPr lang="en-US" sz="2400" dirty="0">
                <a:latin typeface="Times New Roman"/>
                <a:ea typeface="Times New Roman"/>
                <a:cs typeface="Times New Roman"/>
              </a:rPr>
              <a:t>bridges the gap between structured source code and actual CPU execution</a:t>
            </a:r>
            <a:r>
              <a:rPr lang="en-US" sz="2400" dirty="0" smtClean="0">
                <a:latin typeface="Times New Roman"/>
                <a:ea typeface="Times New Roman"/>
                <a:cs typeface="Times New Roman"/>
              </a:rPr>
              <a:t>.</a:t>
            </a:r>
            <a:r>
              <a:rPr lang="en-US" sz="3200" b="1" dirty="0">
                <a:latin typeface="Times New Roman"/>
                <a:ea typeface="Times New Roman"/>
                <a:cs typeface="Times New Roman"/>
              </a:rPr>
              <a:t> </a:t>
            </a:r>
            <a:endParaRPr lang="en-US" sz="3200" b="1" dirty="0" smtClean="0">
              <a:latin typeface="Times New Roman"/>
              <a:ea typeface="Times New Roman"/>
              <a:cs typeface="Times New Roman"/>
            </a:endParaRPr>
          </a:p>
          <a:p>
            <a:pPr>
              <a:lnSpc>
                <a:spcPct val="115000"/>
              </a:lnSpc>
              <a:spcAft>
                <a:spcPts val="1000"/>
              </a:spcAft>
            </a:pPr>
            <a:r>
              <a:rPr lang="en-US" sz="2400" b="1" dirty="0" smtClean="0">
                <a:latin typeface="Times New Roman"/>
                <a:ea typeface="Times New Roman"/>
                <a:cs typeface="Times New Roman"/>
              </a:rPr>
              <a:t>The </a:t>
            </a:r>
            <a:r>
              <a:rPr lang="en-US" sz="2400" b="1" dirty="0">
                <a:latin typeface="Times New Roman"/>
                <a:ea typeface="Times New Roman"/>
                <a:cs typeface="Times New Roman"/>
              </a:rPr>
              <a:t>Challenge of Ambiguity</a:t>
            </a:r>
            <a:endParaRPr lang="en-US" sz="2400" dirty="0">
              <a:latin typeface="Calibri"/>
              <a:ea typeface="Calibri"/>
              <a:cs typeface="Times New Roman"/>
            </a:endParaRPr>
          </a:p>
          <a:p>
            <a:pPr>
              <a:lnSpc>
                <a:spcPct val="115000"/>
              </a:lnSpc>
              <a:spcAft>
                <a:spcPts val="1000"/>
              </a:spcAft>
            </a:pPr>
            <a:r>
              <a:rPr lang="en-US" sz="2400" dirty="0">
                <a:latin typeface="Times New Roman"/>
                <a:ea typeface="Times New Roman"/>
                <a:cs typeface="Times New Roman"/>
              </a:rPr>
              <a:t>Natural languages (like English) are highly ambiguous. A phrase like </a:t>
            </a:r>
            <a:r>
              <a:rPr lang="en-US" sz="2400" i="1" dirty="0">
                <a:latin typeface="Times New Roman"/>
                <a:ea typeface="Times New Roman"/>
                <a:cs typeface="Times New Roman"/>
              </a:rPr>
              <a:t>"I saw a man with a telescope"</a:t>
            </a:r>
            <a:r>
              <a:rPr lang="en-US" sz="2400" dirty="0">
                <a:latin typeface="Times New Roman"/>
                <a:ea typeface="Times New Roman"/>
                <a:cs typeface="Times New Roman"/>
              </a:rPr>
              <a:t> can mean multiple things. Computer languages cannot tolerate this ambiguity. Semantics guarantees that a line of code has exactly </a:t>
            </a:r>
            <a:r>
              <a:rPr lang="en-US" sz="2400" b="1" dirty="0">
                <a:latin typeface="Times New Roman"/>
                <a:ea typeface="Times New Roman"/>
                <a:cs typeface="Times New Roman"/>
              </a:rPr>
              <a:t>one predictable meaning</a:t>
            </a:r>
            <a:r>
              <a:rPr lang="en-US" sz="2400" dirty="0">
                <a:latin typeface="Times New Roman"/>
                <a:ea typeface="Times New Roman"/>
                <a:cs typeface="Times New Roman"/>
              </a:rPr>
              <a:t> on any compliant execution engine.</a:t>
            </a:r>
            <a:endParaRPr lang="en-US" sz="2000" dirty="0">
              <a:latin typeface="Calibri"/>
              <a:ea typeface="Calibri"/>
              <a:cs typeface="Times New Roman"/>
            </a:endParaRPr>
          </a:p>
          <a:p>
            <a:pPr>
              <a:lnSpc>
                <a:spcPct val="115000"/>
              </a:lnSpc>
              <a:spcAft>
                <a:spcPts val="1000"/>
              </a:spcAft>
            </a:pPr>
            <a:endParaRPr lang="en-US" sz="2400" dirty="0">
              <a:effectLst/>
              <a:latin typeface="Calibri"/>
              <a:ea typeface="Calibri"/>
              <a:cs typeface="Times New Roman"/>
            </a:endParaRPr>
          </a:p>
        </p:txBody>
      </p:sp>
    </p:spTree>
    <p:extLst>
      <p:ext uri="{BB962C8B-B14F-4D97-AF65-F5344CB8AC3E}">
        <p14:creationId xmlns:p14="http://schemas.microsoft.com/office/powerpoint/2010/main" val="214278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4235" y="20673"/>
            <a:ext cx="10671048" cy="1112091"/>
          </a:xfrm>
        </p:spPr>
        <p:txBody>
          <a:bodyPr/>
          <a:lstStyle/>
          <a:p>
            <a:pPr algn="just"/>
            <a:r>
              <a:rPr lang="en-US" dirty="0"/>
              <a:t>Semantics: The Meaning of Code</a:t>
            </a:r>
          </a:p>
        </p:txBody>
      </p:sp>
      <p:sp>
        <p:nvSpPr>
          <p:cNvPr id="4" name="Slide Number Placeholder 3"/>
          <p:cNvSpPr>
            <a:spLocks noGrp="1"/>
          </p:cNvSpPr>
          <p:nvPr>
            <p:ph type="sldNum" sz="quarter" idx="12"/>
          </p:nvPr>
        </p:nvSpPr>
        <p:spPr/>
        <p:txBody>
          <a:bodyPr/>
          <a:lstStyle/>
          <a:p>
            <a:fld id="{48F63A3B-78C7-47BE-AE5E-E10140E04643}" type="slidenum">
              <a:rPr lang="en-US" smtClean="0"/>
              <a:pPr/>
              <a:t>13</a:t>
            </a:fld>
            <a:endParaRPr lang="en-US" dirty="0"/>
          </a:p>
        </p:txBody>
      </p:sp>
      <p:sp>
        <p:nvSpPr>
          <p:cNvPr id="5" name="Rectangle 4"/>
          <p:cNvSpPr/>
          <p:nvPr/>
        </p:nvSpPr>
        <p:spPr>
          <a:xfrm>
            <a:off x="341193" y="996287"/>
            <a:ext cx="11286699" cy="3785652"/>
          </a:xfrm>
          <a:prstGeom prst="rect">
            <a:avLst/>
          </a:prstGeom>
        </p:spPr>
        <p:txBody>
          <a:bodyPr wrap="square">
            <a:spAutoFit/>
          </a:bodyPr>
          <a:lstStyle/>
          <a:p>
            <a:pPr algn="just"/>
            <a:r>
              <a:rPr lang="en-US" sz="2400" dirty="0"/>
              <a:t>Semantics refers to the meaning of expressions, statements, and program units</a:t>
            </a:r>
            <a:r>
              <a:rPr lang="en-US" sz="2400" dirty="0" smtClean="0"/>
              <a:t>.</a:t>
            </a:r>
          </a:p>
          <a:p>
            <a:pPr algn="just"/>
            <a:endParaRPr lang="en-US" sz="2400" dirty="0"/>
          </a:p>
          <a:p>
            <a:pPr algn="just"/>
            <a:r>
              <a:rPr lang="en-US" sz="2400" dirty="0" smtClean="0"/>
              <a:t> </a:t>
            </a:r>
            <a:r>
              <a:rPr lang="en-US" sz="2400" dirty="0"/>
              <a:t>A program can be syntactically flawless but semantically completely invalid.</a:t>
            </a:r>
          </a:p>
          <a:p>
            <a:pPr algn="just"/>
            <a:endParaRPr lang="en-US" sz="2400" dirty="0" smtClean="0"/>
          </a:p>
          <a:p>
            <a:pPr algn="just"/>
            <a:r>
              <a:rPr lang="en-US" sz="2400" dirty="0" smtClean="0"/>
              <a:t>Example </a:t>
            </a:r>
            <a:r>
              <a:rPr lang="en-US" sz="2400" dirty="0"/>
              <a:t>of the Difference</a:t>
            </a:r>
          </a:p>
          <a:p>
            <a:pPr algn="just"/>
            <a:r>
              <a:rPr lang="en-US" sz="2400" dirty="0"/>
              <a:t>•	</a:t>
            </a:r>
            <a:r>
              <a:rPr lang="en-US" sz="2400" dirty="0" err="1"/>
              <a:t>int</a:t>
            </a:r>
            <a:r>
              <a:rPr lang="en-US" sz="2400" dirty="0"/>
              <a:t> x = "apple";</a:t>
            </a:r>
          </a:p>
          <a:p>
            <a:pPr algn="just"/>
            <a:r>
              <a:rPr lang="en-US" sz="2400" dirty="0"/>
              <a:t>•	Syntax: Perfect. It follows the structural rule: type variable = value;.</a:t>
            </a:r>
          </a:p>
          <a:p>
            <a:pPr algn="just"/>
            <a:r>
              <a:rPr lang="en-US" sz="2400" dirty="0"/>
              <a:t>•	Semantics: Broken. You cannot store a text string inside an integer variable type</a:t>
            </a:r>
            <a:r>
              <a:rPr lang="en-US" sz="2400" dirty="0" smtClean="0"/>
              <a:t>.</a:t>
            </a:r>
          </a:p>
          <a:p>
            <a:pPr algn="just"/>
            <a:endParaRPr lang="en-US" sz="2400" dirty="0" smtClean="0"/>
          </a:p>
        </p:txBody>
      </p:sp>
    </p:spTree>
    <p:extLst>
      <p:ext uri="{BB962C8B-B14F-4D97-AF65-F5344CB8AC3E}">
        <p14:creationId xmlns:p14="http://schemas.microsoft.com/office/powerpoint/2010/main" val="27108981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064" y="174308"/>
            <a:ext cx="10671048" cy="897256"/>
          </a:xfrm>
        </p:spPr>
        <p:txBody>
          <a:bodyPr/>
          <a:lstStyle/>
          <a:p>
            <a:r>
              <a:rPr lang="en-US" sz="3200" dirty="0"/>
              <a:t>How Meaning Changes by Construct</a:t>
            </a:r>
            <a:r>
              <a:rPr lang="en-US" dirty="0"/>
              <a:t/>
            </a:r>
            <a:br>
              <a:rPr lang="en-US" dirty="0"/>
            </a:br>
            <a:endParaRPr lang="en-US" dirty="0"/>
          </a:p>
        </p:txBody>
      </p:sp>
      <p:sp>
        <p:nvSpPr>
          <p:cNvPr id="3" name="Slide Number Placeholder 2"/>
          <p:cNvSpPr>
            <a:spLocks noGrp="1"/>
          </p:cNvSpPr>
          <p:nvPr>
            <p:ph type="sldNum" sz="quarter" idx="12"/>
          </p:nvPr>
        </p:nvSpPr>
        <p:spPr/>
        <p:txBody>
          <a:bodyPr/>
          <a:lstStyle/>
          <a:p>
            <a:fld id="{48F63A3B-78C7-47BE-AE5E-E10140E04643}" type="slidenum">
              <a:rPr lang="en-US" smtClean="0"/>
              <a:pPr/>
              <a:t>14</a:t>
            </a:fld>
            <a:endParaRPr lang="en-US" dirty="0"/>
          </a:p>
        </p:txBody>
      </p:sp>
      <p:sp>
        <p:nvSpPr>
          <p:cNvPr id="4" name="Rectangle 3"/>
          <p:cNvSpPr/>
          <p:nvPr/>
        </p:nvSpPr>
        <p:spPr>
          <a:xfrm>
            <a:off x="100013" y="701703"/>
            <a:ext cx="11872912" cy="5830314"/>
          </a:xfrm>
          <a:prstGeom prst="rect">
            <a:avLst/>
          </a:prstGeom>
        </p:spPr>
        <p:txBody>
          <a:bodyPr wrap="square">
            <a:spAutoFit/>
          </a:bodyPr>
          <a:lstStyle/>
          <a:p>
            <a:pPr>
              <a:lnSpc>
                <a:spcPct val="115000"/>
              </a:lnSpc>
              <a:spcAft>
                <a:spcPts val="1000"/>
              </a:spcAft>
            </a:pPr>
            <a:r>
              <a:rPr lang="en-US" sz="2400" dirty="0" smtClean="0">
                <a:latin typeface="Times New Roman"/>
                <a:ea typeface="Times New Roman"/>
                <a:cs typeface="Times New Roman"/>
              </a:rPr>
              <a:t>Semantics </a:t>
            </a:r>
            <a:r>
              <a:rPr lang="en-US" sz="2400" dirty="0">
                <a:latin typeface="Times New Roman"/>
                <a:ea typeface="Times New Roman"/>
                <a:cs typeface="Times New Roman"/>
              </a:rPr>
              <a:t>translates identical syntax structures into entirely different processor actions depending on the data type or context involved:</a:t>
            </a:r>
            <a:endParaRPr lang="en-US" sz="2400" dirty="0">
              <a:latin typeface="Calibri"/>
              <a:ea typeface="Calibri"/>
              <a:cs typeface="Times New Roman"/>
            </a:endParaRPr>
          </a:p>
          <a:p>
            <a:pPr marL="342900" marR="0" lvl="0" indent="-342900">
              <a:lnSpc>
                <a:spcPct val="115000"/>
              </a:lnSpc>
              <a:spcBef>
                <a:spcPts val="0"/>
              </a:spcBef>
              <a:spcAft>
                <a:spcPts val="1000"/>
              </a:spcAft>
              <a:buSzPts val="1000"/>
              <a:buFont typeface="Symbol"/>
              <a:buChar char=""/>
              <a:tabLst>
                <a:tab pos="457200" algn="l"/>
              </a:tabLst>
            </a:pPr>
            <a:r>
              <a:rPr lang="en-US" sz="2400" b="1" dirty="0">
                <a:latin typeface="Times New Roman"/>
                <a:ea typeface="Times New Roman"/>
                <a:cs typeface="Times New Roman"/>
              </a:rPr>
              <a:t>Declarations:</a:t>
            </a:r>
            <a:r>
              <a:rPr lang="en-US" sz="2400" dirty="0">
                <a:latin typeface="Times New Roman"/>
                <a:ea typeface="Times New Roman"/>
                <a:cs typeface="Times New Roman"/>
              </a:rPr>
              <a:t> Meaning shifts based on type. </a:t>
            </a:r>
            <a:r>
              <a:rPr lang="en-US" sz="2400" dirty="0" err="1">
                <a:latin typeface="Courier New"/>
                <a:ea typeface="Times New Roman"/>
                <a:cs typeface="Times New Roman"/>
              </a:rPr>
              <a:t>int</a:t>
            </a:r>
            <a:r>
              <a:rPr lang="en-US" sz="2400" dirty="0">
                <a:latin typeface="Courier New"/>
                <a:ea typeface="Times New Roman"/>
                <a:cs typeface="Times New Roman"/>
              </a:rPr>
              <a:t> x;</a:t>
            </a:r>
            <a:r>
              <a:rPr lang="en-US" sz="2400" dirty="0">
                <a:latin typeface="Times New Roman"/>
                <a:ea typeface="Times New Roman"/>
                <a:cs typeface="Times New Roman"/>
              </a:rPr>
              <a:t> tells the system to reserve 4 bytes of memory, while </a:t>
            </a:r>
            <a:r>
              <a:rPr lang="en-US" sz="2400" dirty="0">
                <a:latin typeface="Courier New"/>
                <a:ea typeface="Times New Roman"/>
                <a:cs typeface="Times New Roman"/>
              </a:rPr>
              <a:t>double x;</a:t>
            </a:r>
            <a:r>
              <a:rPr lang="en-US" sz="2400" dirty="0">
                <a:latin typeface="Times New Roman"/>
                <a:ea typeface="Times New Roman"/>
                <a:cs typeface="Times New Roman"/>
              </a:rPr>
              <a:t> tells it to reserve 8 bytes and format it specifically for floating-point math.</a:t>
            </a:r>
            <a:endParaRPr lang="en-US" sz="2400" dirty="0">
              <a:latin typeface="Calibri"/>
              <a:ea typeface="Calibri"/>
              <a:cs typeface="Times New Roman"/>
            </a:endParaRPr>
          </a:p>
          <a:p>
            <a:pPr marL="342900" marR="0" lvl="0" indent="-342900">
              <a:lnSpc>
                <a:spcPct val="115000"/>
              </a:lnSpc>
              <a:spcBef>
                <a:spcPts val="0"/>
              </a:spcBef>
              <a:spcAft>
                <a:spcPts val="1000"/>
              </a:spcAft>
              <a:buSzPts val="1000"/>
              <a:buFont typeface="Symbol"/>
              <a:buChar char=""/>
              <a:tabLst>
                <a:tab pos="457200" algn="l"/>
              </a:tabLst>
            </a:pPr>
            <a:r>
              <a:rPr lang="en-US" sz="2400" b="1" dirty="0">
                <a:latin typeface="Times New Roman"/>
                <a:ea typeface="Times New Roman"/>
                <a:cs typeface="Times New Roman"/>
              </a:rPr>
              <a:t>Control Flow:</a:t>
            </a:r>
            <a:r>
              <a:rPr lang="en-US" sz="2400" dirty="0">
                <a:latin typeface="Times New Roman"/>
                <a:ea typeface="Times New Roman"/>
                <a:cs typeface="Times New Roman"/>
              </a:rPr>
              <a:t> The statement </a:t>
            </a:r>
            <a:r>
              <a:rPr lang="en-US" sz="2400" dirty="0">
                <a:latin typeface="Courier New"/>
                <a:ea typeface="Times New Roman"/>
                <a:cs typeface="Times New Roman"/>
              </a:rPr>
              <a:t>while (condition) { body }</a:t>
            </a:r>
            <a:r>
              <a:rPr lang="en-US" sz="2400" dirty="0">
                <a:latin typeface="Times New Roman"/>
                <a:ea typeface="Times New Roman"/>
                <a:cs typeface="Times New Roman"/>
              </a:rPr>
              <a:t> carries an operational meaning: evaluate the condition; if true, run the body and jump back to the evaluation step; if false, skip past the loop block entirely.</a:t>
            </a:r>
            <a:endParaRPr lang="en-US" sz="2400" dirty="0">
              <a:latin typeface="Calibri"/>
              <a:ea typeface="Calibri"/>
              <a:cs typeface="Times New Roman"/>
            </a:endParaRPr>
          </a:p>
          <a:p>
            <a:pPr marL="342900" marR="0" lvl="0" indent="-342900">
              <a:lnSpc>
                <a:spcPct val="115000"/>
              </a:lnSpc>
              <a:spcBef>
                <a:spcPts val="0"/>
              </a:spcBef>
              <a:spcAft>
                <a:spcPts val="1000"/>
              </a:spcAft>
              <a:buSzPts val="1000"/>
              <a:buFont typeface="Symbol"/>
              <a:buChar char=""/>
              <a:tabLst>
                <a:tab pos="457200" algn="l"/>
              </a:tabLst>
            </a:pPr>
            <a:r>
              <a:rPr lang="en-US" sz="2400" b="1" dirty="0">
                <a:latin typeface="Times New Roman"/>
                <a:ea typeface="Times New Roman"/>
                <a:cs typeface="Times New Roman"/>
              </a:rPr>
              <a:t>Expressions and Operators:</a:t>
            </a:r>
            <a:r>
              <a:rPr lang="en-US" sz="2400" dirty="0">
                <a:latin typeface="Times New Roman"/>
                <a:ea typeface="Times New Roman"/>
                <a:cs typeface="Times New Roman"/>
              </a:rPr>
              <a:t> The plus symbol (</a:t>
            </a:r>
            <a:r>
              <a:rPr lang="en-US" sz="2400" dirty="0">
                <a:latin typeface="Courier New"/>
                <a:ea typeface="Times New Roman"/>
                <a:cs typeface="Times New Roman"/>
              </a:rPr>
              <a:t>+</a:t>
            </a:r>
            <a:r>
              <a:rPr lang="en-US" sz="2400" dirty="0">
                <a:latin typeface="Times New Roman"/>
                <a:ea typeface="Times New Roman"/>
                <a:cs typeface="Times New Roman"/>
              </a:rPr>
              <a:t>) changes its fundamental behavior based on data types:</a:t>
            </a:r>
            <a:endParaRPr lang="en-US" sz="2400" dirty="0">
              <a:latin typeface="Calibri"/>
              <a:ea typeface="Calibri"/>
              <a:cs typeface="Times New Roman"/>
            </a:endParaRPr>
          </a:p>
          <a:p>
            <a:pPr marL="742950" marR="0" lvl="1" indent="-285750">
              <a:lnSpc>
                <a:spcPct val="115000"/>
              </a:lnSpc>
              <a:spcBef>
                <a:spcPts val="0"/>
              </a:spcBef>
              <a:spcAft>
                <a:spcPts val="1000"/>
              </a:spcAft>
              <a:buSzPts val="1000"/>
              <a:buFont typeface="Courier New"/>
              <a:buChar char="o"/>
              <a:tabLst>
                <a:tab pos="914400" algn="l"/>
              </a:tabLst>
            </a:pPr>
            <a:r>
              <a:rPr lang="en-US" sz="2400" dirty="0">
                <a:latin typeface="Times New Roman"/>
                <a:ea typeface="Times New Roman"/>
                <a:cs typeface="Times New Roman"/>
              </a:rPr>
              <a:t>Semantics with numbers: </a:t>
            </a:r>
            <a:r>
              <a:rPr lang="en-US" sz="2400" dirty="0">
                <a:latin typeface="Courier New"/>
                <a:ea typeface="Times New Roman"/>
                <a:cs typeface="Times New Roman"/>
              </a:rPr>
              <a:t>5 + 5</a:t>
            </a:r>
            <a:r>
              <a:rPr lang="en-US" sz="2400" dirty="0">
                <a:latin typeface="Times New Roman"/>
                <a:ea typeface="Times New Roman"/>
                <a:cs typeface="Times New Roman"/>
              </a:rPr>
              <a:t> ,</a:t>
            </a:r>
            <a:r>
              <a:rPr lang="en-US" sz="2400" dirty="0" smtClean="0">
                <a:latin typeface="Times New Roman"/>
                <a:ea typeface="Times New Roman"/>
                <a:cs typeface="Times New Roman"/>
              </a:rPr>
              <a:t> </a:t>
            </a:r>
            <a:r>
              <a:rPr lang="en-US" sz="2400" b="1" dirty="0">
                <a:latin typeface="Times New Roman"/>
                <a:ea typeface="Times New Roman"/>
                <a:cs typeface="Times New Roman"/>
              </a:rPr>
              <a:t>Arithmetic Addition</a:t>
            </a:r>
            <a:r>
              <a:rPr lang="en-US" sz="2400" dirty="0">
                <a:latin typeface="Times New Roman"/>
                <a:ea typeface="Times New Roman"/>
                <a:cs typeface="Times New Roman"/>
              </a:rPr>
              <a:t> (Outputs </a:t>
            </a:r>
            <a:r>
              <a:rPr lang="en-US" sz="2400" dirty="0">
                <a:latin typeface="Courier New"/>
                <a:ea typeface="Times New Roman"/>
                <a:cs typeface="Times New Roman"/>
              </a:rPr>
              <a:t>10</a:t>
            </a:r>
            <a:r>
              <a:rPr lang="en-US" sz="2400" dirty="0">
                <a:latin typeface="Times New Roman"/>
                <a:ea typeface="Times New Roman"/>
                <a:cs typeface="Times New Roman"/>
              </a:rPr>
              <a:t>).</a:t>
            </a:r>
            <a:endParaRPr lang="en-US" sz="2400" dirty="0">
              <a:latin typeface="Calibri"/>
              <a:ea typeface="Calibri"/>
              <a:cs typeface="Times New Roman"/>
            </a:endParaRPr>
          </a:p>
          <a:p>
            <a:pPr marL="742950" marR="0" lvl="1" indent="-285750">
              <a:lnSpc>
                <a:spcPct val="115000"/>
              </a:lnSpc>
              <a:spcBef>
                <a:spcPts val="0"/>
              </a:spcBef>
              <a:spcAft>
                <a:spcPts val="1000"/>
              </a:spcAft>
              <a:buSzPts val="1000"/>
              <a:buFont typeface="Courier New"/>
              <a:buChar char="o"/>
              <a:tabLst>
                <a:tab pos="914400" algn="l"/>
              </a:tabLst>
            </a:pPr>
            <a:r>
              <a:rPr lang="en-US" sz="2400" dirty="0">
                <a:latin typeface="Times New Roman"/>
                <a:ea typeface="Times New Roman"/>
                <a:cs typeface="Times New Roman"/>
              </a:rPr>
              <a:t>Semantics with text: </a:t>
            </a:r>
            <a:r>
              <a:rPr lang="en-US" sz="2400" dirty="0">
                <a:latin typeface="Courier New"/>
                <a:ea typeface="Times New Roman"/>
                <a:cs typeface="Times New Roman"/>
              </a:rPr>
              <a:t>"5" + "5"</a:t>
            </a:r>
            <a:r>
              <a:rPr lang="en-US" sz="2400" dirty="0">
                <a:latin typeface="Times New Roman"/>
                <a:ea typeface="Times New Roman"/>
                <a:cs typeface="Times New Roman"/>
              </a:rPr>
              <a:t> </a:t>
            </a:r>
            <a:r>
              <a:rPr lang="en-US" sz="2400" b="1" dirty="0" smtClean="0">
                <a:latin typeface="Times New Roman"/>
                <a:ea typeface="Times New Roman"/>
                <a:cs typeface="Times New Roman"/>
              </a:rPr>
              <a:t>String </a:t>
            </a:r>
            <a:r>
              <a:rPr lang="en-US" sz="2400" b="1" dirty="0">
                <a:latin typeface="Times New Roman"/>
                <a:ea typeface="Times New Roman"/>
                <a:cs typeface="Times New Roman"/>
              </a:rPr>
              <a:t>Concatenation</a:t>
            </a:r>
            <a:r>
              <a:rPr lang="en-US" sz="2400" dirty="0">
                <a:latin typeface="Times New Roman"/>
                <a:ea typeface="Times New Roman"/>
                <a:cs typeface="Times New Roman"/>
              </a:rPr>
              <a:t> (Outputs </a:t>
            </a:r>
            <a:r>
              <a:rPr lang="en-US" sz="2400" dirty="0">
                <a:latin typeface="Courier New"/>
                <a:ea typeface="Times New Roman"/>
                <a:cs typeface="Times New Roman"/>
              </a:rPr>
              <a:t>"55"</a:t>
            </a:r>
            <a:r>
              <a:rPr lang="en-US" sz="2400" dirty="0">
                <a:latin typeface="Times New Roman"/>
                <a:ea typeface="Times New Roman"/>
                <a:cs typeface="Times New Roman"/>
              </a:rPr>
              <a:t>).</a:t>
            </a:r>
            <a:endParaRPr lang="en-US" sz="2400" dirty="0">
              <a:effectLst/>
              <a:latin typeface="Calibri"/>
              <a:ea typeface="Calibri"/>
              <a:cs typeface="Times New Roman"/>
            </a:endParaRPr>
          </a:p>
        </p:txBody>
      </p:sp>
    </p:spTree>
    <p:extLst>
      <p:ext uri="{BB962C8B-B14F-4D97-AF65-F5344CB8AC3E}">
        <p14:creationId xmlns:p14="http://schemas.microsoft.com/office/powerpoint/2010/main" val="1355162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8F63A3B-78C7-47BE-AE5E-E10140E04643}" type="slidenum">
              <a:rPr lang="en-US" smtClean="0"/>
              <a:pPr/>
              <a:t>15</a:t>
            </a:fld>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9526" y="2243138"/>
            <a:ext cx="8798861" cy="4129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385763" y="457199"/>
            <a:ext cx="10052712" cy="1569660"/>
          </a:xfrm>
          <a:prstGeom prst="rect">
            <a:avLst/>
          </a:prstGeom>
        </p:spPr>
        <p:txBody>
          <a:bodyPr wrap="square">
            <a:spAutoFit/>
          </a:bodyPr>
          <a:lstStyle/>
          <a:p>
            <a:pPr lvl="0" algn="just"/>
            <a:r>
              <a:rPr lang="en-US" sz="2400" b="1" dirty="0"/>
              <a:t>Approaches to Formal Semantics</a:t>
            </a:r>
          </a:p>
          <a:p>
            <a:pPr lvl="0" algn="just"/>
            <a:r>
              <a:rPr lang="en-US" sz="2400" dirty="0">
                <a:solidFill>
                  <a:srgbClr val="000000"/>
                </a:solidFill>
              </a:rPr>
              <a:t>While syntax is easily defined using BNF, formalizing semantics is much more complex. There are three primary traditional methods used:</a:t>
            </a:r>
          </a:p>
          <a:p>
            <a:pPr lvl="0" algn="just"/>
            <a:endParaRPr lang="en-US" sz="2400" dirty="0">
              <a:solidFill>
                <a:srgbClr val="000000"/>
              </a:solidFill>
            </a:endParaRPr>
          </a:p>
        </p:txBody>
      </p:sp>
    </p:spTree>
    <p:extLst>
      <p:ext uri="{BB962C8B-B14F-4D97-AF65-F5344CB8AC3E}">
        <p14:creationId xmlns:p14="http://schemas.microsoft.com/office/powerpoint/2010/main" val="11360570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F63A3B-78C7-47BE-AE5E-E10140E04643}" type="slidenum">
              <a:rPr lang="en-US" smtClean="0"/>
              <a:pPr/>
              <a:t>16</a:t>
            </a:fld>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838" y="300039"/>
            <a:ext cx="11229975" cy="5786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836302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8F63A3B-78C7-47BE-AE5E-E10140E04643}" type="slidenum">
              <a:rPr lang="en-US" smtClean="0"/>
              <a:pPr/>
              <a:t>17</a:t>
            </a:fld>
            <a:endParaRPr lang="en-US" dirty="0"/>
          </a:p>
        </p:txBody>
      </p:sp>
      <p:sp>
        <p:nvSpPr>
          <p:cNvPr id="5" name="Rectangle 4"/>
          <p:cNvSpPr/>
          <p:nvPr/>
        </p:nvSpPr>
        <p:spPr>
          <a:xfrm>
            <a:off x="409433" y="225652"/>
            <a:ext cx="11450471" cy="1384995"/>
          </a:xfrm>
          <a:prstGeom prst="rect">
            <a:avLst/>
          </a:prstGeom>
        </p:spPr>
        <p:txBody>
          <a:bodyPr wrap="square">
            <a:spAutoFit/>
          </a:bodyPr>
          <a:lstStyle/>
          <a:p>
            <a:r>
              <a:rPr lang="en-US" sz="2000" dirty="0"/>
              <a:t>3. Axiomatic Semantics</a:t>
            </a:r>
          </a:p>
          <a:p>
            <a:r>
              <a:rPr lang="en-US" sz="2000" dirty="0"/>
              <a:t>•	Concept: Based on formal mathematical logic.</a:t>
            </a:r>
          </a:p>
          <a:p>
            <a:r>
              <a:rPr lang="en-US" sz="2000" dirty="0"/>
              <a:t>•	Mechanism: Uses assertions called preconditions and </a:t>
            </a:r>
            <a:r>
              <a:rPr lang="en-US" sz="2000" dirty="0" err="1"/>
              <a:t>postconditions</a:t>
            </a:r>
            <a:r>
              <a:rPr lang="en-US" sz="2000" dirty="0"/>
              <a:t> to prove correctness.</a:t>
            </a:r>
          </a:p>
          <a:p>
            <a:r>
              <a:rPr lang="en-US" sz="2000" dirty="0" smtClean="0"/>
              <a:t>••</a:t>
            </a:r>
            <a:r>
              <a:rPr lang="en-US" sz="2000" dirty="0"/>
              <a:t>	Use Case: Crucial for formal program verification and safety-critical software</a:t>
            </a:r>
            <a:r>
              <a:rPr lang="en-US" sz="2400" dirty="0"/>
              <a:t>.</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432" y="1828799"/>
            <a:ext cx="11450471" cy="4872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643695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1051572-7306-B481-926F-815E59D7C8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DB3418C8-3206-FD39-E3CB-130EB4BB1667}"/>
              </a:ext>
            </a:extLst>
          </p:cNvPr>
          <p:cNvSpPr>
            <a:spLocks noGrp="1"/>
          </p:cNvSpPr>
          <p:nvPr>
            <p:ph type="title"/>
          </p:nvPr>
        </p:nvSpPr>
        <p:spPr>
          <a:xfrm>
            <a:off x="2672862" y="124613"/>
            <a:ext cx="9519137" cy="994164"/>
          </a:xfrm>
        </p:spPr>
        <p:txBody>
          <a:bodyPr/>
          <a:lstStyle/>
          <a:p>
            <a:r>
              <a:rPr lang="en-US" sz="2800" dirty="0">
                <a:latin typeface="Times New Roman" panose="02020603050405020304" pitchFamily="18" charset="0"/>
                <a:cs typeface="Times New Roman" panose="02020603050405020304" pitchFamily="18" charset="0"/>
              </a:rPr>
              <a:t>2. </a:t>
            </a:r>
            <a:r>
              <a:rPr lang="en-US" sz="4000" dirty="0">
                <a:latin typeface="Times New Roman" panose="02020603050405020304" pitchFamily="18" charset="0"/>
                <a:cs typeface="Times New Roman" panose="02020603050405020304" pitchFamily="18" charset="0"/>
              </a:rPr>
              <a:t>Program errors</a:t>
            </a:r>
            <a:endParaRPr lang="en-US" sz="4000" dirty="0">
              <a:latin typeface="Times New Roman" panose="02020603050405020304" pitchFamily="18" charset="0"/>
              <a:cs typeface="Times New Roman" panose="02020603050405020304" pitchFamily="18" charset="0"/>
            </a:endParaRPr>
          </a:p>
        </p:txBody>
      </p:sp>
      <p:sp>
        <p:nvSpPr>
          <p:cNvPr id="23" name="Slide Number Placeholder 22">
            <a:extLst>
              <a:ext uri="{FF2B5EF4-FFF2-40B4-BE49-F238E27FC236}">
                <a16:creationId xmlns:a16="http://schemas.microsoft.com/office/drawing/2014/main" xmlns="" id="{166F5E20-1C8B-547A-3FB3-EA6263613E3A}"/>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solidFill>
                  <a:srgbClr val="1F2C8F"/>
                </a:solidFill>
              </a:rPr>
              <a:pPr/>
              <a:t>18</a:t>
            </a:fld>
            <a:endParaRPr lang="en-US" dirty="0">
              <a:solidFill>
                <a:srgbClr val="1F2C8F"/>
              </a:solidFill>
            </a:endParaRPr>
          </a:p>
        </p:txBody>
      </p:sp>
      <p:sp>
        <p:nvSpPr>
          <p:cNvPr id="3" name="Rectangle 2"/>
          <p:cNvSpPr/>
          <p:nvPr/>
        </p:nvSpPr>
        <p:spPr>
          <a:xfrm>
            <a:off x="2838734" y="1793627"/>
            <a:ext cx="8352430" cy="3046988"/>
          </a:xfrm>
          <a:prstGeom prst="rect">
            <a:avLst/>
          </a:prstGeom>
        </p:spPr>
        <p:txBody>
          <a:bodyPr wrap="square">
            <a:spAutoFit/>
          </a:bodyPr>
          <a:lstStyle/>
          <a:p>
            <a:pPr algn="just"/>
            <a:r>
              <a:rPr lang="en-US" sz="3200" dirty="0">
                <a:solidFill>
                  <a:srgbClr val="000000"/>
                </a:solidFill>
              </a:rPr>
              <a:t>When considering types of errors in programming, </a:t>
            </a:r>
            <a:endParaRPr lang="en-US" sz="3200" dirty="0" smtClean="0">
              <a:solidFill>
                <a:srgbClr val="000000"/>
              </a:solidFill>
            </a:endParaRPr>
          </a:p>
          <a:p>
            <a:pPr algn="just"/>
            <a:endParaRPr lang="en-US" sz="3200" dirty="0">
              <a:solidFill>
                <a:srgbClr val="000000"/>
              </a:solidFill>
            </a:endParaRPr>
          </a:p>
          <a:p>
            <a:pPr algn="just"/>
            <a:r>
              <a:rPr lang="en-US" sz="3200" dirty="0" smtClean="0">
                <a:solidFill>
                  <a:srgbClr val="000000"/>
                </a:solidFill>
              </a:rPr>
              <a:t>it </a:t>
            </a:r>
            <a:r>
              <a:rPr lang="en-US" sz="3200" dirty="0">
                <a:solidFill>
                  <a:srgbClr val="000000"/>
                </a:solidFill>
              </a:rPr>
              <a:t>is beneficial if you understand the typical errors programmers run into and how you go about debugging</a:t>
            </a:r>
          </a:p>
        </p:txBody>
      </p:sp>
    </p:spTree>
    <p:extLst>
      <p:ext uri="{BB962C8B-B14F-4D97-AF65-F5344CB8AC3E}">
        <p14:creationId xmlns:p14="http://schemas.microsoft.com/office/powerpoint/2010/main" val="5269189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EA63975-4E66-20C6-9F68-05E3AC5247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2F30E0CB-464F-A74A-7CB8-B6DCBDEBB219}"/>
              </a:ext>
            </a:extLst>
          </p:cNvPr>
          <p:cNvSpPr>
            <a:spLocks noGrp="1"/>
          </p:cNvSpPr>
          <p:nvPr>
            <p:ph type="title"/>
          </p:nvPr>
        </p:nvSpPr>
        <p:spPr>
          <a:xfrm>
            <a:off x="2672862" y="124613"/>
            <a:ext cx="9519137" cy="994164"/>
          </a:xfrm>
        </p:spPr>
        <p:txBody>
          <a:bodyPr/>
          <a:lstStyle/>
          <a:p>
            <a:pPr algn="ctr"/>
            <a:r>
              <a:rPr lang="en-US" sz="2800" dirty="0">
                <a:latin typeface="Times New Roman" panose="02020603050405020304" pitchFamily="18" charset="0"/>
                <a:cs typeface="Times New Roman" panose="02020603050405020304" pitchFamily="18" charset="0"/>
              </a:rPr>
              <a:t>Programming </a:t>
            </a:r>
            <a:r>
              <a:rPr lang="en-US" sz="2800" dirty="0" smtClean="0">
                <a:latin typeface="Times New Roman" panose="02020603050405020304" pitchFamily="18" charset="0"/>
                <a:cs typeface="Times New Roman" panose="02020603050405020304" pitchFamily="18" charset="0"/>
              </a:rPr>
              <a:t>ERRORS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Definition</a:t>
            </a:r>
          </a:p>
        </p:txBody>
      </p:sp>
      <p:sp>
        <p:nvSpPr>
          <p:cNvPr id="23" name="Slide Number Placeholder 22">
            <a:extLst>
              <a:ext uri="{FF2B5EF4-FFF2-40B4-BE49-F238E27FC236}">
                <a16:creationId xmlns:a16="http://schemas.microsoft.com/office/drawing/2014/main" xmlns="" id="{5B0C596D-3B1B-A31A-58E6-733D56A50203}"/>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19</a:t>
            </a:fld>
            <a:endParaRPr lang="en-US" dirty="0"/>
          </a:p>
        </p:txBody>
      </p:sp>
      <p:sp>
        <p:nvSpPr>
          <p:cNvPr id="7" name="TextBox 6">
            <a:extLst>
              <a:ext uri="{FF2B5EF4-FFF2-40B4-BE49-F238E27FC236}">
                <a16:creationId xmlns:a16="http://schemas.microsoft.com/office/drawing/2014/main" xmlns="" id="{4F2D205C-54F0-DFE3-5E10-37B3603CDBA2}"/>
              </a:ext>
            </a:extLst>
          </p:cNvPr>
          <p:cNvSpPr txBox="1"/>
          <p:nvPr/>
        </p:nvSpPr>
        <p:spPr>
          <a:xfrm>
            <a:off x="2813538" y="1358175"/>
            <a:ext cx="7544899" cy="4524315"/>
          </a:xfrm>
          <a:prstGeom prst="rect">
            <a:avLst/>
          </a:prstGeom>
          <a:noFill/>
        </p:spPr>
        <p:txBody>
          <a:bodyPr wrap="square">
            <a:spAutoFit/>
          </a:bodyPr>
          <a:lstStyle/>
          <a:p>
            <a:r>
              <a:rPr lang="en-US" sz="3600" dirty="0" smtClean="0">
                <a:latin typeface="Times New Roman" panose="02020603050405020304" pitchFamily="18" charset="0"/>
                <a:cs typeface="Times New Roman" panose="02020603050405020304" pitchFamily="18" charset="0"/>
              </a:rPr>
              <a:t>	Syntax </a:t>
            </a:r>
            <a:r>
              <a:rPr lang="en-US" sz="3600" dirty="0">
                <a:latin typeface="Times New Roman" panose="02020603050405020304" pitchFamily="18" charset="0"/>
                <a:cs typeface="Times New Roman" panose="02020603050405020304" pitchFamily="18" charset="0"/>
              </a:rPr>
              <a:t>Errors. ...</a:t>
            </a:r>
          </a:p>
          <a:p>
            <a:r>
              <a:rPr lang="en-US" sz="3600" dirty="0" smtClean="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Semantic Errors. ...</a:t>
            </a:r>
          </a:p>
          <a:p>
            <a:r>
              <a:rPr lang="en-US" sz="3600" dirty="0" smtClean="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Logical Errors. ...</a:t>
            </a:r>
          </a:p>
          <a:p>
            <a:r>
              <a:rPr lang="en-US" sz="3600" dirty="0" smtClean="0">
                <a:latin typeface="Times New Roman" panose="02020603050405020304" pitchFamily="18" charset="0"/>
                <a:cs typeface="Times New Roman" panose="02020603050405020304" pitchFamily="18" charset="0"/>
              </a:rPr>
              <a:t>Runtime Errors. ...</a:t>
            </a:r>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   Arithmetic Errors. ...</a:t>
            </a:r>
            <a:r>
              <a:rPr lang="en-US" sz="3600" dirty="0" smtClean="0">
                <a:latin typeface="Times New Roman" panose="02020603050405020304" pitchFamily="18" charset="0"/>
                <a:cs typeface="Times New Roman" panose="02020603050405020304" pitchFamily="18" charset="0"/>
              </a:rPr>
              <a:t> </a:t>
            </a:r>
          </a:p>
          <a:p>
            <a:r>
              <a:rPr lang="en-US" sz="3600" dirty="0" smtClean="0">
                <a:latin typeface="Times New Roman" panose="02020603050405020304" pitchFamily="18" charset="0"/>
                <a:cs typeface="Times New Roman" panose="02020603050405020304" pitchFamily="18" charset="0"/>
              </a:rPr>
              <a:t>Linker </a:t>
            </a:r>
            <a:r>
              <a:rPr lang="en-US" sz="3600" dirty="0">
                <a:latin typeface="Times New Roman" panose="02020603050405020304" pitchFamily="18" charset="0"/>
                <a:cs typeface="Times New Roman" panose="02020603050405020304" pitchFamily="18" charset="0"/>
              </a:rPr>
              <a:t>Errors. ...</a:t>
            </a:r>
          </a:p>
          <a:p>
            <a:r>
              <a:rPr lang="en-US" sz="3600" dirty="0">
                <a:latin typeface="Times New Roman" panose="02020603050405020304" pitchFamily="18" charset="0"/>
                <a:cs typeface="Times New Roman" panose="02020603050405020304" pitchFamily="18" charset="0"/>
              </a:rPr>
              <a:t>    Resource Errors. ...</a:t>
            </a:r>
          </a:p>
          <a:p>
            <a:r>
              <a:rPr lang="en-US" sz="3600" dirty="0">
                <a:latin typeface="Times New Roman" panose="02020603050405020304" pitchFamily="18" charset="0"/>
                <a:cs typeface="Times New Roman" panose="02020603050405020304" pitchFamily="18" charset="0"/>
              </a:rPr>
              <a:t>    </a:t>
            </a:r>
            <a:r>
              <a:rPr lang="en-US" sz="3600" dirty="0" smtClean="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Interface Errors.:</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42348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9D22C5-0C9E-B582-A8FE-B45E70A01E7F}"/>
              </a:ext>
            </a:extLst>
          </p:cNvPr>
          <p:cNvSpPr>
            <a:spLocks noGrp="1"/>
          </p:cNvSpPr>
          <p:nvPr>
            <p:ph type="ctrTitle"/>
          </p:nvPr>
        </p:nvSpPr>
        <p:spPr>
          <a:xfrm>
            <a:off x="914401" y="849782"/>
            <a:ext cx="5715000" cy="2727709"/>
          </a:xfrm>
        </p:spPr>
        <p:txBody>
          <a:bodyPr/>
          <a:lstStyle/>
          <a:p>
            <a:r>
              <a:rPr lang="en-US" dirty="0"/>
              <a:t>Thank </a:t>
            </a:r>
            <a:br>
              <a:rPr lang="en-US" dirty="0"/>
            </a:br>
            <a:r>
              <a:rPr lang="en-US" dirty="0"/>
              <a:t>you</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2.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A719FA4-954C-4FA8-82CB-206659C3B826}">
  <ds:schemaRefs>
    <ds:schemaRef ds:uri="http://purl.org/dc/elements/1.1/"/>
    <ds:schemaRef ds:uri="230e9df3-be65-4c73-a93b-d1236ebd677e"/>
    <ds:schemaRef ds:uri="http://schemas.openxmlformats.org/package/2006/metadata/core-properties"/>
    <ds:schemaRef ds:uri="16c05727-aa75-4e4a-9b5f-8a80a1165891"/>
    <ds:schemaRef ds:uri="http://purl.org/dc/terms/"/>
    <ds:schemaRef ds:uri="http://schemas.microsoft.com/office/2006/documentManagement/types"/>
    <ds:schemaRef ds:uri="http://schemas.microsoft.com/office/2006/metadata/properties"/>
    <ds:schemaRef ds:uri="http://purl.org/dc/dcmitype/"/>
    <ds:schemaRef ds:uri="http://www.w3.org/XML/1998/namespace"/>
    <ds:schemaRef ds:uri="http://schemas.microsoft.com/office/infopath/2007/PartnerControls"/>
    <ds:schemaRef ds:uri="71af3243-3dd4-4a8d-8c0d-dd76da1f02a5"/>
    <ds:schemaRef ds:uri="http://schemas.microsoft.com/sharepoint/v3"/>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{8DC78D45-AE9F-491F-8A35-DF506CE9080C}TF8a9b5915-b8c7-461e-8cdd-693d48b5e32371f7b7e2_win32-4bf0b9a2ea37</Template>
  <TotalTime>1163</TotalTime>
  <Words>956</Words>
  <Application>Microsoft Office PowerPoint</Application>
  <PresentationFormat>Custom</PresentationFormat>
  <Paragraphs>129</Paragraphs>
  <Slides>20</Slides>
  <Notes>7</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Custom</vt:lpstr>
      <vt:lpstr>ORGANIZATION OF PROGRAMMING LANGUAGES</vt:lpstr>
      <vt:lpstr>Language Implementation in Programming</vt:lpstr>
      <vt:lpstr>     COMPONENTS AND CONCEPTS INVOLVED IN LANGUAGE IMPLEMENTATION.</vt:lpstr>
      <vt:lpstr>Compilers:</vt:lpstr>
      <vt:lpstr>Syntax and Semantics in Programming Languages</vt:lpstr>
      <vt:lpstr>Syntax: The Form of Code</vt:lpstr>
      <vt:lpstr>PowerPoint Presentation</vt:lpstr>
      <vt:lpstr>Keywords (and Reserved Words) </vt:lpstr>
      <vt:lpstr>Identifiers</vt:lpstr>
      <vt:lpstr> Operators </vt:lpstr>
      <vt:lpstr>PowerPoint Presentation</vt:lpstr>
      <vt:lpstr>Semantics: The Meaning of Code</vt:lpstr>
      <vt:lpstr>Semantics: The Meaning of Code</vt:lpstr>
      <vt:lpstr>How Meaning Changes by Construct </vt:lpstr>
      <vt:lpstr>PowerPoint Presentation</vt:lpstr>
      <vt:lpstr>PowerPoint Presentation</vt:lpstr>
      <vt:lpstr>PowerPoint Presentation</vt:lpstr>
      <vt:lpstr>2. Program errors</vt:lpstr>
      <vt:lpstr>Programming ERRORS   Definition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ORGANIZATION OF PROGRAMMING LANGUAGES</dc:title>
  <dc:creator>USER</dc:creator>
  <cp:lastModifiedBy>HP</cp:lastModifiedBy>
  <cp:revision>34</cp:revision>
  <dcterms:created xsi:type="dcterms:W3CDTF">2026-03-31T08:56:55Z</dcterms:created>
  <dcterms:modified xsi:type="dcterms:W3CDTF">2026-05-19T09:00:50Z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