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3"/>
  </p:notesMasterIdLst>
  <p:handoutMasterIdLst>
    <p:handoutMasterId r:id="rId24"/>
  </p:handoutMasterIdLst>
  <p:sldIdLst>
    <p:sldId id="312" r:id="rId5"/>
    <p:sldId id="325" r:id="rId6"/>
    <p:sldId id="326" r:id="rId7"/>
    <p:sldId id="327" r:id="rId8"/>
    <p:sldId id="328" r:id="rId9"/>
    <p:sldId id="323" r:id="rId10"/>
    <p:sldId id="324" r:id="rId11"/>
    <p:sldId id="329" r:id="rId12"/>
    <p:sldId id="330" r:id="rId13"/>
    <p:sldId id="332" r:id="rId14"/>
    <p:sldId id="331" r:id="rId15"/>
    <p:sldId id="333" r:id="rId16"/>
    <p:sldId id="334" r:id="rId17"/>
    <p:sldId id="335" r:id="rId18"/>
    <p:sldId id="336" r:id="rId19"/>
    <p:sldId id="337" r:id="rId20"/>
    <p:sldId id="338" r:id="rId21"/>
    <p:sldId id="297" r:id="rId2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816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3EEF-C7E1-5426-4DF1-7E5F4856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14E89-46A9-0928-4848-D009F9896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B0DC7-2F37-0434-7E27-A34554F21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2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7E09-A22C-0CCC-5BF2-761783D8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B09B5-83EA-A830-CB72-86242826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9B60B-2478-B142-0B12-D67D235D8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96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6AE8-4AEF-282A-F9AA-ACF6F994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BD27B-83A7-796B-8DA9-94825837D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42E9A-87F1-A114-0A13-B10B443C5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3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0A89-7771-3C8D-58DF-475F4FC2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9CDF9-4057-5990-C39D-41FB5B242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3D681-A824-0442-C2F9-2DF049EF4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77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FA2A-917C-6288-39EE-DDE51A4A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D021F-AFEF-A884-D32B-1ED70D52C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6E041-0568-252D-B92B-D6BD9E05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D3D0-DEEB-C757-954F-B04B5CDC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9777F-7B5A-60B2-4F11-C6F617BC9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5C435-00C2-05B5-6933-F67CFE14F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36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ED0E-65C7-0682-DC06-6A41188A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9C75B-C87A-907F-52CA-4BC916EE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3A33E-FE30-AEF0-EABE-555632B4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950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8175-6888-17EB-6324-922B4164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241FF-F2E5-0656-DD5E-1D315979B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47DB1-AD36-63EF-B149-D986147F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0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65FD-7C90-4171-39B6-FF79AC4A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EC8B7-6D76-2EB6-30CE-3D5DC17EE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1E320-28A8-C6E7-626B-C650264B7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4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E9F8-7436-03DF-C3A7-24ED3B46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6D3BF-0B53-5459-662E-5B3848AFA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CF371-DC6B-7FD3-E224-2BD652A2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07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C47F-1F08-E02F-6C35-8783E9F5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BE684-E4CE-F9B1-0C57-E65331C78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50F5F-7AF3-99FD-D8BD-F1B7E8AA1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701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2072-A0BA-9E84-E727-EA254C72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9405E-6F1B-BB04-778F-1DC3A1572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A818D-A096-855F-490C-A16FC7AC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54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B1D0-D2C5-7FC2-C7E0-4138A5D2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2E159-9D1A-D88A-8A74-31EEDC1F3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35F09-EF53-7D7F-30A2-6A30B6F95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36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324A5-F2CB-12A5-B745-88799871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0455B-D2B7-FE8B-0E23-8E530533A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CDFE0-BCA9-F199-B957-4200A1CA4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40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D390-F74C-25D8-BC53-38884DBB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E68A7-0A78-F49C-3922-3AF8366E4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5F88B-3AD1-873F-622D-410E05EB7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88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FF3C-13BE-F1BE-D5EB-3ED45958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0A7F7-57D3-72AC-A4C1-B9536E7F5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3DD8E-8A52-BF72-FCF6-7C51AC08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183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5932" y="247520"/>
            <a:ext cx="7060136" cy="3831221"/>
          </a:xfrm>
        </p:spPr>
        <p:txBody>
          <a:bodyPr anchor="ctr"/>
          <a:lstStyle/>
          <a:p>
            <a:r>
              <a:rPr lang="en-US" sz="3200" cap="none" dirty="0"/>
              <a:t>ORGANIZATION OF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6F68-2324-3A9D-CBD5-651C46F0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CDCA-6010-AEEE-5483-2776EFFF3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PROGRAMMING LANGUAGES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0B7F850-3DDD-EF52-9811-C927B56F5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66BCD-E025-B396-FD85-23B84773E976}"/>
              </a:ext>
            </a:extLst>
          </p:cNvPr>
          <p:cNvSpPr txBox="1"/>
          <p:nvPr/>
        </p:nvSpPr>
        <p:spPr>
          <a:xfrm>
            <a:off x="2813538" y="1344527"/>
            <a:ext cx="75448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Early Era (1940s–50s):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Machine Code (Binary) and Assembly.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Fortran (1957):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first high-level language (Scientific computing).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Structured Revolution (1960s–70s):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ALGOL 60: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block structure and recursion.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(1972):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programming powerhouse.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Object-Oriented Shift (1980s–90s):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and Java: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encapsulation and reusability.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Modern Era (2000s–Present):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Rust, Swift: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Emphasis on safety, concurrency, and developer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09603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53C0-8805-B294-E558-864F1B94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7C8B-3C83-C019-6D44-1D0F4084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-396265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PROGRAMMING LANGUAGES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4D09C0F-9DDE-FF8E-DD68-855E0AFE6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AE199-778E-D383-B62D-F6EEF29ABEFC}"/>
              </a:ext>
            </a:extLst>
          </p:cNvPr>
          <p:cNvSpPr txBox="1"/>
          <p:nvPr/>
        </p:nvSpPr>
        <p:spPr>
          <a:xfrm>
            <a:off x="2855740" y="597899"/>
            <a:ext cx="8145194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Analytical Machine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concept of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mechanical computer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Charles Babbage in the 1830s.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calculation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programmable instructions.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to hold numbers.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Mill: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Arithmetic operations.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Punch cards for input, printed output.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 for modern computing.</a:t>
            </a:r>
          </a:p>
        </p:txBody>
      </p:sp>
    </p:spTree>
    <p:extLst>
      <p:ext uri="{BB962C8B-B14F-4D97-AF65-F5344CB8AC3E}">
        <p14:creationId xmlns:p14="http://schemas.microsoft.com/office/powerpoint/2010/main" val="108836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C877-5D3B-EB71-EEAF-B496F8E2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31BD-DFB0-695D-535F-69D0F05B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PROGRAMMING LANGUAGES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75D695A-A755-6C03-C50B-99FF63A9C4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20A5C-267F-992F-9B03-7FF821A8B085}"/>
              </a:ext>
            </a:extLst>
          </p:cNvPr>
          <p:cNvSpPr txBox="1"/>
          <p:nvPr/>
        </p:nvSpPr>
        <p:spPr>
          <a:xfrm>
            <a:off x="2841673" y="1281727"/>
            <a:ext cx="8584353" cy="5227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/>
              <a:t>Ada Lovelace and the First Algorithm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Ada Lovelace:</a:t>
            </a:r>
            <a:r>
              <a:rPr lang="en-US" sz="2500" dirty="0"/>
              <a:t> Mathematician and collaborator of Babbage.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First Algorithm:</a:t>
            </a:r>
            <a:r>
              <a:rPr lang="en-US" sz="2500" dirty="0"/>
              <a:t> Designed to compute </a:t>
            </a:r>
            <a:r>
              <a:rPr lang="en-US" sz="2500" b="1" dirty="0"/>
              <a:t>Bernoulli numbers</a:t>
            </a:r>
            <a:r>
              <a:rPr lang="en-US" sz="2500" dirty="0"/>
              <a:t> on the Analytical Machine.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Key Features of Algorithm:</a:t>
            </a:r>
            <a:endParaRPr lang="en-US" sz="25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Sequential steps (instructions).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Loops (repeat operations).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Conditional operations (if-then logic).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Significance:</a:t>
            </a:r>
            <a:r>
              <a:rPr lang="en-US" sz="2500" dirty="0"/>
              <a:t> Considered the </a:t>
            </a:r>
            <a:r>
              <a:rPr lang="en-US" sz="2500" b="1" dirty="0"/>
              <a:t>first computer programmer</a:t>
            </a:r>
            <a:r>
              <a:rPr lang="en-US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0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1572-7306-B481-926F-815E59D7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18C8-3206-FD39-E3CB-130EB4BB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PROGRAMMING LANGUAGES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6F5E20-1C8B-547A-3FB3-EA6263613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E3B72-AC5B-B361-212B-DA64F04BE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630" y="1519311"/>
            <a:ext cx="6228838" cy="3291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4189F7-03B0-C33A-AC2C-2AE73201B8B1}"/>
              </a:ext>
            </a:extLst>
          </p:cNvPr>
          <p:cNvSpPr txBox="1"/>
          <p:nvPr/>
        </p:nvSpPr>
        <p:spPr>
          <a:xfrm>
            <a:off x="3713870" y="5085074"/>
            <a:ext cx="6105378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through Bernoulli numbers.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mathematical formula using previously calculated numbers.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Mimics step-by-step execution of the Analytical Machine.</a:t>
            </a:r>
          </a:p>
        </p:txBody>
      </p:sp>
    </p:spTree>
    <p:extLst>
      <p:ext uri="{BB962C8B-B14F-4D97-AF65-F5344CB8AC3E}">
        <p14:creationId xmlns:p14="http://schemas.microsoft.com/office/powerpoint/2010/main" val="211407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3975-4E66-20C6-9F68-05E3AC524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E0CB-464F-A74A-7CB8-B6DCBDEB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Definition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B0C596D-3B1B-A31A-58E6-733D56A50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D205C-54F0-DFE3-5E10-37B3603CDBA2}"/>
              </a:ext>
            </a:extLst>
          </p:cNvPr>
          <p:cNvSpPr txBox="1"/>
          <p:nvPr/>
        </p:nvSpPr>
        <p:spPr>
          <a:xfrm>
            <a:off x="2813538" y="1344527"/>
            <a:ext cx="75448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programming language is defined by two primary components: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formal rules governing the structure of the code (The "grammar").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defined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BNF (Backus-Naur Form)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 meaning or behavior of the code when executed.</a:t>
            </a:r>
          </a:p>
          <a:p>
            <a:pPr lvl="1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5 is syntactically a variable assignment; semantically, it allocates memory and stores a value.</a:t>
            </a:r>
          </a:p>
        </p:txBody>
      </p:sp>
    </p:spTree>
    <p:extLst>
      <p:ext uri="{BB962C8B-B14F-4D97-AF65-F5344CB8AC3E}">
        <p14:creationId xmlns:p14="http://schemas.microsoft.com/office/powerpoint/2010/main" val="80423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25BE-07E5-AFB6-A8C1-A5FAA4AC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897B-40E6-B090-82EE-389FFD50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Data Types and Structures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B5193A2-30B6-908E-9D11-9CAFF1F98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760A6-B4DC-A9DE-F654-3F149D493A8F}"/>
              </a:ext>
            </a:extLst>
          </p:cNvPr>
          <p:cNvSpPr txBox="1"/>
          <p:nvPr/>
        </p:nvSpPr>
        <p:spPr>
          <a:xfrm>
            <a:off x="3038621" y="1118777"/>
            <a:ext cx="73198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Definition:</a:t>
            </a:r>
            <a:r>
              <a:rPr lang="en-US" sz="2400" dirty="0"/>
              <a:t> A data type is a collection of values and a set of predefined operations on those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Why they matter:</a:t>
            </a:r>
            <a:r>
              <a:rPr lang="en-US" sz="2400" dirty="0"/>
              <a:t> * Provide context for the compiler (memory allocation).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Enhance readability and error detection (Type checking).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Classification: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Primitive:</a:t>
            </a:r>
            <a:r>
              <a:rPr lang="en-US" sz="2400" dirty="0"/>
              <a:t> Built-in types.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Composite/User-defined:</a:t>
            </a:r>
            <a:r>
              <a:rPr lang="en-US" sz="2400" dirty="0"/>
              <a:t> Built from primitives (Arrays, Records).</a:t>
            </a:r>
          </a:p>
        </p:txBody>
      </p:sp>
    </p:spTree>
    <p:extLst>
      <p:ext uri="{BB962C8B-B14F-4D97-AF65-F5344CB8AC3E}">
        <p14:creationId xmlns:p14="http://schemas.microsoft.com/office/powerpoint/2010/main" val="279799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0D65-3F77-EF83-5275-19ABCD86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7128-1726-7A91-9CE1-53B6A418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06A8DD9-8A30-363E-8627-92F3DE239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217084-ED50-810D-B8B1-ECCCC3CC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252" y="1154807"/>
            <a:ext cx="9228406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paradigms are different styles of programming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paradigm provides a unique way to solve problems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languages support multiple paradigms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define how programs are structured and organized </a:t>
            </a:r>
          </a:p>
        </p:txBody>
      </p:sp>
    </p:spTree>
    <p:extLst>
      <p:ext uri="{BB962C8B-B14F-4D97-AF65-F5344CB8AC3E}">
        <p14:creationId xmlns:p14="http://schemas.microsoft.com/office/powerpoint/2010/main" val="81750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58E3-65FB-785B-86A2-9FC3CC0F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9B6B-27DC-D24D-E53C-ED99EFFF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4A0D52-2542-2E61-F411-82CC45F0F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7CD12A0-A208-7E0E-58D5-B6CA143F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591" y="1118777"/>
            <a:ext cx="9228406" cy="5473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Imperative Programming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Programming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Programming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Programming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Programming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6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1026-C945-25E4-235D-E44C557D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1365-2563-D5DE-BA3E-EB4FD71E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Procedural Programming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E37DDC7-D4F6-16CB-700A-136B54F6F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783F949-4A4B-8819-AE5C-1096F8B59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27" y="1261274"/>
            <a:ext cx="9228406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subtype of imperative programming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code into functions or procedures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code reuse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languages: C, Pascal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855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A2E-903A-594A-0C5F-26476351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3EBC-0752-A1C1-5EEA-6C90495D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Object-Oriented Programming (OOP)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2084594-B801-3E29-582D-A1D5F3EE7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0F9721-11F9-1A08-D969-A33E688F5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846" y="1261274"/>
            <a:ext cx="9228406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objects and classes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Concepts: Encapsulation, Inheritance, Polymorphism, Abstraction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 real-world systems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languages: Java, C++, C#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27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397C-DE10-A77F-6A50-E43D72C8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027B-FA90-911F-B233-748A560D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Functional Programming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FA20D9F-FBAC-9421-6B94-A050F62A9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541B153-2F2C-92B3-6417-20F702796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862" y="1118777"/>
            <a:ext cx="901739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functions and mathematical operations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changing state (immutability)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side effects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languages: Haskell, Lisp, Scala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83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2F04-CD27-0C39-F77A-00ABA126F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0B1F-0E7C-8D58-BD88-B9E8A1FE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Declarative Programming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7FE00B7-F3D7-BB28-8A2A-754A4802E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778A14-DED5-06EA-F7B7-35987EE01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862" y="1118777"/>
            <a:ext cx="901739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what to solve, not how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desired results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control flow details</a:t>
            </a:r>
          </a:p>
          <a:p>
            <a:pPr marL="342900" lvl="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SQL, HTML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609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6E8C-A806-BB82-3EA3-03719E58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64CB-E67E-F34D-4D9E-66849DA7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LOGIC Programming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50A2C8C-FC45-3190-236E-5A9EA0E35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DD059A-4010-9138-5601-CEE7119BC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930" y="1261274"/>
            <a:ext cx="90173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Based on formal logic </a:t>
            </a:r>
          </a:p>
          <a:p>
            <a:r>
              <a:rPr lang="en-US" sz="2400" dirty="0"/>
              <a:t>Uses rules and facts </a:t>
            </a:r>
          </a:p>
          <a:p>
            <a:r>
              <a:rPr lang="en-US" sz="2400" dirty="0"/>
              <a:t>Program executes queries using inference </a:t>
            </a:r>
          </a:p>
          <a:p>
            <a:r>
              <a:rPr lang="en-US" sz="2400" dirty="0"/>
              <a:t>Example language: Prolog </a:t>
            </a:r>
          </a:p>
          <a:p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4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AA5C-A25A-63F5-E309-A7D6EDC1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565E-D3F9-E217-976A-3E5E1676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/>
              <a:t>Comparison of Paradigms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4D67EB9-A05C-9941-74AA-240FA2B5E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B02AA5-59DF-C38A-DB31-C3D524FC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931" y="1261274"/>
            <a:ext cx="90173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Imperative → Step-by-step instructions</a:t>
            </a:r>
          </a:p>
          <a:p>
            <a:r>
              <a:rPr lang="en-US" sz="2400" dirty="0"/>
              <a:t>OOP → Object-based structure</a:t>
            </a:r>
          </a:p>
          <a:p>
            <a:r>
              <a:rPr lang="en-US" sz="2400" dirty="0"/>
              <a:t>Functional → Function-based computation</a:t>
            </a:r>
          </a:p>
          <a:p>
            <a:r>
              <a:rPr lang="en-US" sz="2400" dirty="0"/>
              <a:t>Declarative → Result-focused approach</a:t>
            </a:r>
          </a:p>
          <a:p>
            <a:r>
              <a:rPr lang="en-US" sz="2400" dirty="0"/>
              <a:t>Logic → Rule-based reasoning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02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6A550-8D25-F324-9C9A-F99FAE86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5F45-44EC-C1D1-7FAB-565DB352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FF3D3A7-16FD-98E9-2AE8-753A9E569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04621C-4C49-3510-EE81-463882C3A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931" y="1445940"/>
            <a:ext cx="90173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Better problem-solving flexibility</a:t>
            </a:r>
          </a:p>
          <a:p>
            <a:r>
              <a:rPr lang="en-US" sz="2400" dirty="0"/>
              <a:t>Improved code organization</a:t>
            </a:r>
          </a:p>
          <a:p>
            <a:r>
              <a:rPr lang="en-US" sz="2400" dirty="0"/>
              <a:t>Easier debugging and maintenance</a:t>
            </a:r>
          </a:p>
          <a:p>
            <a:r>
              <a:rPr lang="en-US" sz="2400" dirty="0"/>
              <a:t>Suitable paradigms for different problems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EB38-591B-D02B-6677-ECAB45E2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1139-796A-554F-B363-279FF464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2" y="124613"/>
            <a:ext cx="9519137" cy="9941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0182500-1B75-AF3F-DCDA-EE6CB7A74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F0445C-ECA1-85C8-FC53-F4ACB50BD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99" y="1261274"/>
            <a:ext cx="9017390" cy="294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Programming paradigms shape how software is designed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single best paradigm exists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Many modern languages are multi-paradigm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Choosing the right paradigm improves efficiency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67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{8DC78D45-AE9F-491F-8A35-DF506CE9080C}TF8a9b5915-b8c7-461e-8cdd-693d48b5e32371f7b7e2_win32-4bf0b9a2ea37</Template>
  <TotalTime>42</TotalTime>
  <Words>656</Words>
  <Application>Microsoft Office PowerPoint</Application>
  <PresentationFormat>Widescreen</PresentationFormat>
  <Paragraphs>117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ORGANIZATION OF PROGRAMMING LANGUAGES</vt:lpstr>
      <vt:lpstr>HISTORY OF PROGRAMMING LANGUAGES</vt:lpstr>
      <vt:lpstr>HISTORY OF PROGRAMMING LANGUAGES</vt:lpstr>
      <vt:lpstr>HISTORY OF PROGRAMMING LANGUAGES</vt:lpstr>
      <vt:lpstr>HISTORY OF PROGRAMMING LANGUAGES</vt:lpstr>
      <vt:lpstr>Programming Language Definition</vt:lpstr>
      <vt:lpstr>Data Types and Structures</vt:lpstr>
      <vt:lpstr>Programming paradigm</vt:lpstr>
      <vt:lpstr>Programming paradigm</vt:lpstr>
      <vt:lpstr>Procedural Programming</vt:lpstr>
      <vt:lpstr>Object-Oriented Programming (OOP)</vt:lpstr>
      <vt:lpstr>Functional Programming</vt:lpstr>
      <vt:lpstr>Declarative Programming</vt:lpstr>
      <vt:lpstr>LOGIC Programming</vt:lpstr>
      <vt:lpstr>Comparison of Paradigms</vt:lpstr>
      <vt:lpstr>ADVANTAGES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16</cp:revision>
  <dcterms:created xsi:type="dcterms:W3CDTF">2026-03-31T08:56:55Z</dcterms:created>
  <dcterms:modified xsi:type="dcterms:W3CDTF">2026-04-21T07:53:38Z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