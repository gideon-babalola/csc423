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21"/>
  </p:notesMasterIdLst>
  <p:sldIdLst>
    <p:sldId id="351" r:id="rId4"/>
    <p:sldId id="347" r:id="rId5"/>
    <p:sldId id="299" r:id="rId6"/>
    <p:sldId id="352" r:id="rId7"/>
    <p:sldId id="353" r:id="rId8"/>
    <p:sldId id="354" r:id="rId9"/>
    <p:sldId id="355" r:id="rId10"/>
    <p:sldId id="356" r:id="rId11"/>
    <p:sldId id="357" r:id="rId12"/>
    <p:sldId id="358" r:id="rId13"/>
    <p:sldId id="359" r:id="rId14"/>
    <p:sldId id="360" r:id="rId15"/>
    <p:sldId id="361" r:id="rId16"/>
    <p:sldId id="362" r:id="rId17"/>
    <p:sldId id="363" r:id="rId18"/>
    <p:sldId id="364" r:id="rId19"/>
    <p:sldId id="34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34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336" y="57"/>
      </p:cViewPr>
      <p:guideLst>
        <p:guide orient="horz" pos="2184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B806C15-1496-46D2-B3C6-16D71EE0125A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7928059" y="1508525"/>
            <a:ext cx="2682602" cy="26460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A0F0AD6D-5D00-45BC-9C90-6A047D29B883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1581339" y="1508525"/>
            <a:ext cx="2682602" cy="26460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E8428A6-285B-4019-9FA9-2D7EBEA49457}"/>
              </a:ext>
            </a:extLst>
          </p:cNvPr>
          <p:cNvSpPr>
            <a:spLocks noGrp="1"/>
          </p:cNvSpPr>
          <p:nvPr>
            <p:ph type="pic" idx="22" hasCustomPrompt="1"/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FDE46E4F-7CF6-47A8-B393-17170FD3D9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E9E5E1F-71F0-4FB3-B475-BE3907B9334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 rot="20708979">
            <a:off x="1271196" y="1756316"/>
            <a:ext cx="1811352" cy="28411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E8C983F-B9B3-4B14-8478-59240E9117C4}"/>
              </a:ext>
            </a:extLst>
          </p:cNvPr>
          <p:cNvSpPr/>
          <p:nvPr userDrawn="1"/>
        </p:nvSpPr>
        <p:spPr>
          <a:xfrm>
            <a:off x="-308740" y="5409449"/>
            <a:ext cx="4835532" cy="4898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F03F6ED-2418-4389-8234-1F17162721CF}"/>
              </a:ext>
            </a:extLst>
          </p:cNvPr>
          <p:cNvSpPr/>
          <p:nvPr userDrawn="1"/>
        </p:nvSpPr>
        <p:spPr>
          <a:xfrm>
            <a:off x="7495354" y="5436248"/>
            <a:ext cx="4835532" cy="48981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14362B2-986B-466B-BFBC-6D0F4F8E8A9A}"/>
              </a:ext>
            </a:extLst>
          </p:cNvPr>
          <p:cNvSpPr/>
          <p:nvPr userDrawn="1"/>
        </p:nvSpPr>
        <p:spPr>
          <a:xfrm>
            <a:off x="3555988" y="5940103"/>
            <a:ext cx="5080024" cy="51458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14" name="Graphic 14">
            <a:extLst>
              <a:ext uri="{FF2B5EF4-FFF2-40B4-BE49-F238E27FC236}">
                <a16:creationId xmlns:a16="http://schemas.microsoft.com/office/drawing/2014/main" id="{12188735-4571-42C2-BFBC-F562BCDBD4C2}"/>
              </a:ext>
            </a:extLst>
          </p:cNvPr>
          <p:cNvGrpSpPr/>
          <p:nvPr userDrawn="1"/>
        </p:nvGrpSpPr>
        <p:grpSpPr>
          <a:xfrm>
            <a:off x="651992" y="3101276"/>
            <a:ext cx="3145888" cy="2539116"/>
            <a:chOff x="2444748" y="555045"/>
            <a:chExt cx="7282048" cy="572745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5B3EF12-A43C-4C42-A1C7-5CEC843743B9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BFEC24A-A698-46A9-A9FD-90B34A50AD87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6ED1278-AAC4-4D3F-AAE8-752FBC71EBD1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00A721-C688-4F1C-846E-8EA137C2C11E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5AB4A1E-717F-4A1F-8484-828EE9674218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2EDAAA8-9B4B-42D5-82CC-FD8A83AB64B8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5076DBE-BE71-4C36-B867-9D581C6C0070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E4E1E01-9179-4BCB-B09E-836E6F5D7AB4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3" name="Graphic 14">
            <a:extLst>
              <a:ext uri="{FF2B5EF4-FFF2-40B4-BE49-F238E27FC236}">
                <a16:creationId xmlns:a16="http://schemas.microsoft.com/office/drawing/2014/main" id="{03D89269-45F2-4A00-BA73-CDE7C5E0B6C3}"/>
              </a:ext>
            </a:extLst>
          </p:cNvPr>
          <p:cNvGrpSpPr/>
          <p:nvPr userDrawn="1"/>
        </p:nvGrpSpPr>
        <p:grpSpPr>
          <a:xfrm>
            <a:off x="8448203" y="3101276"/>
            <a:ext cx="3145888" cy="2539116"/>
            <a:chOff x="2444748" y="555045"/>
            <a:chExt cx="7282048" cy="5727454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11B8DD0-F6F4-4A4C-9607-81FFDB331BD9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CD814D6-EA5E-4F1A-918A-DCCE9AA27056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1056A2-1593-4B4D-B366-28CA93471A51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70A458D-0CF8-4D09-84B9-42862283A2CC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FAD23A2-2040-4932-8D93-400C02A8E8F6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50255F2-579E-4127-A4CD-D22E868C2A6D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605C148-0D2E-4053-B6BE-BF41FD09CD36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8C1AC91-7889-4740-8CD9-6B8FD4831F40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3" name="그림 개체 틀 2">
            <a:extLst>
              <a:ext uri="{FF2B5EF4-FFF2-40B4-BE49-F238E27FC236}">
                <a16:creationId xmlns:a16="http://schemas.microsoft.com/office/drawing/2014/main" id="{10FBF375-44DE-4AF7-BBAB-F31C01DF8BF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85571" y="3248004"/>
            <a:ext cx="2881426" cy="17168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4" name="그림 개체 틀 2">
            <a:extLst>
              <a:ext uri="{FF2B5EF4-FFF2-40B4-BE49-F238E27FC236}">
                <a16:creationId xmlns:a16="http://schemas.microsoft.com/office/drawing/2014/main" id="{A3C72522-24A8-4643-B384-3B38B1CF109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580435" y="3248004"/>
            <a:ext cx="2881426" cy="17168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5" name="Graphic 14">
            <a:extLst>
              <a:ext uri="{FF2B5EF4-FFF2-40B4-BE49-F238E27FC236}">
                <a16:creationId xmlns:a16="http://schemas.microsoft.com/office/drawing/2014/main" id="{96D25FA7-49DA-49BF-8DA5-3BD079D973CB}"/>
              </a:ext>
            </a:extLst>
          </p:cNvPr>
          <p:cNvGrpSpPr/>
          <p:nvPr userDrawn="1"/>
        </p:nvGrpSpPr>
        <p:grpSpPr>
          <a:xfrm>
            <a:off x="3636460" y="2199679"/>
            <a:ext cx="4974788" cy="4015262"/>
            <a:chOff x="2444748" y="555045"/>
            <a:chExt cx="7282048" cy="5727454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F315F39-2FAC-4FD9-9CD3-3A26A160BBFB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32DD351-C802-4FB7-A3FB-6D9D628FD3DD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EE04FA9-DA25-47C2-8FE7-52F824AAD573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E344A55-1F80-4651-8A8D-16A064418085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D22142E-8676-40C1-A728-6FC82196179A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6C51FB6-13BA-4CC3-BDF7-32959A5B17EC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1DD32C5-0449-4E79-A9E8-36CEB2A675C0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6F913E-32C0-4C35-8046-52451C5D5F62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2" name="그림 개체 틀 2">
            <a:extLst>
              <a:ext uri="{FF2B5EF4-FFF2-40B4-BE49-F238E27FC236}">
                <a16:creationId xmlns:a16="http://schemas.microsoft.com/office/drawing/2014/main" id="{619CA950-4E1C-4BD9-B2E1-BE7A8251550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770754" y="2388883"/>
            <a:ext cx="4701092" cy="27401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215CF0EF-0DB2-4A53-B37A-64A5491C9B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9F953EB-1FCA-4A8F-B0DE-144F57381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517143" y="2"/>
            <a:ext cx="6674856" cy="6857999"/>
          </a:xfrm>
          <a:custGeom>
            <a:avLst/>
            <a:gdLst>
              <a:gd name="connsiteX0" fmla="*/ 5395694 w 6674856"/>
              <a:gd name="connsiteY0" fmla="*/ 387 h 6857999"/>
              <a:gd name="connsiteX1" fmla="*/ 5516631 w 6674856"/>
              <a:gd name="connsiteY1" fmla="*/ 3876 h 6857999"/>
              <a:gd name="connsiteX2" fmla="*/ 5746101 w 6674856"/>
              <a:gd name="connsiteY2" fmla="*/ 189930 h 6857999"/>
              <a:gd name="connsiteX3" fmla="*/ 5972471 w 6674856"/>
              <a:gd name="connsiteY3" fmla="*/ 983778 h 6857999"/>
              <a:gd name="connsiteX4" fmla="*/ 6549259 w 6674856"/>
              <a:gd name="connsiteY4" fmla="*/ 1309382 h 6857999"/>
              <a:gd name="connsiteX5" fmla="*/ 6659725 w 6674856"/>
              <a:gd name="connsiteY5" fmla="*/ 1248526 h 6857999"/>
              <a:gd name="connsiteX6" fmla="*/ 6674856 w 6674856"/>
              <a:gd name="connsiteY6" fmla="*/ 1231170 h 6857999"/>
              <a:gd name="connsiteX7" fmla="*/ 6674856 w 6674856"/>
              <a:gd name="connsiteY7" fmla="*/ 4649495 h 6857999"/>
              <a:gd name="connsiteX8" fmla="*/ 6604594 w 6674856"/>
              <a:gd name="connsiteY8" fmla="*/ 4593931 h 6857999"/>
              <a:gd name="connsiteX9" fmla="*/ 5761607 w 6674856"/>
              <a:gd name="connsiteY9" fmla="*/ 4332831 h 6857999"/>
              <a:gd name="connsiteX10" fmla="*/ 4328955 w 6674856"/>
              <a:gd name="connsiteY10" fmla="*/ 5765482 h 6857999"/>
              <a:gd name="connsiteX11" fmla="*/ 4747976 w 6674856"/>
              <a:gd name="connsiteY11" fmla="*/ 6791903 h 6857999"/>
              <a:gd name="connsiteX12" fmla="*/ 4821819 w 6674856"/>
              <a:gd name="connsiteY12" fmla="*/ 6857999 h 6857999"/>
              <a:gd name="connsiteX13" fmla="*/ 1401800 w 6674856"/>
              <a:gd name="connsiteY13" fmla="*/ 6857999 h 6857999"/>
              <a:gd name="connsiteX14" fmla="*/ 1375865 w 6674856"/>
              <a:gd name="connsiteY14" fmla="*/ 6806099 h 6857999"/>
              <a:gd name="connsiteX15" fmla="*/ 1091542 w 6674856"/>
              <a:gd name="connsiteY15" fmla="*/ 6639953 h 6857999"/>
              <a:gd name="connsiteX16" fmla="*/ 313201 w 6674856"/>
              <a:gd name="connsiteY16" fmla="*/ 6534521 h 6857999"/>
              <a:gd name="connsiteX17" fmla="*/ 6202 w 6674856"/>
              <a:gd name="connsiteY17" fmla="*/ 6317456 h 6857999"/>
              <a:gd name="connsiteX18" fmla="*/ 0 w 6674856"/>
              <a:gd name="connsiteY18" fmla="*/ 5932936 h 6857999"/>
              <a:gd name="connsiteX19" fmla="*/ 226376 w 6674856"/>
              <a:gd name="connsiteY19" fmla="*/ 5768578 h 6857999"/>
              <a:gd name="connsiteX20" fmla="*/ 1020223 w 6674856"/>
              <a:gd name="connsiteY20" fmla="*/ 5545310 h 6857999"/>
              <a:gd name="connsiteX21" fmla="*/ 1293108 w 6674856"/>
              <a:gd name="connsiteY21" fmla="*/ 5241413 h 6857999"/>
              <a:gd name="connsiteX22" fmla="*/ 1308614 w 6674856"/>
              <a:gd name="connsiteY22" fmla="*/ 5111173 h 6857999"/>
              <a:gd name="connsiteX23" fmla="*/ 1138059 w 6674856"/>
              <a:gd name="connsiteY23" fmla="*/ 4794878 h 6857999"/>
              <a:gd name="connsiteX24" fmla="*/ 418632 w 6674856"/>
              <a:gd name="connsiteY24" fmla="*/ 4373145 h 6857999"/>
              <a:gd name="connsiteX25" fmla="*/ 263583 w 6674856"/>
              <a:gd name="connsiteY25" fmla="*/ 3994828 h 6857999"/>
              <a:gd name="connsiteX26" fmla="*/ 279088 w 6674856"/>
              <a:gd name="connsiteY26" fmla="*/ 3942109 h 6857999"/>
              <a:gd name="connsiteX27" fmla="*/ 688416 w 6674856"/>
              <a:gd name="connsiteY27" fmla="*/ 3659920 h 6857999"/>
              <a:gd name="connsiteX28" fmla="*/ 1451260 w 6674856"/>
              <a:gd name="connsiteY28" fmla="*/ 3746745 h 6857999"/>
              <a:gd name="connsiteX29" fmla="*/ 1841981 w 6674856"/>
              <a:gd name="connsiteY29" fmla="*/ 3566893 h 6857999"/>
              <a:gd name="connsiteX30" fmla="*/ 1810969 w 6674856"/>
              <a:gd name="connsiteY30" fmla="*/ 3036627 h 6857999"/>
              <a:gd name="connsiteX31" fmla="*/ 1336519 w 6674856"/>
              <a:gd name="connsiteY31" fmla="*/ 2407127 h 6857999"/>
              <a:gd name="connsiteX32" fmla="*/ 1336519 w 6674856"/>
              <a:gd name="connsiteY32" fmla="*/ 2056719 h 6857999"/>
              <a:gd name="connsiteX33" fmla="*/ 1491567 w 6674856"/>
              <a:gd name="connsiteY33" fmla="*/ 1883063 h 6857999"/>
              <a:gd name="connsiteX34" fmla="*/ 1823374 w 6674856"/>
              <a:gd name="connsiteY34" fmla="*/ 1845850 h 6857999"/>
              <a:gd name="connsiteX35" fmla="*/ 2527296 w 6674856"/>
              <a:gd name="connsiteY35" fmla="*/ 2242774 h 6857999"/>
              <a:gd name="connsiteX36" fmla="*/ 3156790 w 6674856"/>
              <a:gd name="connsiteY36" fmla="*/ 2066022 h 6857999"/>
              <a:gd name="connsiteX37" fmla="*/ 3172296 w 6674856"/>
              <a:gd name="connsiteY37" fmla="*/ 1793137 h 6857999"/>
              <a:gd name="connsiteX38" fmla="*/ 2967635 w 6674856"/>
              <a:gd name="connsiteY38" fmla="*/ 1002384 h 6857999"/>
              <a:gd name="connsiteX39" fmla="*/ 3116476 w 6674856"/>
              <a:gd name="connsiteY39" fmla="*/ 636472 h 6857999"/>
              <a:gd name="connsiteX40" fmla="*/ 3231217 w 6674856"/>
              <a:gd name="connsiteY40" fmla="*/ 574455 h 6857999"/>
              <a:gd name="connsiteX41" fmla="*/ 3659146 w 6674856"/>
              <a:gd name="connsiteY41" fmla="*/ 679887 h 6857999"/>
              <a:gd name="connsiteX42" fmla="*/ 4152204 w 6674856"/>
              <a:gd name="connsiteY42" fmla="*/ 1306281 h 6857999"/>
              <a:gd name="connsiteX43" fmla="*/ 4825115 w 6674856"/>
              <a:gd name="connsiteY43" fmla="*/ 1303180 h 6857999"/>
              <a:gd name="connsiteX44" fmla="*/ 4905743 w 6674856"/>
              <a:gd name="connsiteY44" fmla="*/ 1017890 h 6857999"/>
              <a:gd name="connsiteX45" fmla="*/ 5004973 w 6674856"/>
              <a:gd name="connsiteY45" fmla="*/ 292267 h 6857999"/>
              <a:gd name="connsiteX46" fmla="*/ 5274751 w 6674856"/>
              <a:gd name="connsiteY46" fmla="*/ 13179 h 6857999"/>
              <a:gd name="connsiteX47" fmla="*/ 5395694 w 6674856"/>
              <a:gd name="connsiteY47" fmla="*/ 387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674856" h="6857999">
                <a:moveTo>
                  <a:pt x="5395694" y="387"/>
                </a:moveTo>
                <a:cubicBezTo>
                  <a:pt x="5436007" y="-776"/>
                  <a:pt x="5476320" y="775"/>
                  <a:pt x="5516631" y="3876"/>
                </a:cubicBezTo>
                <a:cubicBezTo>
                  <a:pt x="5634468" y="10078"/>
                  <a:pt x="5715097" y="72094"/>
                  <a:pt x="5746101" y="189930"/>
                </a:cubicBezTo>
                <a:cubicBezTo>
                  <a:pt x="5820529" y="453512"/>
                  <a:pt x="5898050" y="720196"/>
                  <a:pt x="5972471" y="983778"/>
                </a:cubicBezTo>
                <a:cubicBezTo>
                  <a:pt x="6049999" y="1253568"/>
                  <a:pt x="6273266" y="1380708"/>
                  <a:pt x="6549259" y="1309382"/>
                </a:cubicBezTo>
                <a:cubicBezTo>
                  <a:pt x="6594219" y="1298528"/>
                  <a:pt x="6629879" y="1276822"/>
                  <a:pt x="6659725" y="1248526"/>
                </a:cubicBezTo>
                <a:lnTo>
                  <a:pt x="6674856" y="1231170"/>
                </a:lnTo>
                <a:lnTo>
                  <a:pt x="6674856" y="4649495"/>
                </a:lnTo>
                <a:lnTo>
                  <a:pt x="6604594" y="4593931"/>
                </a:lnTo>
                <a:cubicBezTo>
                  <a:pt x="6375601" y="4430802"/>
                  <a:pt x="6089536" y="4331668"/>
                  <a:pt x="5761607" y="4332831"/>
                </a:cubicBezTo>
                <a:cubicBezTo>
                  <a:pt x="4952254" y="4335932"/>
                  <a:pt x="4332063" y="4953028"/>
                  <a:pt x="4328955" y="5765482"/>
                </a:cubicBezTo>
                <a:cubicBezTo>
                  <a:pt x="4327405" y="6177912"/>
                  <a:pt x="4488656" y="6536073"/>
                  <a:pt x="4747976" y="6791903"/>
                </a:cubicBezTo>
                <a:lnTo>
                  <a:pt x="4821819" y="6857999"/>
                </a:lnTo>
                <a:lnTo>
                  <a:pt x="1401800" y="6857999"/>
                </a:lnTo>
                <a:lnTo>
                  <a:pt x="1375865" y="6806099"/>
                </a:lnTo>
                <a:cubicBezTo>
                  <a:pt x="1317721" y="6707984"/>
                  <a:pt x="1226436" y="6653908"/>
                  <a:pt x="1091542" y="6639953"/>
                </a:cubicBezTo>
                <a:cubicBezTo>
                  <a:pt x="831062" y="6612043"/>
                  <a:pt x="573681" y="6562431"/>
                  <a:pt x="313201" y="6534521"/>
                </a:cubicBezTo>
                <a:cubicBezTo>
                  <a:pt x="164353" y="6519016"/>
                  <a:pt x="58922" y="6460101"/>
                  <a:pt x="6202" y="6317456"/>
                </a:cubicBezTo>
                <a:cubicBezTo>
                  <a:pt x="0" y="6184114"/>
                  <a:pt x="0" y="6060070"/>
                  <a:pt x="0" y="5932936"/>
                </a:cubicBezTo>
                <a:cubicBezTo>
                  <a:pt x="49618" y="5839903"/>
                  <a:pt x="127140" y="5793392"/>
                  <a:pt x="226376" y="5768578"/>
                </a:cubicBezTo>
                <a:cubicBezTo>
                  <a:pt x="493059" y="5697258"/>
                  <a:pt x="753540" y="5616636"/>
                  <a:pt x="1020223" y="5545310"/>
                </a:cubicBezTo>
                <a:cubicBezTo>
                  <a:pt x="1181468" y="5501900"/>
                  <a:pt x="1277603" y="5411968"/>
                  <a:pt x="1293108" y="5241413"/>
                </a:cubicBezTo>
                <a:cubicBezTo>
                  <a:pt x="1296209" y="5198004"/>
                  <a:pt x="1302406" y="5154588"/>
                  <a:pt x="1308614" y="5111173"/>
                </a:cubicBezTo>
                <a:cubicBezTo>
                  <a:pt x="1324120" y="4965433"/>
                  <a:pt x="1258997" y="4866197"/>
                  <a:pt x="1138059" y="4794878"/>
                </a:cubicBezTo>
                <a:cubicBezTo>
                  <a:pt x="896185" y="4655334"/>
                  <a:pt x="657411" y="4512689"/>
                  <a:pt x="418632" y="4373145"/>
                </a:cubicBezTo>
                <a:cubicBezTo>
                  <a:pt x="241875" y="4270808"/>
                  <a:pt x="210870" y="4193287"/>
                  <a:pt x="263583" y="3994828"/>
                </a:cubicBezTo>
                <a:cubicBezTo>
                  <a:pt x="269785" y="3976221"/>
                  <a:pt x="272886" y="3957614"/>
                  <a:pt x="279088" y="3942109"/>
                </a:cubicBezTo>
                <a:cubicBezTo>
                  <a:pt x="356610" y="3684729"/>
                  <a:pt x="424835" y="3635111"/>
                  <a:pt x="688416" y="3659920"/>
                </a:cubicBezTo>
                <a:cubicBezTo>
                  <a:pt x="942696" y="3684729"/>
                  <a:pt x="1196975" y="3712639"/>
                  <a:pt x="1451260" y="3746745"/>
                </a:cubicBezTo>
                <a:cubicBezTo>
                  <a:pt x="1652820" y="3771554"/>
                  <a:pt x="1739645" y="3737442"/>
                  <a:pt x="1841981" y="3566893"/>
                </a:cubicBezTo>
                <a:cubicBezTo>
                  <a:pt x="1987721" y="3331214"/>
                  <a:pt x="1981525" y="3256794"/>
                  <a:pt x="1810969" y="3036627"/>
                </a:cubicBezTo>
                <a:cubicBezTo>
                  <a:pt x="1649718" y="2828859"/>
                  <a:pt x="1491567" y="2617996"/>
                  <a:pt x="1336519" y="2407127"/>
                </a:cubicBezTo>
                <a:cubicBezTo>
                  <a:pt x="1243491" y="2283088"/>
                  <a:pt x="1243491" y="2180758"/>
                  <a:pt x="1336519" y="2056719"/>
                </a:cubicBezTo>
                <a:cubicBezTo>
                  <a:pt x="1383035" y="1994697"/>
                  <a:pt x="1432652" y="1932681"/>
                  <a:pt x="1491567" y="1883063"/>
                </a:cubicBezTo>
                <a:cubicBezTo>
                  <a:pt x="1609403" y="1783834"/>
                  <a:pt x="1690033" y="1771429"/>
                  <a:pt x="1823374" y="1845850"/>
                </a:cubicBezTo>
                <a:cubicBezTo>
                  <a:pt x="2059046" y="1976090"/>
                  <a:pt x="2300927" y="2097028"/>
                  <a:pt x="2527296" y="2242774"/>
                </a:cubicBezTo>
                <a:cubicBezTo>
                  <a:pt x="2787777" y="2410228"/>
                  <a:pt x="2967635" y="2298594"/>
                  <a:pt x="3156790" y="2066022"/>
                </a:cubicBezTo>
                <a:cubicBezTo>
                  <a:pt x="3218813" y="1988495"/>
                  <a:pt x="3197105" y="1886164"/>
                  <a:pt x="3172296" y="1793137"/>
                </a:cubicBezTo>
                <a:cubicBezTo>
                  <a:pt x="3104071" y="1529555"/>
                  <a:pt x="3035853" y="1265967"/>
                  <a:pt x="2967635" y="1002384"/>
                </a:cubicBezTo>
                <a:cubicBezTo>
                  <a:pt x="2918017" y="813229"/>
                  <a:pt x="2949022" y="735701"/>
                  <a:pt x="3116476" y="636472"/>
                </a:cubicBezTo>
                <a:cubicBezTo>
                  <a:pt x="3153689" y="614764"/>
                  <a:pt x="3190903" y="593056"/>
                  <a:pt x="3231217" y="574455"/>
                </a:cubicBezTo>
                <a:cubicBezTo>
                  <a:pt x="3432777" y="481422"/>
                  <a:pt x="3522703" y="503130"/>
                  <a:pt x="3659146" y="679887"/>
                </a:cubicBezTo>
                <a:cubicBezTo>
                  <a:pt x="3823499" y="887649"/>
                  <a:pt x="3987851" y="1098519"/>
                  <a:pt x="4152204" y="1306281"/>
                </a:cubicBezTo>
                <a:cubicBezTo>
                  <a:pt x="4307253" y="1498544"/>
                  <a:pt x="4670065" y="1498544"/>
                  <a:pt x="4825115" y="1303180"/>
                </a:cubicBezTo>
                <a:cubicBezTo>
                  <a:pt x="4890238" y="1219456"/>
                  <a:pt x="4890238" y="1114024"/>
                  <a:pt x="4905743" y="1017890"/>
                </a:cubicBezTo>
                <a:cubicBezTo>
                  <a:pt x="4942951" y="776016"/>
                  <a:pt x="4973962" y="534141"/>
                  <a:pt x="5004973" y="292267"/>
                </a:cubicBezTo>
                <a:cubicBezTo>
                  <a:pt x="5029781" y="100004"/>
                  <a:pt x="5082495" y="47285"/>
                  <a:pt x="5274751" y="13179"/>
                </a:cubicBezTo>
                <a:cubicBezTo>
                  <a:pt x="5315066" y="5426"/>
                  <a:pt x="5355380" y="1550"/>
                  <a:pt x="5395694" y="38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7881AC1-277D-494D-985E-AAF32463F2B7}"/>
              </a:ext>
            </a:extLst>
          </p:cNvPr>
          <p:cNvSpPr/>
          <p:nvPr userDrawn="1"/>
        </p:nvSpPr>
        <p:spPr>
          <a:xfrm>
            <a:off x="1" y="1"/>
            <a:ext cx="3880483" cy="4196531"/>
          </a:xfrm>
          <a:custGeom>
            <a:avLst/>
            <a:gdLst>
              <a:gd name="connsiteX0" fmla="*/ 916463 w 3880483"/>
              <a:gd name="connsiteY0" fmla="*/ 0 h 4196531"/>
              <a:gd name="connsiteX1" fmla="*/ 3020188 w 3880483"/>
              <a:gd name="connsiteY1" fmla="*/ 0 h 4196531"/>
              <a:gd name="connsiteX2" fmla="*/ 3039308 w 3880483"/>
              <a:gd name="connsiteY2" fmla="*/ 45692 h 4196531"/>
              <a:gd name="connsiteX3" fmla="*/ 3189062 w 3880483"/>
              <a:gd name="connsiteY3" fmla="*/ 136184 h 4196531"/>
              <a:gd name="connsiteX4" fmla="*/ 3705385 w 3880483"/>
              <a:gd name="connsiteY4" fmla="*/ 206419 h 4196531"/>
              <a:gd name="connsiteX5" fmla="*/ 3872430 w 3880483"/>
              <a:gd name="connsiteY5" fmla="*/ 371566 h 4196531"/>
              <a:gd name="connsiteX6" fmla="*/ 3878125 w 3880483"/>
              <a:gd name="connsiteY6" fmla="*/ 519628 h 4196531"/>
              <a:gd name="connsiteX7" fmla="*/ 3756640 w 3880483"/>
              <a:gd name="connsiteY7" fmla="*/ 661999 h 4196531"/>
              <a:gd name="connsiteX8" fmla="*/ 3270686 w 3880483"/>
              <a:gd name="connsiteY8" fmla="*/ 800570 h 4196531"/>
              <a:gd name="connsiteX9" fmla="*/ 3073271 w 3880483"/>
              <a:gd name="connsiteY9" fmla="*/ 1128966 h 4196531"/>
              <a:gd name="connsiteX10" fmla="*/ 3173875 w 3880483"/>
              <a:gd name="connsiteY10" fmla="*/ 1261845 h 4196531"/>
              <a:gd name="connsiteX11" fmla="*/ 3619964 w 3880483"/>
              <a:gd name="connsiteY11" fmla="*/ 1523800 h 4196531"/>
              <a:gd name="connsiteX12" fmla="*/ 3716775 w 3880483"/>
              <a:gd name="connsiteY12" fmla="*/ 1749693 h 4196531"/>
              <a:gd name="connsiteX13" fmla="*/ 3712978 w 3880483"/>
              <a:gd name="connsiteY13" fmla="*/ 1772470 h 4196531"/>
              <a:gd name="connsiteX14" fmla="*/ 3445325 w 3880483"/>
              <a:gd name="connsiteY14" fmla="*/ 1964193 h 4196531"/>
              <a:gd name="connsiteX15" fmla="*/ 2978358 w 3880483"/>
              <a:gd name="connsiteY15" fmla="*/ 1905349 h 4196531"/>
              <a:gd name="connsiteX16" fmla="*/ 2742977 w 3880483"/>
              <a:gd name="connsiteY16" fmla="*/ 2026835 h 4196531"/>
              <a:gd name="connsiteX17" fmla="*/ 2739176 w 3880483"/>
              <a:gd name="connsiteY17" fmla="*/ 2307776 h 4196531"/>
              <a:gd name="connsiteX18" fmla="*/ 3040999 w 3880483"/>
              <a:gd name="connsiteY18" fmla="*/ 2706407 h 4196531"/>
              <a:gd name="connsiteX19" fmla="*/ 3040999 w 3880483"/>
              <a:gd name="connsiteY19" fmla="*/ 2966466 h 4196531"/>
              <a:gd name="connsiteX20" fmla="*/ 3029609 w 3880483"/>
              <a:gd name="connsiteY20" fmla="*/ 2979755 h 4196531"/>
              <a:gd name="connsiteX21" fmla="*/ 2703112 w 3880483"/>
              <a:gd name="connsiteY21" fmla="*/ 3044294 h 4196531"/>
              <a:gd name="connsiteX22" fmla="*/ 2298786 w 3880483"/>
              <a:gd name="connsiteY22" fmla="*/ 2816506 h 4196531"/>
              <a:gd name="connsiteX23" fmla="*/ 2021641 w 3880483"/>
              <a:gd name="connsiteY23" fmla="*/ 2856371 h 4196531"/>
              <a:gd name="connsiteX24" fmla="*/ 1932424 w 3880483"/>
              <a:gd name="connsiteY24" fmla="*/ 3106935 h 4196531"/>
              <a:gd name="connsiteX25" fmla="*/ 2063401 w 3880483"/>
              <a:gd name="connsiteY25" fmla="*/ 3611872 h 4196531"/>
              <a:gd name="connsiteX26" fmla="*/ 1989370 w 3880483"/>
              <a:gd name="connsiteY26" fmla="*/ 3801694 h 4196531"/>
              <a:gd name="connsiteX27" fmla="*/ 1856494 w 3880483"/>
              <a:gd name="connsiteY27" fmla="*/ 3870030 h 4196531"/>
              <a:gd name="connsiteX28" fmla="*/ 1657177 w 3880483"/>
              <a:gd name="connsiteY28" fmla="*/ 3814982 h 4196531"/>
              <a:gd name="connsiteX29" fmla="*/ 1343968 w 3880483"/>
              <a:gd name="connsiteY29" fmla="*/ 3418250 h 4196531"/>
              <a:gd name="connsiteX30" fmla="*/ 939642 w 3880483"/>
              <a:gd name="connsiteY30" fmla="*/ 3384080 h 4196531"/>
              <a:gd name="connsiteX31" fmla="*/ 886489 w 3880483"/>
              <a:gd name="connsiteY31" fmla="*/ 3490383 h 4196531"/>
              <a:gd name="connsiteX32" fmla="*/ 814360 w 3880483"/>
              <a:gd name="connsiteY32" fmla="*/ 4012401 h 4196531"/>
              <a:gd name="connsiteX33" fmla="*/ 677684 w 3880483"/>
              <a:gd name="connsiteY33" fmla="*/ 4196531 h 4196531"/>
              <a:gd name="connsiteX34" fmla="*/ 447997 w 3880483"/>
              <a:gd name="connsiteY34" fmla="*/ 4196531 h 4196531"/>
              <a:gd name="connsiteX35" fmla="*/ 347390 w 3880483"/>
              <a:gd name="connsiteY35" fmla="*/ 4056059 h 4196531"/>
              <a:gd name="connsiteX36" fmla="*/ 205019 w 3880483"/>
              <a:gd name="connsiteY36" fmla="*/ 3553024 h 4196531"/>
              <a:gd name="connsiteX37" fmla="*/ 36078 w 3880483"/>
              <a:gd name="connsiteY37" fmla="*/ 3404962 h 4196531"/>
              <a:gd name="connsiteX38" fmla="*/ 0 w 3880483"/>
              <a:gd name="connsiteY38" fmla="*/ 3400953 h 4196531"/>
              <a:gd name="connsiteX39" fmla="*/ 0 w 3880483"/>
              <a:gd name="connsiteY39" fmla="*/ 1478582 h 4196531"/>
              <a:gd name="connsiteX40" fmla="*/ 79520 w 3880483"/>
              <a:gd name="connsiteY40" fmla="*/ 1507156 h 4196531"/>
              <a:gd name="connsiteX41" fmla="*/ 337898 w 3880483"/>
              <a:gd name="connsiteY41" fmla="*/ 1546580 h 4196531"/>
              <a:gd name="connsiteX42" fmla="*/ 1224380 w 3880483"/>
              <a:gd name="connsiteY42" fmla="*/ 671491 h 4196531"/>
              <a:gd name="connsiteX43" fmla="*/ 985912 w 3880483"/>
              <a:gd name="connsiteY43" fmla="*/ 60729 h 419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880483" h="4196531">
                <a:moveTo>
                  <a:pt x="916463" y="0"/>
                </a:moveTo>
                <a:lnTo>
                  <a:pt x="3020188" y="0"/>
                </a:lnTo>
                <a:lnTo>
                  <a:pt x="3039308" y="45692"/>
                </a:lnTo>
                <a:cubicBezTo>
                  <a:pt x="3070540" y="97745"/>
                  <a:pt x="3120725" y="127642"/>
                  <a:pt x="3189062" y="136184"/>
                </a:cubicBezTo>
                <a:cubicBezTo>
                  <a:pt x="3361802" y="158964"/>
                  <a:pt x="3534543" y="183639"/>
                  <a:pt x="3705385" y="206419"/>
                </a:cubicBezTo>
                <a:cubicBezTo>
                  <a:pt x="3807891" y="219707"/>
                  <a:pt x="3861040" y="269060"/>
                  <a:pt x="3872430" y="371566"/>
                </a:cubicBezTo>
                <a:cubicBezTo>
                  <a:pt x="3878125" y="420923"/>
                  <a:pt x="3883820" y="470275"/>
                  <a:pt x="3878125" y="519628"/>
                </a:cubicBezTo>
                <a:cubicBezTo>
                  <a:pt x="3868634" y="597456"/>
                  <a:pt x="3828769" y="641118"/>
                  <a:pt x="3756640" y="661999"/>
                </a:cubicBezTo>
                <a:cubicBezTo>
                  <a:pt x="3595285" y="707555"/>
                  <a:pt x="3432037" y="753112"/>
                  <a:pt x="3270686" y="800570"/>
                </a:cubicBezTo>
                <a:cubicBezTo>
                  <a:pt x="3113132" y="846126"/>
                  <a:pt x="3040999" y="965717"/>
                  <a:pt x="3073271" y="1128966"/>
                </a:cubicBezTo>
                <a:cubicBezTo>
                  <a:pt x="3084657" y="1191607"/>
                  <a:pt x="3120725" y="1231472"/>
                  <a:pt x="3173875" y="1261845"/>
                </a:cubicBezTo>
                <a:cubicBezTo>
                  <a:pt x="3321941" y="1349165"/>
                  <a:pt x="3469999" y="1436480"/>
                  <a:pt x="3619964" y="1523800"/>
                </a:cubicBezTo>
                <a:cubicBezTo>
                  <a:pt x="3730063" y="1588343"/>
                  <a:pt x="3747148" y="1626306"/>
                  <a:pt x="3716775" y="1749693"/>
                </a:cubicBezTo>
                <a:cubicBezTo>
                  <a:pt x="3714876" y="1757287"/>
                  <a:pt x="3714876" y="1764880"/>
                  <a:pt x="3712978" y="1772470"/>
                </a:cubicBezTo>
                <a:cubicBezTo>
                  <a:pt x="3667418" y="1922434"/>
                  <a:pt x="3616167" y="1996465"/>
                  <a:pt x="3445325" y="1964193"/>
                </a:cubicBezTo>
                <a:cubicBezTo>
                  <a:pt x="3291568" y="1933820"/>
                  <a:pt x="3134014" y="1928129"/>
                  <a:pt x="2978358" y="1905349"/>
                </a:cubicBezTo>
                <a:cubicBezTo>
                  <a:pt x="2868259" y="1890162"/>
                  <a:pt x="2796126" y="1933820"/>
                  <a:pt x="2742977" y="2026835"/>
                </a:cubicBezTo>
                <a:cubicBezTo>
                  <a:pt x="2687925" y="2121747"/>
                  <a:pt x="2663247" y="2210965"/>
                  <a:pt x="2739176" y="2307776"/>
                </a:cubicBezTo>
                <a:cubicBezTo>
                  <a:pt x="2841682" y="2438757"/>
                  <a:pt x="2940392" y="2573531"/>
                  <a:pt x="3040999" y="2706407"/>
                </a:cubicBezTo>
                <a:cubicBezTo>
                  <a:pt x="3124522" y="2814608"/>
                  <a:pt x="3124522" y="2858269"/>
                  <a:pt x="3040999" y="2966466"/>
                </a:cubicBezTo>
                <a:cubicBezTo>
                  <a:pt x="3037203" y="2970263"/>
                  <a:pt x="3033406" y="2975958"/>
                  <a:pt x="3029609" y="2979755"/>
                </a:cubicBezTo>
                <a:cubicBezTo>
                  <a:pt x="2919510" y="3097447"/>
                  <a:pt x="2875852" y="3148699"/>
                  <a:pt x="2703112" y="3044294"/>
                </a:cubicBezTo>
                <a:cubicBezTo>
                  <a:pt x="2570236" y="2964568"/>
                  <a:pt x="2429763" y="2896232"/>
                  <a:pt x="2298786" y="2816506"/>
                </a:cubicBezTo>
                <a:cubicBezTo>
                  <a:pt x="2190585" y="2751966"/>
                  <a:pt x="2107062" y="2789929"/>
                  <a:pt x="2021641" y="2856371"/>
                </a:cubicBezTo>
                <a:cubicBezTo>
                  <a:pt x="1936220" y="2920910"/>
                  <a:pt x="1902050" y="2998738"/>
                  <a:pt x="1932424" y="3106935"/>
                </a:cubicBezTo>
                <a:cubicBezTo>
                  <a:pt x="1979878" y="3273985"/>
                  <a:pt x="2021641" y="3442925"/>
                  <a:pt x="2063401" y="3611872"/>
                </a:cubicBezTo>
                <a:cubicBezTo>
                  <a:pt x="2086184" y="3702985"/>
                  <a:pt x="2067201" y="3752341"/>
                  <a:pt x="1989370" y="3801694"/>
                </a:cubicBezTo>
                <a:cubicBezTo>
                  <a:pt x="1947610" y="3828271"/>
                  <a:pt x="1903949" y="3852949"/>
                  <a:pt x="1856494" y="3870030"/>
                </a:cubicBezTo>
                <a:cubicBezTo>
                  <a:pt x="1772971" y="3900403"/>
                  <a:pt x="1712228" y="3885217"/>
                  <a:pt x="1657177" y="3814982"/>
                </a:cubicBezTo>
                <a:cubicBezTo>
                  <a:pt x="1552773" y="3684005"/>
                  <a:pt x="1448372" y="3551126"/>
                  <a:pt x="1343968" y="3418250"/>
                </a:cubicBezTo>
                <a:cubicBezTo>
                  <a:pt x="1243360" y="3292964"/>
                  <a:pt x="1061131" y="3275883"/>
                  <a:pt x="939642" y="3384080"/>
                </a:cubicBezTo>
                <a:cubicBezTo>
                  <a:pt x="907370" y="3412555"/>
                  <a:pt x="892187" y="3448620"/>
                  <a:pt x="886489" y="3490383"/>
                </a:cubicBezTo>
                <a:cubicBezTo>
                  <a:pt x="861814" y="3665022"/>
                  <a:pt x="833339" y="3837762"/>
                  <a:pt x="814360" y="4012401"/>
                </a:cubicBezTo>
                <a:cubicBezTo>
                  <a:pt x="802966" y="4103517"/>
                  <a:pt x="766901" y="4168057"/>
                  <a:pt x="677684" y="4196531"/>
                </a:cubicBezTo>
                <a:cubicBezTo>
                  <a:pt x="601754" y="4196531"/>
                  <a:pt x="523927" y="4196531"/>
                  <a:pt x="447997" y="4196531"/>
                </a:cubicBezTo>
                <a:cubicBezTo>
                  <a:pt x="394844" y="4164260"/>
                  <a:pt x="364474" y="4116802"/>
                  <a:pt x="347390" y="4056059"/>
                </a:cubicBezTo>
                <a:cubicBezTo>
                  <a:pt x="301833" y="3889013"/>
                  <a:pt x="250578" y="3721968"/>
                  <a:pt x="205019" y="3553024"/>
                </a:cubicBezTo>
                <a:cubicBezTo>
                  <a:pt x="180344" y="3463806"/>
                  <a:pt x="125296" y="3416352"/>
                  <a:pt x="36078" y="3404962"/>
                </a:cubicBezTo>
                <a:lnTo>
                  <a:pt x="0" y="3400953"/>
                </a:lnTo>
                <a:lnTo>
                  <a:pt x="0" y="1478582"/>
                </a:lnTo>
                <a:lnTo>
                  <a:pt x="79520" y="1507156"/>
                </a:lnTo>
                <a:cubicBezTo>
                  <a:pt x="161383" y="1532209"/>
                  <a:pt x="248206" y="1545868"/>
                  <a:pt x="337898" y="1546580"/>
                </a:cubicBezTo>
                <a:cubicBezTo>
                  <a:pt x="827644" y="1550376"/>
                  <a:pt x="1222482" y="1157441"/>
                  <a:pt x="1224380" y="671491"/>
                </a:cubicBezTo>
                <a:cubicBezTo>
                  <a:pt x="1227226" y="446548"/>
                  <a:pt x="1140381" y="225402"/>
                  <a:pt x="985912" y="6072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51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78" r:id="rId5"/>
    <p:sldLayoutId id="2147483679" r:id="rId6"/>
    <p:sldLayoutId id="2147483680" r:id="rId7"/>
    <p:sldLayoutId id="2147483682" r:id="rId8"/>
    <p:sldLayoutId id="2147483683" r:id="rId9"/>
    <p:sldLayoutId id="2147483684" r:id="rId10"/>
    <p:sldLayoutId id="2147483689" r:id="rId11"/>
    <p:sldLayoutId id="2147483687" r:id="rId12"/>
    <p:sldLayoutId id="2147483688" r:id="rId13"/>
    <p:sldLayoutId id="2147483671" r:id="rId14"/>
    <p:sldLayoutId id="2147483672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3B4C724-0776-4328-8F0A-B72DA1579537}"/>
              </a:ext>
            </a:extLst>
          </p:cNvPr>
          <p:cNvSpPr txBox="1"/>
          <p:nvPr/>
        </p:nvSpPr>
        <p:spPr>
          <a:xfrm>
            <a:off x="557348" y="3534702"/>
            <a:ext cx="5085805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+mj-lt"/>
              </a:rPr>
              <a:t>Sorting Algorithms</a:t>
            </a:r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006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8665029" y="551308"/>
            <a:ext cx="2719767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Agenda Style</a:t>
            </a:r>
            <a:endParaRPr lang="ko-KR" altLang="en-US" sz="54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E2930CA-5F46-4F27-8CE9-AD7900E4FC31}"/>
              </a:ext>
            </a:extLst>
          </p:cNvPr>
          <p:cNvGrpSpPr/>
          <p:nvPr/>
        </p:nvGrpSpPr>
        <p:grpSpPr>
          <a:xfrm flipH="1">
            <a:off x="2420583" y="929716"/>
            <a:ext cx="5437242" cy="959919"/>
            <a:chOff x="5769612" y="787707"/>
            <a:chExt cx="5437242" cy="95991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1B5B6FD-7606-4EF4-A29E-A3269525F645}"/>
                </a:ext>
              </a:extLst>
            </p:cNvPr>
            <p:cNvSpPr txBox="1"/>
            <p:nvPr/>
          </p:nvSpPr>
          <p:spPr>
            <a:xfrm>
              <a:off x="6545014" y="1470627"/>
              <a:ext cx="46618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Understand what sorting is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85CB91F-08D5-463C-8985-A92D3A95505A}"/>
                </a:ext>
              </a:extLst>
            </p:cNvPr>
            <p:cNvGrpSpPr/>
            <p:nvPr/>
          </p:nvGrpSpPr>
          <p:grpSpPr>
            <a:xfrm>
              <a:off x="5769612" y="787707"/>
              <a:ext cx="5419664" cy="777510"/>
              <a:chOff x="6102442" y="1483456"/>
              <a:chExt cx="5419664" cy="777510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E2A34E-4293-4BB2-BB6D-4BAEBD44FA9A}"/>
                  </a:ext>
                </a:extLst>
              </p:cNvPr>
              <p:cNvSpPr txBox="1"/>
              <p:nvPr/>
            </p:nvSpPr>
            <p:spPr>
              <a:xfrm>
                <a:off x="6860266" y="1678152"/>
                <a:ext cx="4661840" cy="5078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r"/>
                <a:r>
                  <a:rPr lang="en-US" altLang="ko-KR" sz="2700" b="1" dirty="0">
                    <a:solidFill>
                      <a:schemeClr val="bg1"/>
                    </a:solidFill>
                    <a:cs typeface="Arial" pitchFamily="34" charset="0"/>
                  </a:rPr>
                  <a:t>Sorting</a:t>
                </a:r>
                <a:endParaRPr lang="ko-KR" altLang="en-US" sz="27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BEF35D-63F4-4048-98A6-6A22450DFD0B}"/>
                  </a:ext>
                </a:extLst>
              </p:cNvPr>
              <p:cNvSpPr txBox="1"/>
              <p:nvPr/>
            </p:nvSpPr>
            <p:spPr>
              <a:xfrm>
                <a:off x="6102442" y="1483456"/>
                <a:ext cx="981106" cy="777510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44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44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sp>
        <p:nvSpPr>
          <p:cNvPr id="10" name="Block Arc 9">
            <a:extLst>
              <a:ext uri="{FF2B5EF4-FFF2-40B4-BE49-F238E27FC236}">
                <a16:creationId xmlns:a16="http://schemas.microsoft.com/office/drawing/2014/main" id="{1002EE9A-4267-4C86-879D-D972709DDB9E}"/>
              </a:ext>
            </a:extLst>
          </p:cNvPr>
          <p:cNvSpPr/>
          <p:nvPr/>
        </p:nvSpPr>
        <p:spPr>
          <a:xfrm>
            <a:off x="6601097" y="2140396"/>
            <a:ext cx="4783699" cy="4783699"/>
          </a:xfrm>
          <a:prstGeom prst="blockArc">
            <a:avLst>
              <a:gd name="adj1" fmla="val 8035551"/>
              <a:gd name="adj2" fmla="val 16881007"/>
              <a:gd name="adj3" fmla="val 5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B98AF53-F6F8-45B5-ABCF-3CB64653A011}"/>
              </a:ext>
            </a:extLst>
          </p:cNvPr>
          <p:cNvSpPr/>
          <p:nvPr/>
        </p:nvSpPr>
        <p:spPr>
          <a:xfrm>
            <a:off x="8665029" y="2091062"/>
            <a:ext cx="131885" cy="13188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BEFCAED-93BC-4008-B1B8-9225DB7B1562}"/>
              </a:ext>
            </a:extLst>
          </p:cNvPr>
          <p:cNvSpPr/>
          <p:nvPr/>
        </p:nvSpPr>
        <p:spPr>
          <a:xfrm>
            <a:off x="7215815" y="2829146"/>
            <a:ext cx="131885" cy="13188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0628E1B-49A4-4657-BA0C-01B1EB652376}"/>
              </a:ext>
            </a:extLst>
          </p:cNvPr>
          <p:cNvSpPr/>
          <p:nvPr/>
        </p:nvSpPr>
        <p:spPr>
          <a:xfrm>
            <a:off x="6566084" y="4202440"/>
            <a:ext cx="131885" cy="13188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2FEA5C1-3CE3-48BD-8D33-83F886C795DF}"/>
              </a:ext>
            </a:extLst>
          </p:cNvPr>
          <p:cNvSpPr/>
          <p:nvPr/>
        </p:nvSpPr>
        <p:spPr>
          <a:xfrm>
            <a:off x="6824331" y="5599815"/>
            <a:ext cx="131885" cy="13188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32C3BC2-2310-439D-96BF-3A4663FE5813}"/>
              </a:ext>
            </a:extLst>
          </p:cNvPr>
          <p:cNvGrpSpPr/>
          <p:nvPr/>
        </p:nvGrpSpPr>
        <p:grpSpPr>
          <a:xfrm flipH="1">
            <a:off x="1194785" y="2280757"/>
            <a:ext cx="5437242" cy="959919"/>
            <a:chOff x="5769612" y="787707"/>
            <a:chExt cx="5437242" cy="95991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DE687B-831C-4B61-BF01-D13D69C7F661}"/>
                </a:ext>
              </a:extLst>
            </p:cNvPr>
            <p:cNvSpPr txBox="1"/>
            <p:nvPr/>
          </p:nvSpPr>
          <p:spPr>
            <a:xfrm>
              <a:off x="6545014" y="1470627"/>
              <a:ext cx="46618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Algorithm and code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45DA3A6-BF6A-40E0-8067-D35F6C31FA5F}"/>
                </a:ext>
              </a:extLst>
            </p:cNvPr>
            <p:cNvGrpSpPr/>
            <p:nvPr/>
          </p:nvGrpSpPr>
          <p:grpSpPr>
            <a:xfrm>
              <a:off x="5769612" y="787707"/>
              <a:ext cx="5419664" cy="777510"/>
              <a:chOff x="6102442" y="1483456"/>
              <a:chExt cx="5419664" cy="777510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E963C5F-FCEA-4287-A6D4-4AD0D336E942}"/>
                  </a:ext>
                </a:extLst>
              </p:cNvPr>
              <p:cNvSpPr txBox="1"/>
              <p:nvPr/>
            </p:nvSpPr>
            <p:spPr>
              <a:xfrm>
                <a:off x="6860266" y="1678152"/>
                <a:ext cx="4661840" cy="5078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r"/>
                <a:r>
                  <a:rPr lang="en-US" altLang="ko-KR" sz="2700" b="1" dirty="0">
                    <a:solidFill>
                      <a:schemeClr val="bg1"/>
                    </a:solidFill>
                    <a:cs typeface="Arial" pitchFamily="34" charset="0"/>
                  </a:rPr>
                  <a:t>Bubble Sorting</a:t>
                </a:r>
                <a:endParaRPr lang="ko-KR" altLang="en-US" sz="27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3AF25CD-054F-4E92-BE90-098019DED20F}"/>
                  </a:ext>
                </a:extLst>
              </p:cNvPr>
              <p:cNvSpPr txBox="1"/>
              <p:nvPr/>
            </p:nvSpPr>
            <p:spPr>
              <a:xfrm>
                <a:off x="6102442" y="1483456"/>
                <a:ext cx="981106" cy="777510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44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44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50094EE-E1FF-4741-B450-BC593B68EB61}"/>
              </a:ext>
            </a:extLst>
          </p:cNvPr>
          <p:cNvGrpSpPr/>
          <p:nvPr/>
        </p:nvGrpSpPr>
        <p:grpSpPr>
          <a:xfrm flipH="1">
            <a:off x="620658" y="3631798"/>
            <a:ext cx="5437242" cy="959919"/>
            <a:chOff x="5769612" y="787707"/>
            <a:chExt cx="5437242" cy="95991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71BCB13-C7B2-4447-8ED0-72D2635E4078}"/>
                </a:ext>
              </a:extLst>
            </p:cNvPr>
            <p:cNvSpPr txBox="1"/>
            <p:nvPr/>
          </p:nvSpPr>
          <p:spPr>
            <a:xfrm>
              <a:off x="6545014" y="1470627"/>
              <a:ext cx="46618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Algorithm and code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8865744-3E72-464A-8FA4-C54D19F69D46}"/>
                </a:ext>
              </a:extLst>
            </p:cNvPr>
            <p:cNvGrpSpPr/>
            <p:nvPr/>
          </p:nvGrpSpPr>
          <p:grpSpPr>
            <a:xfrm>
              <a:off x="5769612" y="787707"/>
              <a:ext cx="5419664" cy="777510"/>
              <a:chOff x="6102442" y="1483456"/>
              <a:chExt cx="5419664" cy="777510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B6ED2B2-AE4C-4BA5-BF1E-4599B3EBF1D9}"/>
                  </a:ext>
                </a:extLst>
              </p:cNvPr>
              <p:cNvSpPr txBox="1"/>
              <p:nvPr/>
            </p:nvSpPr>
            <p:spPr>
              <a:xfrm>
                <a:off x="6860266" y="1678152"/>
                <a:ext cx="4661840" cy="5078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r"/>
                <a:r>
                  <a:rPr lang="en-US" altLang="ko-KR" sz="2700" b="1" dirty="0">
                    <a:solidFill>
                      <a:schemeClr val="bg1"/>
                    </a:solidFill>
                    <a:cs typeface="Arial" pitchFamily="34" charset="0"/>
                  </a:rPr>
                  <a:t>Selection Sorting</a:t>
                </a:r>
                <a:endParaRPr lang="ko-KR" altLang="en-US" sz="27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9E9D66D-C0D6-40CF-98EF-C979A9FF297B}"/>
                  </a:ext>
                </a:extLst>
              </p:cNvPr>
              <p:cNvSpPr txBox="1"/>
              <p:nvPr/>
            </p:nvSpPr>
            <p:spPr>
              <a:xfrm>
                <a:off x="6102442" y="1483456"/>
                <a:ext cx="981106" cy="777510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44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44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B662D15-943F-46AE-8231-E3BBC95D5B2E}"/>
              </a:ext>
            </a:extLst>
          </p:cNvPr>
          <p:cNvGrpSpPr/>
          <p:nvPr/>
        </p:nvGrpSpPr>
        <p:grpSpPr>
          <a:xfrm flipH="1">
            <a:off x="892257" y="4982838"/>
            <a:ext cx="5437242" cy="959919"/>
            <a:chOff x="5769612" y="787707"/>
            <a:chExt cx="5437242" cy="95991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5BBA546-D9D1-4BAC-B3F0-A758B34FF2E0}"/>
                </a:ext>
              </a:extLst>
            </p:cNvPr>
            <p:cNvSpPr txBox="1"/>
            <p:nvPr/>
          </p:nvSpPr>
          <p:spPr>
            <a:xfrm>
              <a:off x="6545014" y="1470627"/>
              <a:ext cx="46618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Slight change in conclusion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34BCE67-33B0-45B2-A4CD-7632587C3C50}"/>
                </a:ext>
              </a:extLst>
            </p:cNvPr>
            <p:cNvGrpSpPr/>
            <p:nvPr/>
          </p:nvGrpSpPr>
          <p:grpSpPr>
            <a:xfrm>
              <a:off x="5769612" y="787707"/>
              <a:ext cx="5419664" cy="777510"/>
              <a:chOff x="6102442" y="1483456"/>
              <a:chExt cx="5419664" cy="777510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9E1FB1C-AE15-4708-BEAF-A20058E1F13D}"/>
                  </a:ext>
                </a:extLst>
              </p:cNvPr>
              <p:cNvSpPr txBox="1"/>
              <p:nvPr/>
            </p:nvSpPr>
            <p:spPr>
              <a:xfrm>
                <a:off x="6860266" y="1678152"/>
                <a:ext cx="4661840" cy="5078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r"/>
                <a:r>
                  <a:rPr lang="en-US" altLang="ko-KR" sz="2700" b="1" dirty="0">
                    <a:solidFill>
                      <a:schemeClr val="bg1"/>
                    </a:solidFill>
                    <a:cs typeface="Arial" pitchFamily="34" charset="0"/>
                  </a:rPr>
                  <a:t>Conclusion</a:t>
                </a:r>
                <a:endParaRPr lang="ko-KR" altLang="en-US" sz="27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439312E-72E1-4FAB-8E68-A67963C14262}"/>
                  </a:ext>
                </a:extLst>
              </p:cNvPr>
              <p:cNvSpPr txBox="1"/>
              <p:nvPr/>
            </p:nvSpPr>
            <p:spPr>
              <a:xfrm>
                <a:off x="6102442" y="1483456"/>
                <a:ext cx="981106" cy="777510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44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44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CB451-09E3-4550-9A06-3D6054D5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8B56C8-2ECC-40CE-8512-1AB853C9BE30}"/>
              </a:ext>
            </a:extLst>
          </p:cNvPr>
          <p:cNvSpPr txBox="1"/>
          <p:nvPr/>
        </p:nvSpPr>
        <p:spPr>
          <a:xfrm>
            <a:off x="8004370" y="386646"/>
            <a:ext cx="3563066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5400" dirty="0">
                <a:solidFill>
                  <a:schemeClr val="bg1"/>
                </a:solidFill>
                <a:latin typeface="+mj-lt"/>
                <a:cs typeface="Arial" pitchFamily="34" charset="0"/>
              </a:rPr>
              <a:t>Sorting Algorithms</a:t>
            </a:r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6D2B5B-A584-4BFF-9E64-E055DE8131F4}"/>
              </a:ext>
            </a:extLst>
          </p:cNvPr>
          <p:cNvSpPr txBox="1"/>
          <p:nvPr/>
        </p:nvSpPr>
        <p:spPr>
          <a:xfrm>
            <a:off x="9344297" y="5117571"/>
            <a:ext cx="2194562" cy="653238"/>
          </a:xfrm>
          <a:prstGeom prst="rect">
            <a:avLst/>
          </a:prstGeom>
          <a:noFill/>
        </p:spPr>
        <p:txBody>
          <a:bodyPr wrap="square" lIns="72000" tIns="72000" rIns="72000" bIns="72000" rtlCol="0" anchor="ctr">
            <a:spAutoFit/>
          </a:bodyPr>
          <a:lstStyle/>
          <a:p>
            <a:pPr algn="r"/>
            <a:r>
              <a:rPr lang="en-US" altLang="ko-KR" sz="1100" dirty="0">
                <a:solidFill>
                  <a:schemeClr val="bg1"/>
                </a:solidFill>
              </a:rPr>
              <a:t>Rearranging an collection (array) in ascending or descending order.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F2E1F7-6704-4A67-B0A6-0EAF5404ADBA}"/>
              </a:ext>
            </a:extLst>
          </p:cNvPr>
          <p:cNvSpPr txBox="1"/>
          <p:nvPr/>
        </p:nvSpPr>
        <p:spPr>
          <a:xfrm>
            <a:off x="897986" y="1457107"/>
            <a:ext cx="707780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800" dirty="0">
                <a:solidFill>
                  <a:schemeClr val="bg1"/>
                </a:solidFill>
                <a:cs typeface="Arial" pitchFamily="34" charset="0"/>
              </a:rPr>
              <a:t>A sorting algorithm is used to arrange elements of an array/list in a specific order. For example,</a:t>
            </a: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1200" dirty="0">
              <a:solidFill>
                <a:schemeClr val="bg1"/>
              </a:solidFill>
              <a:cs typeface="Arial" pitchFamily="34" charset="0"/>
            </a:endParaRPr>
          </a:p>
          <a:p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10569E-0252-570F-551D-DAB288474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86" y="2365266"/>
            <a:ext cx="6070912" cy="424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153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CB451-09E3-4550-9A06-3D6054D5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8B56C8-2ECC-40CE-8512-1AB853C9BE30}"/>
              </a:ext>
            </a:extLst>
          </p:cNvPr>
          <p:cNvSpPr txBox="1"/>
          <p:nvPr/>
        </p:nvSpPr>
        <p:spPr>
          <a:xfrm>
            <a:off x="8004370" y="386646"/>
            <a:ext cx="3563066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5400" dirty="0">
                <a:solidFill>
                  <a:schemeClr val="bg1"/>
                </a:solidFill>
                <a:latin typeface="+mj-lt"/>
                <a:cs typeface="Arial" pitchFamily="34" charset="0"/>
              </a:rPr>
              <a:t>Bubble Sort</a:t>
            </a:r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6D2B5B-A584-4BFF-9E64-E055DE8131F4}"/>
              </a:ext>
            </a:extLst>
          </p:cNvPr>
          <p:cNvSpPr txBox="1"/>
          <p:nvPr/>
        </p:nvSpPr>
        <p:spPr>
          <a:xfrm>
            <a:off x="9344297" y="5117571"/>
            <a:ext cx="2194562" cy="653238"/>
          </a:xfrm>
          <a:prstGeom prst="rect">
            <a:avLst/>
          </a:prstGeom>
          <a:noFill/>
        </p:spPr>
        <p:txBody>
          <a:bodyPr wrap="square" lIns="72000" tIns="72000" rIns="72000" bIns="72000" rtlCol="0" anchor="ctr">
            <a:spAutoFit/>
          </a:bodyPr>
          <a:lstStyle/>
          <a:p>
            <a:pPr algn="r"/>
            <a:r>
              <a:rPr lang="en-US" altLang="ko-KR" sz="1100" dirty="0">
                <a:solidFill>
                  <a:schemeClr val="bg1"/>
                </a:solidFill>
              </a:rPr>
              <a:t>Rearranging an collection (array) in ascending or descending order.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F2E1F7-6704-4A67-B0A6-0EAF5404ADBA}"/>
              </a:ext>
            </a:extLst>
          </p:cNvPr>
          <p:cNvSpPr txBox="1"/>
          <p:nvPr/>
        </p:nvSpPr>
        <p:spPr>
          <a:xfrm>
            <a:off x="257311" y="386646"/>
            <a:ext cx="8829675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Bubble sort is a sorting algorithm that compares two adjacent elements and swaps them until they are in the intended order.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Just like the movement of air bubbles in the water that rise up to the surface, each element of the array move to the end in each iteration.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Therefore, it is called a bubble sort.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The details of the steps are: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First Iteration (Compare and Swap)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Starting from the first index, compare the first and the second elements.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If the first element is greater than the second element, they are swapped.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Now, compare the second and the third elements. Swap them if they are not in order.</a:t>
            </a:r>
          </a:p>
        </p:txBody>
      </p:sp>
    </p:spTree>
    <p:extLst>
      <p:ext uri="{BB962C8B-B14F-4D97-AF65-F5344CB8AC3E}">
        <p14:creationId xmlns:p14="http://schemas.microsoft.com/office/powerpoint/2010/main" val="3998073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CB451-09E3-4550-9A06-3D6054D5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8B56C8-2ECC-40CE-8512-1AB853C9BE30}"/>
              </a:ext>
            </a:extLst>
          </p:cNvPr>
          <p:cNvSpPr txBox="1"/>
          <p:nvPr/>
        </p:nvSpPr>
        <p:spPr>
          <a:xfrm>
            <a:off x="8004370" y="386646"/>
            <a:ext cx="3563066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5400" dirty="0">
                <a:solidFill>
                  <a:schemeClr val="bg1"/>
                </a:solidFill>
                <a:latin typeface="+mj-lt"/>
                <a:cs typeface="Arial" pitchFamily="34" charset="0"/>
              </a:rPr>
              <a:t>Sorting Algorithms</a:t>
            </a:r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6D2B5B-A584-4BFF-9E64-E055DE8131F4}"/>
              </a:ext>
            </a:extLst>
          </p:cNvPr>
          <p:cNvSpPr txBox="1"/>
          <p:nvPr/>
        </p:nvSpPr>
        <p:spPr>
          <a:xfrm>
            <a:off x="9344297" y="5117571"/>
            <a:ext cx="2194562" cy="653238"/>
          </a:xfrm>
          <a:prstGeom prst="rect">
            <a:avLst/>
          </a:prstGeom>
          <a:noFill/>
        </p:spPr>
        <p:txBody>
          <a:bodyPr wrap="square" lIns="72000" tIns="72000" rIns="72000" bIns="72000" rtlCol="0" anchor="ctr">
            <a:spAutoFit/>
          </a:bodyPr>
          <a:lstStyle/>
          <a:p>
            <a:pPr algn="r"/>
            <a:r>
              <a:rPr lang="en-US" altLang="ko-KR" sz="1100" dirty="0">
                <a:solidFill>
                  <a:schemeClr val="bg1"/>
                </a:solidFill>
              </a:rPr>
              <a:t>Rearranging an collection (array) in ascending or descending order.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F2E1F7-6704-4A67-B0A6-0EAF5404ADBA}"/>
              </a:ext>
            </a:extLst>
          </p:cNvPr>
          <p:cNvSpPr txBox="1"/>
          <p:nvPr/>
        </p:nvSpPr>
        <p:spPr>
          <a:xfrm>
            <a:off x="371476" y="386646"/>
            <a:ext cx="7604318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228600">
              <a:buFont typeface="+mj-lt"/>
              <a:buAutoNum type="arabicPeriod" startAt="4"/>
            </a:pP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The above process goes on until the last element.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marL="742950" indent="-228600">
              <a:buFont typeface="+mj-lt"/>
              <a:buAutoNum type="arabicPeriod" startAt="4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marL="742950" indent="-228600">
              <a:buFont typeface="+mj-lt"/>
              <a:buAutoNum type="arabicPeriod" startAt="4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endParaRPr lang="ko-KR" altLang="en-US" sz="2500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CA72C4-206A-3113-814C-D484954598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369" y="0"/>
            <a:ext cx="51138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931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CB451-09E3-4550-9A06-3D6054D5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8B56C8-2ECC-40CE-8512-1AB853C9BE30}"/>
              </a:ext>
            </a:extLst>
          </p:cNvPr>
          <p:cNvSpPr txBox="1"/>
          <p:nvPr/>
        </p:nvSpPr>
        <p:spPr>
          <a:xfrm>
            <a:off x="8004370" y="386646"/>
            <a:ext cx="3563066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5400" dirty="0">
                <a:solidFill>
                  <a:schemeClr val="bg1"/>
                </a:solidFill>
                <a:latin typeface="+mj-lt"/>
                <a:cs typeface="Arial" pitchFamily="34" charset="0"/>
              </a:rPr>
              <a:t>Bubble Sort</a:t>
            </a:r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F2E1F7-6704-4A67-B0A6-0EAF5404ADBA}"/>
              </a:ext>
            </a:extLst>
          </p:cNvPr>
          <p:cNvSpPr txBox="1"/>
          <p:nvPr/>
        </p:nvSpPr>
        <p:spPr>
          <a:xfrm>
            <a:off x="257311" y="386646"/>
            <a:ext cx="882967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 startAt="2"/>
            </a:pP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Remaining Iteration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The same process goes on for the remaining iterations.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After each iteration, the largest element among the unsorted elements is placed at the end.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801572-BEEB-FE12-B884-529307992F0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89" t="18906"/>
          <a:stretch/>
        </p:blipFill>
        <p:spPr>
          <a:xfrm>
            <a:off x="510259" y="2061010"/>
            <a:ext cx="4408491" cy="46335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E32AFD-C7A0-14EC-97D8-1C22D3032B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34" t="24032"/>
          <a:stretch/>
        </p:blipFill>
        <p:spPr>
          <a:xfrm>
            <a:off x="4690144" y="3415387"/>
            <a:ext cx="4153947" cy="31559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163837-160C-7399-FD5E-3E8976ABDE9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76" t="29412"/>
          <a:stretch/>
        </p:blipFill>
        <p:spPr>
          <a:xfrm>
            <a:off x="8810702" y="4514850"/>
            <a:ext cx="3563066" cy="194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576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CB451-09E3-4550-9A06-3D6054D5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8B56C8-2ECC-40CE-8512-1AB853C9BE30}"/>
              </a:ext>
            </a:extLst>
          </p:cNvPr>
          <p:cNvSpPr txBox="1"/>
          <p:nvPr/>
        </p:nvSpPr>
        <p:spPr>
          <a:xfrm>
            <a:off x="8004370" y="-28852"/>
            <a:ext cx="3563066" cy="25853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5400" dirty="0">
                <a:solidFill>
                  <a:schemeClr val="bg1"/>
                </a:solidFill>
                <a:latin typeface="+mj-lt"/>
                <a:cs typeface="Arial" pitchFamily="34" charset="0"/>
              </a:rPr>
              <a:t>Bubble Sort Algorithm</a:t>
            </a:r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6D2B5B-A584-4BFF-9E64-E055DE8131F4}"/>
              </a:ext>
            </a:extLst>
          </p:cNvPr>
          <p:cNvSpPr txBox="1"/>
          <p:nvPr/>
        </p:nvSpPr>
        <p:spPr>
          <a:xfrm>
            <a:off x="9344297" y="5117571"/>
            <a:ext cx="2194562" cy="653238"/>
          </a:xfrm>
          <a:prstGeom prst="rect">
            <a:avLst/>
          </a:prstGeom>
          <a:noFill/>
        </p:spPr>
        <p:txBody>
          <a:bodyPr wrap="square" lIns="72000" tIns="72000" rIns="72000" bIns="72000" rtlCol="0" anchor="ctr">
            <a:spAutoFit/>
          </a:bodyPr>
          <a:lstStyle/>
          <a:p>
            <a:pPr algn="r"/>
            <a:r>
              <a:rPr lang="en-US" altLang="ko-KR" sz="1100" dirty="0">
                <a:solidFill>
                  <a:schemeClr val="bg1"/>
                </a:solidFill>
              </a:rPr>
              <a:t>Rearranging an collection (array) in ascending or descending order.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F2E1F7-6704-4A67-B0A6-0EAF5404ADBA}"/>
              </a:ext>
            </a:extLst>
          </p:cNvPr>
          <p:cNvSpPr txBox="1"/>
          <p:nvPr/>
        </p:nvSpPr>
        <p:spPr>
          <a:xfrm>
            <a:off x="257312" y="386646"/>
            <a:ext cx="870095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Bubble sort algorithm: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algn="just"/>
            <a:r>
              <a:rPr lang="en-US" altLang="ko-KR" sz="2500" dirty="0" err="1">
                <a:solidFill>
                  <a:schemeClr val="bg1"/>
                </a:solidFill>
                <a:cs typeface="Arial" pitchFamily="34" charset="0"/>
              </a:rPr>
              <a:t>bubbleSort</a:t>
            </a: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(array)</a:t>
            </a:r>
          </a:p>
          <a:p>
            <a:pPr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 for </a:t>
            </a:r>
            <a:r>
              <a:rPr lang="en-US" altLang="ko-KR" sz="2500" dirty="0" err="1">
                <a:solidFill>
                  <a:schemeClr val="bg1"/>
                </a:solidFill>
                <a:cs typeface="Arial" pitchFamily="34" charset="0"/>
              </a:rPr>
              <a:t>i</a:t>
            </a: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&lt;- 1 to </a:t>
            </a:r>
            <a:r>
              <a:rPr lang="en-US" altLang="ko-KR" sz="2500" dirty="0" err="1">
                <a:solidFill>
                  <a:schemeClr val="bg1"/>
                </a:solidFill>
                <a:cs typeface="Arial" pitchFamily="34" charset="0"/>
              </a:rPr>
              <a:t>sizeOfArray</a:t>
            </a: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- 1</a:t>
            </a:r>
          </a:p>
          <a:p>
            <a:pPr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   for j &lt;- 1 to </a:t>
            </a:r>
            <a:r>
              <a:rPr lang="en-US" altLang="ko-KR" sz="2500" dirty="0" err="1">
                <a:solidFill>
                  <a:schemeClr val="bg1"/>
                </a:solidFill>
                <a:cs typeface="Arial" pitchFamily="34" charset="0"/>
              </a:rPr>
              <a:t>sizeOfArray</a:t>
            </a: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- 1 - </a:t>
            </a:r>
            <a:r>
              <a:rPr lang="en-US" altLang="ko-KR" sz="2500" dirty="0" err="1">
                <a:solidFill>
                  <a:schemeClr val="bg1"/>
                </a:solidFill>
                <a:cs typeface="Arial" pitchFamily="34" charset="0"/>
              </a:rPr>
              <a:t>i</a:t>
            </a: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     if </a:t>
            </a:r>
            <a:r>
              <a:rPr lang="en-US" altLang="ko-KR" sz="2500" dirty="0" err="1">
                <a:solidFill>
                  <a:schemeClr val="bg1"/>
                </a:solidFill>
                <a:cs typeface="Arial" pitchFamily="34" charset="0"/>
              </a:rPr>
              <a:t>leftElement</a:t>
            </a: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&gt; </a:t>
            </a:r>
            <a:r>
              <a:rPr lang="en-US" altLang="ko-KR" sz="2500" dirty="0" err="1">
                <a:solidFill>
                  <a:schemeClr val="bg1"/>
                </a:solidFill>
                <a:cs typeface="Arial" pitchFamily="34" charset="0"/>
              </a:rPr>
              <a:t>rightElement</a:t>
            </a: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       swap </a:t>
            </a:r>
            <a:r>
              <a:rPr lang="en-US" altLang="ko-KR" sz="2500" dirty="0" err="1">
                <a:solidFill>
                  <a:schemeClr val="bg1"/>
                </a:solidFill>
                <a:cs typeface="Arial" pitchFamily="34" charset="0"/>
              </a:rPr>
              <a:t>leftElement</a:t>
            </a: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and </a:t>
            </a:r>
            <a:r>
              <a:rPr lang="en-US" altLang="ko-KR" sz="2500" dirty="0" err="1">
                <a:solidFill>
                  <a:schemeClr val="bg1"/>
                </a:solidFill>
                <a:cs typeface="Arial" pitchFamily="34" charset="0"/>
              </a:rPr>
              <a:t>rightElement</a:t>
            </a: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end </a:t>
            </a:r>
            <a:r>
              <a:rPr lang="en-US" altLang="ko-KR" sz="2500" dirty="0" err="1">
                <a:solidFill>
                  <a:schemeClr val="bg1"/>
                </a:solidFill>
                <a:cs typeface="Arial" pitchFamily="34" charset="0"/>
              </a:rPr>
              <a:t>bubbleSort</a:t>
            </a: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533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CB451-09E3-4550-9A06-3D6054D5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F2E1F7-6704-4A67-B0A6-0EAF5404ADBA}"/>
              </a:ext>
            </a:extLst>
          </p:cNvPr>
          <p:cNvSpPr txBox="1"/>
          <p:nvPr/>
        </p:nvSpPr>
        <p:spPr>
          <a:xfrm>
            <a:off x="257311" y="186614"/>
            <a:ext cx="11658463" cy="663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import </a:t>
            </a:r>
            <a:r>
              <a:rPr lang="en-US" altLang="ko-KR" sz="2500" dirty="0" err="1">
                <a:solidFill>
                  <a:schemeClr val="bg1"/>
                </a:solidFill>
                <a:cs typeface="Arial" pitchFamily="34" charset="0"/>
              </a:rPr>
              <a:t>java.util.Arrays</a:t>
            </a: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;</a:t>
            </a:r>
          </a:p>
          <a:p>
            <a:pPr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class Main {</a:t>
            </a:r>
          </a:p>
          <a:p>
            <a:pPr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 // perform the bubble sort</a:t>
            </a:r>
          </a:p>
          <a:p>
            <a:pPr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 static void </a:t>
            </a:r>
            <a:r>
              <a:rPr lang="en-US" altLang="ko-KR" sz="2500" dirty="0" err="1">
                <a:solidFill>
                  <a:schemeClr val="bg1"/>
                </a:solidFill>
                <a:cs typeface="Arial" pitchFamily="34" charset="0"/>
              </a:rPr>
              <a:t>bubbleSort</a:t>
            </a: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(int array[]) {</a:t>
            </a:r>
          </a:p>
          <a:p>
            <a:pPr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   int size = </a:t>
            </a:r>
            <a:r>
              <a:rPr lang="en-US" altLang="ko-KR" sz="2500" dirty="0" err="1">
                <a:solidFill>
                  <a:schemeClr val="bg1"/>
                </a:solidFill>
                <a:cs typeface="Arial" pitchFamily="34" charset="0"/>
              </a:rPr>
              <a:t>array.length</a:t>
            </a: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;</a:t>
            </a:r>
          </a:p>
          <a:p>
            <a:pPr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   // loop to access each array element</a:t>
            </a:r>
          </a:p>
          <a:p>
            <a:pPr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   for (int </a:t>
            </a:r>
            <a:r>
              <a:rPr lang="en-US" altLang="ko-KR" sz="2500" dirty="0" err="1">
                <a:solidFill>
                  <a:schemeClr val="bg1"/>
                </a:solidFill>
                <a:cs typeface="Arial" pitchFamily="34" charset="0"/>
              </a:rPr>
              <a:t>i</a:t>
            </a: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= 0; </a:t>
            </a:r>
            <a:r>
              <a:rPr lang="en-US" altLang="ko-KR" sz="2500" dirty="0" err="1">
                <a:solidFill>
                  <a:schemeClr val="bg1"/>
                </a:solidFill>
                <a:cs typeface="Arial" pitchFamily="34" charset="0"/>
              </a:rPr>
              <a:t>i</a:t>
            </a: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&lt; size - 1; </a:t>
            </a:r>
            <a:r>
              <a:rPr lang="en-US" altLang="ko-KR" sz="2500" dirty="0" err="1">
                <a:solidFill>
                  <a:schemeClr val="bg1"/>
                </a:solidFill>
                <a:cs typeface="Arial" pitchFamily="34" charset="0"/>
              </a:rPr>
              <a:t>i</a:t>
            </a: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++)</a:t>
            </a:r>
          </a:p>
          <a:p>
            <a:pPr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     // loop to compare array elements</a:t>
            </a:r>
          </a:p>
          <a:p>
            <a:pPr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     for (int j = 0; j &lt; size - </a:t>
            </a:r>
            <a:r>
              <a:rPr lang="en-US" altLang="ko-KR" sz="2500" dirty="0" err="1">
                <a:solidFill>
                  <a:schemeClr val="bg1"/>
                </a:solidFill>
                <a:cs typeface="Arial" pitchFamily="34" charset="0"/>
              </a:rPr>
              <a:t>i</a:t>
            </a: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- 1; </a:t>
            </a:r>
            <a:r>
              <a:rPr lang="en-US" altLang="ko-KR" sz="2500" dirty="0" err="1">
                <a:solidFill>
                  <a:schemeClr val="bg1"/>
                </a:solidFill>
                <a:cs typeface="Arial" pitchFamily="34" charset="0"/>
              </a:rPr>
              <a:t>j++</a:t>
            </a: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)</a:t>
            </a:r>
          </a:p>
          <a:p>
            <a:pPr lvl="1"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    // change &gt; to &lt; to sort in descending order</a:t>
            </a:r>
          </a:p>
          <a:p>
            <a:pPr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       if (array[j] &gt; array[j + 1]) {</a:t>
            </a:r>
          </a:p>
          <a:p>
            <a:pPr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         // are not in the intended order</a:t>
            </a:r>
          </a:p>
          <a:p>
            <a:pPr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         int temp = array[j];</a:t>
            </a:r>
          </a:p>
          <a:p>
            <a:pPr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         array[j] = array[j + 1];</a:t>
            </a:r>
          </a:p>
          <a:p>
            <a:pPr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         array[j + 1] = temp;</a:t>
            </a:r>
          </a:p>
          <a:p>
            <a:pPr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       }</a:t>
            </a:r>
          </a:p>
          <a:p>
            <a:pPr algn="just"/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2292708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CB451-09E3-4550-9A06-3D6054D5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F2E1F7-6704-4A67-B0A6-0EAF5404ADBA}"/>
              </a:ext>
            </a:extLst>
          </p:cNvPr>
          <p:cNvSpPr txBox="1"/>
          <p:nvPr/>
        </p:nvSpPr>
        <p:spPr>
          <a:xfrm>
            <a:off x="266768" y="629527"/>
            <a:ext cx="11658463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900" dirty="0">
                <a:solidFill>
                  <a:schemeClr val="bg1"/>
                </a:solidFill>
                <a:cs typeface="Arial" pitchFamily="34" charset="0"/>
              </a:rPr>
              <a:t>    public static void main(String </a:t>
            </a:r>
            <a:r>
              <a:rPr lang="en-US" altLang="ko-KR" sz="2900" dirty="0" err="1">
                <a:solidFill>
                  <a:schemeClr val="bg1"/>
                </a:solidFill>
                <a:cs typeface="Arial" pitchFamily="34" charset="0"/>
              </a:rPr>
              <a:t>args</a:t>
            </a:r>
            <a:r>
              <a:rPr lang="en-US" altLang="ko-KR" sz="2900" dirty="0">
                <a:solidFill>
                  <a:schemeClr val="bg1"/>
                </a:solidFill>
                <a:cs typeface="Arial" pitchFamily="34" charset="0"/>
              </a:rPr>
              <a:t>[]) {</a:t>
            </a:r>
          </a:p>
          <a:p>
            <a:pPr algn="just"/>
            <a:r>
              <a:rPr lang="en-US" altLang="ko-KR" sz="2900" dirty="0">
                <a:solidFill>
                  <a:schemeClr val="bg1"/>
                </a:solidFill>
                <a:cs typeface="Arial" pitchFamily="34" charset="0"/>
              </a:rPr>
              <a:t>      </a:t>
            </a:r>
          </a:p>
          <a:p>
            <a:pPr algn="just"/>
            <a:r>
              <a:rPr lang="en-US" altLang="ko-KR" sz="2900" dirty="0">
                <a:solidFill>
                  <a:schemeClr val="bg1"/>
                </a:solidFill>
                <a:cs typeface="Arial" pitchFamily="34" charset="0"/>
              </a:rPr>
              <a:t>    int[] data = { -2, 45, 0, 11, -9 };</a:t>
            </a:r>
          </a:p>
          <a:p>
            <a:pPr algn="just"/>
            <a:r>
              <a:rPr lang="en-US" altLang="ko-KR" sz="2900" dirty="0">
                <a:solidFill>
                  <a:schemeClr val="bg1"/>
                </a:solidFill>
                <a:cs typeface="Arial" pitchFamily="34" charset="0"/>
              </a:rPr>
              <a:t>    </a:t>
            </a:r>
          </a:p>
          <a:p>
            <a:pPr algn="just"/>
            <a:r>
              <a:rPr lang="en-US" altLang="ko-KR" sz="2900" dirty="0">
                <a:solidFill>
                  <a:schemeClr val="bg1"/>
                </a:solidFill>
                <a:cs typeface="Arial" pitchFamily="34" charset="0"/>
              </a:rPr>
              <a:t>    // call method using class name</a:t>
            </a:r>
          </a:p>
          <a:p>
            <a:pPr algn="just"/>
            <a:r>
              <a:rPr lang="en-US" altLang="ko-KR" sz="2900" dirty="0">
                <a:solidFill>
                  <a:schemeClr val="bg1"/>
                </a:solidFill>
                <a:cs typeface="Arial" pitchFamily="34" charset="0"/>
              </a:rPr>
              <a:t>    </a:t>
            </a:r>
            <a:r>
              <a:rPr lang="en-US" altLang="ko-KR" sz="2900" dirty="0" err="1">
                <a:solidFill>
                  <a:schemeClr val="bg1"/>
                </a:solidFill>
                <a:cs typeface="Arial" pitchFamily="34" charset="0"/>
              </a:rPr>
              <a:t>Main.bubbleSort</a:t>
            </a:r>
            <a:r>
              <a:rPr lang="en-US" altLang="ko-KR" sz="2900" dirty="0">
                <a:solidFill>
                  <a:schemeClr val="bg1"/>
                </a:solidFill>
                <a:cs typeface="Arial" pitchFamily="34" charset="0"/>
              </a:rPr>
              <a:t>(data);</a:t>
            </a:r>
          </a:p>
          <a:p>
            <a:pPr algn="just"/>
            <a:r>
              <a:rPr lang="en-US" altLang="ko-KR" sz="2900" dirty="0">
                <a:solidFill>
                  <a:schemeClr val="bg1"/>
                </a:solidFill>
                <a:cs typeface="Arial" pitchFamily="34" charset="0"/>
              </a:rPr>
              <a:t>    </a:t>
            </a:r>
          </a:p>
          <a:p>
            <a:pPr algn="just"/>
            <a:r>
              <a:rPr lang="en-US" altLang="ko-KR" sz="2900" dirty="0">
                <a:solidFill>
                  <a:schemeClr val="bg1"/>
                </a:solidFill>
                <a:cs typeface="Arial" pitchFamily="34" charset="0"/>
              </a:rPr>
              <a:t>    </a:t>
            </a:r>
            <a:r>
              <a:rPr lang="en-US" altLang="ko-KR" sz="2900" dirty="0" err="1">
                <a:solidFill>
                  <a:schemeClr val="bg1"/>
                </a:solidFill>
                <a:cs typeface="Arial" pitchFamily="34" charset="0"/>
              </a:rPr>
              <a:t>System.out.println</a:t>
            </a:r>
            <a:r>
              <a:rPr lang="en-US" altLang="ko-KR" sz="2900" dirty="0">
                <a:solidFill>
                  <a:schemeClr val="bg1"/>
                </a:solidFill>
                <a:cs typeface="Arial" pitchFamily="34" charset="0"/>
              </a:rPr>
              <a:t>("Sorted Array in Ascending Order:");</a:t>
            </a:r>
          </a:p>
          <a:p>
            <a:pPr algn="just"/>
            <a:r>
              <a:rPr lang="en-US" altLang="ko-KR" sz="2900" dirty="0">
                <a:solidFill>
                  <a:schemeClr val="bg1"/>
                </a:solidFill>
                <a:cs typeface="Arial" pitchFamily="34" charset="0"/>
              </a:rPr>
              <a:t>    </a:t>
            </a:r>
            <a:r>
              <a:rPr lang="en-US" altLang="ko-KR" sz="2900" dirty="0" err="1">
                <a:solidFill>
                  <a:schemeClr val="bg1"/>
                </a:solidFill>
                <a:cs typeface="Arial" pitchFamily="34" charset="0"/>
              </a:rPr>
              <a:t>System.out.println</a:t>
            </a:r>
            <a:r>
              <a:rPr lang="en-US" altLang="ko-KR" sz="2900" dirty="0">
                <a:solidFill>
                  <a:schemeClr val="bg1"/>
                </a:solidFill>
                <a:cs typeface="Arial" pitchFamily="34" charset="0"/>
              </a:rPr>
              <a:t>(</a:t>
            </a:r>
            <a:r>
              <a:rPr lang="en-US" altLang="ko-KR" sz="2900" dirty="0" err="1">
                <a:solidFill>
                  <a:schemeClr val="bg1"/>
                </a:solidFill>
                <a:cs typeface="Arial" pitchFamily="34" charset="0"/>
              </a:rPr>
              <a:t>Arrays.toString</a:t>
            </a:r>
            <a:r>
              <a:rPr lang="en-US" altLang="ko-KR" sz="2900" dirty="0">
                <a:solidFill>
                  <a:schemeClr val="bg1"/>
                </a:solidFill>
                <a:cs typeface="Arial" pitchFamily="34" charset="0"/>
              </a:rPr>
              <a:t>(data));</a:t>
            </a:r>
          </a:p>
          <a:p>
            <a:pPr algn="just"/>
            <a:r>
              <a:rPr lang="en-US" altLang="ko-KR" sz="2900" dirty="0">
                <a:solidFill>
                  <a:schemeClr val="bg1"/>
                </a:solidFill>
                <a:cs typeface="Arial" pitchFamily="34" charset="0"/>
              </a:rPr>
              <a:t>  }</a:t>
            </a:r>
          </a:p>
          <a:p>
            <a:pPr algn="just"/>
            <a:r>
              <a:rPr lang="en-US" altLang="ko-KR" sz="2900" dirty="0">
                <a:solidFill>
                  <a:schemeClr val="bg1"/>
                </a:solidFill>
                <a:cs typeface="Arial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9437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CB451-09E3-4550-9A06-3D6054D5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8B56C8-2ECC-40CE-8512-1AB853C9BE30}"/>
              </a:ext>
            </a:extLst>
          </p:cNvPr>
          <p:cNvSpPr txBox="1"/>
          <p:nvPr/>
        </p:nvSpPr>
        <p:spPr>
          <a:xfrm>
            <a:off x="8004370" y="386646"/>
            <a:ext cx="3563066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5400" dirty="0">
                <a:solidFill>
                  <a:schemeClr val="bg1"/>
                </a:solidFill>
                <a:latin typeface="+mj-lt"/>
                <a:cs typeface="Arial" pitchFamily="34" charset="0"/>
              </a:rPr>
              <a:t>Selection Sort</a:t>
            </a:r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F2E1F7-6704-4A67-B0A6-0EAF5404ADBA}"/>
              </a:ext>
            </a:extLst>
          </p:cNvPr>
          <p:cNvSpPr txBox="1"/>
          <p:nvPr/>
        </p:nvSpPr>
        <p:spPr>
          <a:xfrm>
            <a:off x="257311" y="386646"/>
            <a:ext cx="6932095" cy="7402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Selection sort is a sorting algorithm that selects the smallest element from an unsorted list in each iteration and places that element at the beginning of the unsorted list.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Steps: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Set the first element as minimum.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Compare minimum with the second element. If the second element is smaller than minimum, assign the second element as minimum.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9309F0-819F-6E26-03A9-4B2E56BFD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68" y="3286125"/>
            <a:ext cx="5612591" cy="14589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2767F3-9B4C-C208-DD7A-33893D2F9D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406" y="2995307"/>
            <a:ext cx="4788146" cy="421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88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CB451-09E3-4550-9A06-3D6054D5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8B56C8-2ECC-40CE-8512-1AB853C9BE30}"/>
              </a:ext>
            </a:extLst>
          </p:cNvPr>
          <p:cNvSpPr txBox="1"/>
          <p:nvPr/>
        </p:nvSpPr>
        <p:spPr>
          <a:xfrm>
            <a:off x="8004370" y="386646"/>
            <a:ext cx="3563066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5400" dirty="0">
                <a:solidFill>
                  <a:schemeClr val="bg1"/>
                </a:solidFill>
                <a:latin typeface="+mj-lt"/>
                <a:cs typeface="Arial" pitchFamily="34" charset="0"/>
              </a:rPr>
              <a:t>Selection Sort</a:t>
            </a:r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6D2B5B-A584-4BFF-9E64-E055DE8131F4}"/>
              </a:ext>
            </a:extLst>
          </p:cNvPr>
          <p:cNvSpPr txBox="1"/>
          <p:nvPr/>
        </p:nvSpPr>
        <p:spPr>
          <a:xfrm>
            <a:off x="9344297" y="5117571"/>
            <a:ext cx="2194562" cy="653238"/>
          </a:xfrm>
          <a:prstGeom prst="rect">
            <a:avLst/>
          </a:prstGeom>
          <a:noFill/>
        </p:spPr>
        <p:txBody>
          <a:bodyPr wrap="square" lIns="72000" tIns="72000" rIns="72000" bIns="72000" rtlCol="0" anchor="ctr">
            <a:spAutoFit/>
          </a:bodyPr>
          <a:lstStyle/>
          <a:p>
            <a:pPr algn="r"/>
            <a:r>
              <a:rPr lang="en-US" altLang="ko-KR" sz="1100" dirty="0">
                <a:solidFill>
                  <a:schemeClr val="bg1"/>
                </a:solidFill>
              </a:rPr>
              <a:t>Rearranging an collection (array) in ascending or descending order.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F2E1F7-6704-4A67-B0A6-0EAF5404ADBA}"/>
              </a:ext>
            </a:extLst>
          </p:cNvPr>
          <p:cNvSpPr txBox="1"/>
          <p:nvPr/>
        </p:nvSpPr>
        <p:spPr>
          <a:xfrm>
            <a:off x="257311" y="386646"/>
            <a:ext cx="8158027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Compare minimum with the third element.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Again, if the third element is smaller, then assign minimum to the third element otherwise do nothing.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The process goes on until the last element.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2500" dirty="0">
                <a:solidFill>
                  <a:schemeClr val="bg1"/>
                </a:solidFill>
                <a:cs typeface="Arial" pitchFamily="34" charset="0"/>
              </a:rPr>
              <a:t>After each iteration, minimum is placed in the front of the unsorted list.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2500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EA88B7-493C-2BEE-76D0-134DAC2FAF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327" y="2732596"/>
            <a:ext cx="4788146" cy="177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18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CB451-09E3-4550-9A06-3D6054D5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497207-2897-19DC-5BDB-FC856385C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82" y="150018"/>
            <a:ext cx="5693408" cy="65579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490571-87AF-BDB2-EEB6-E4B479EFD7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252" y="462671"/>
            <a:ext cx="6184622" cy="593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839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CB451-09E3-4550-9A06-3D6054D5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CFFDBE-ACED-5F1E-4567-C26B4980F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35" y="377688"/>
            <a:ext cx="6153282" cy="6208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B9F030-47AF-FBCF-8151-F0884C33AC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883" y="1079293"/>
            <a:ext cx="6086825" cy="450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56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CB451-09E3-4550-9A06-3D6054D5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8B56C8-2ECC-40CE-8512-1AB853C9BE30}"/>
              </a:ext>
            </a:extLst>
          </p:cNvPr>
          <p:cNvSpPr txBox="1"/>
          <p:nvPr/>
        </p:nvSpPr>
        <p:spPr>
          <a:xfrm>
            <a:off x="8004370" y="386646"/>
            <a:ext cx="3563066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5400" dirty="0">
                <a:solidFill>
                  <a:schemeClr val="bg1"/>
                </a:solidFill>
                <a:latin typeface="+mj-lt"/>
                <a:cs typeface="Arial" pitchFamily="34" charset="0"/>
              </a:rPr>
              <a:t>Selection Sort</a:t>
            </a:r>
            <a:endParaRPr lang="ko-KR" altLang="en-US" sz="54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F2E1F7-6704-4A67-B0A6-0EAF5404ADBA}"/>
              </a:ext>
            </a:extLst>
          </p:cNvPr>
          <p:cNvSpPr txBox="1"/>
          <p:nvPr/>
        </p:nvSpPr>
        <p:spPr>
          <a:xfrm>
            <a:off x="257311" y="386646"/>
            <a:ext cx="882953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Selection Algorithm: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3000" dirty="0">
              <a:solidFill>
                <a:schemeClr val="bg1"/>
              </a:solidFill>
              <a:cs typeface="Arial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3000" dirty="0" err="1">
                <a:solidFill>
                  <a:schemeClr val="bg1"/>
                </a:solidFill>
                <a:cs typeface="Arial" pitchFamily="34" charset="0"/>
              </a:rPr>
              <a:t>selectionSort</a:t>
            </a: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(array, size)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 for </a:t>
            </a:r>
            <a:r>
              <a:rPr lang="en-US" altLang="ko-KR" sz="3000" dirty="0" err="1">
                <a:solidFill>
                  <a:schemeClr val="bg1"/>
                </a:solidFill>
                <a:cs typeface="Arial" pitchFamily="34" charset="0"/>
              </a:rPr>
              <a:t>i</a:t>
            </a: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from 0 to size - 1 do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   set </a:t>
            </a:r>
            <a:r>
              <a:rPr lang="en-US" altLang="ko-KR" sz="3000" dirty="0" err="1">
                <a:solidFill>
                  <a:schemeClr val="bg1"/>
                </a:solidFill>
                <a:cs typeface="Arial" pitchFamily="34" charset="0"/>
              </a:rPr>
              <a:t>i</a:t>
            </a: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as the index of the current minimum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   for j from </a:t>
            </a:r>
            <a:r>
              <a:rPr lang="en-US" altLang="ko-KR" sz="3000" dirty="0" err="1">
                <a:solidFill>
                  <a:schemeClr val="bg1"/>
                </a:solidFill>
                <a:cs typeface="Arial" pitchFamily="34" charset="0"/>
              </a:rPr>
              <a:t>i</a:t>
            </a: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+ 1 to size - 1 do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     if array[j] &lt; array[current minimum]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       set j as the new current minimum index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   if current minimum is not </a:t>
            </a:r>
            <a:r>
              <a:rPr lang="en-US" altLang="ko-KR" sz="3000" dirty="0" err="1">
                <a:solidFill>
                  <a:schemeClr val="bg1"/>
                </a:solidFill>
                <a:cs typeface="Arial" pitchFamily="34" charset="0"/>
              </a:rPr>
              <a:t>i</a:t>
            </a:r>
            <a:endParaRPr lang="en-US" altLang="ko-KR" sz="3000" dirty="0">
              <a:solidFill>
                <a:schemeClr val="bg1"/>
              </a:solidFill>
              <a:cs typeface="Arial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     swap array[</a:t>
            </a:r>
            <a:r>
              <a:rPr lang="en-US" altLang="ko-KR" sz="3000" dirty="0" err="1">
                <a:solidFill>
                  <a:schemeClr val="bg1"/>
                </a:solidFill>
                <a:cs typeface="Arial" pitchFamily="34" charset="0"/>
              </a:rPr>
              <a:t>i</a:t>
            </a: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] with array[current minimum]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end </a:t>
            </a:r>
            <a:r>
              <a:rPr lang="en-US" altLang="ko-KR" sz="3000" dirty="0" err="1">
                <a:solidFill>
                  <a:schemeClr val="bg1"/>
                </a:solidFill>
                <a:cs typeface="Arial" pitchFamily="34" charset="0"/>
              </a:rPr>
              <a:t>selectionSort</a:t>
            </a:r>
            <a:endParaRPr lang="en-US" altLang="ko-KR" sz="30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923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CB451-09E3-4550-9A06-3D6054D5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F2E1F7-6704-4A67-B0A6-0EAF5404ADBA}"/>
              </a:ext>
            </a:extLst>
          </p:cNvPr>
          <p:cNvSpPr txBox="1"/>
          <p:nvPr/>
        </p:nvSpPr>
        <p:spPr>
          <a:xfrm>
            <a:off x="238261" y="-1221"/>
            <a:ext cx="10944089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import </a:t>
            </a:r>
            <a:r>
              <a:rPr lang="en-US" altLang="ko-KR" sz="3200" dirty="0" err="1">
                <a:solidFill>
                  <a:schemeClr val="bg1"/>
                </a:solidFill>
                <a:cs typeface="Arial" pitchFamily="34" charset="0"/>
              </a:rPr>
              <a:t>java.util.Arrays</a:t>
            </a:r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;</a:t>
            </a:r>
          </a:p>
          <a:p>
            <a:pPr algn="just"/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class </a:t>
            </a:r>
            <a:r>
              <a:rPr lang="en-US" altLang="ko-KR" sz="3200" dirty="0" err="1">
                <a:solidFill>
                  <a:schemeClr val="bg1"/>
                </a:solidFill>
                <a:cs typeface="Arial" pitchFamily="34" charset="0"/>
              </a:rPr>
              <a:t>SelectionSort</a:t>
            </a:r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 {</a:t>
            </a:r>
          </a:p>
          <a:p>
            <a:pPr algn="just"/>
            <a:endParaRPr lang="en-US" altLang="ko-KR" sz="3200" dirty="0">
              <a:solidFill>
                <a:schemeClr val="bg1"/>
              </a:solidFill>
              <a:cs typeface="Arial" pitchFamily="34" charset="0"/>
            </a:endParaRPr>
          </a:p>
          <a:p>
            <a:pPr algn="just"/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  void </a:t>
            </a:r>
            <a:r>
              <a:rPr lang="en-US" altLang="ko-KR" sz="3200" dirty="0" err="1">
                <a:solidFill>
                  <a:schemeClr val="bg1"/>
                </a:solidFill>
                <a:cs typeface="Arial" pitchFamily="34" charset="0"/>
              </a:rPr>
              <a:t>selectionSort</a:t>
            </a:r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(int array[]) {</a:t>
            </a:r>
          </a:p>
          <a:p>
            <a:pPr algn="just"/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    int size = </a:t>
            </a:r>
            <a:r>
              <a:rPr lang="en-US" altLang="ko-KR" sz="3200" dirty="0" err="1">
                <a:solidFill>
                  <a:schemeClr val="bg1"/>
                </a:solidFill>
                <a:cs typeface="Arial" pitchFamily="34" charset="0"/>
              </a:rPr>
              <a:t>array.length</a:t>
            </a:r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;</a:t>
            </a:r>
          </a:p>
          <a:p>
            <a:pPr algn="just"/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    for (int step = 0; step &lt; size - 1; step++) {</a:t>
            </a:r>
          </a:p>
          <a:p>
            <a:pPr algn="just"/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      int </a:t>
            </a:r>
            <a:r>
              <a:rPr lang="en-US" altLang="ko-KR" sz="3200" dirty="0" err="1">
                <a:solidFill>
                  <a:schemeClr val="bg1"/>
                </a:solidFill>
                <a:cs typeface="Arial" pitchFamily="34" charset="0"/>
              </a:rPr>
              <a:t>min_idx</a:t>
            </a:r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 = step;</a:t>
            </a:r>
          </a:p>
          <a:p>
            <a:pPr algn="just"/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      for (int </a:t>
            </a:r>
            <a:r>
              <a:rPr lang="en-US" altLang="ko-KR" sz="3200" dirty="0" err="1">
                <a:solidFill>
                  <a:schemeClr val="bg1"/>
                </a:solidFill>
                <a:cs typeface="Arial" pitchFamily="34" charset="0"/>
              </a:rPr>
              <a:t>i</a:t>
            </a:r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 = step + 1; </a:t>
            </a:r>
            <a:r>
              <a:rPr lang="en-US" altLang="ko-KR" sz="3200" dirty="0" err="1">
                <a:solidFill>
                  <a:schemeClr val="bg1"/>
                </a:solidFill>
                <a:cs typeface="Arial" pitchFamily="34" charset="0"/>
              </a:rPr>
              <a:t>i</a:t>
            </a:r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 &lt; size; </a:t>
            </a:r>
            <a:r>
              <a:rPr lang="en-US" altLang="ko-KR" sz="3200" dirty="0" err="1">
                <a:solidFill>
                  <a:schemeClr val="bg1"/>
                </a:solidFill>
                <a:cs typeface="Arial" pitchFamily="34" charset="0"/>
              </a:rPr>
              <a:t>i</a:t>
            </a:r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++) {</a:t>
            </a:r>
          </a:p>
          <a:p>
            <a:pPr algn="just"/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        // To sort in descending order, change &gt; to &lt; in this line.</a:t>
            </a:r>
          </a:p>
          <a:p>
            <a:pPr algn="just"/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        // Select the minimum element in each loop.</a:t>
            </a:r>
          </a:p>
          <a:p>
            <a:pPr algn="just"/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        if (array[</a:t>
            </a:r>
            <a:r>
              <a:rPr lang="en-US" altLang="ko-KR" sz="3200" dirty="0" err="1">
                <a:solidFill>
                  <a:schemeClr val="bg1"/>
                </a:solidFill>
                <a:cs typeface="Arial" pitchFamily="34" charset="0"/>
              </a:rPr>
              <a:t>i</a:t>
            </a:r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] &lt; array[</a:t>
            </a:r>
            <a:r>
              <a:rPr lang="en-US" altLang="ko-KR" sz="3200" dirty="0" err="1">
                <a:solidFill>
                  <a:schemeClr val="bg1"/>
                </a:solidFill>
                <a:cs typeface="Arial" pitchFamily="34" charset="0"/>
              </a:rPr>
              <a:t>min_idx</a:t>
            </a:r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]) {</a:t>
            </a:r>
          </a:p>
          <a:p>
            <a:pPr algn="just"/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          </a:t>
            </a:r>
            <a:r>
              <a:rPr lang="en-US" altLang="ko-KR" sz="3200" dirty="0" err="1">
                <a:solidFill>
                  <a:schemeClr val="bg1"/>
                </a:solidFill>
                <a:cs typeface="Arial" pitchFamily="34" charset="0"/>
              </a:rPr>
              <a:t>min_idx</a:t>
            </a:r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 = </a:t>
            </a:r>
            <a:r>
              <a:rPr lang="en-US" altLang="ko-KR" sz="3200" dirty="0" err="1">
                <a:solidFill>
                  <a:schemeClr val="bg1"/>
                </a:solidFill>
                <a:cs typeface="Arial" pitchFamily="34" charset="0"/>
              </a:rPr>
              <a:t>i</a:t>
            </a:r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;</a:t>
            </a:r>
          </a:p>
          <a:p>
            <a:pPr algn="just"/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        }</a:t>
            </a:r>
          </a:p>
          <a:p>
            <a:pPr algn="just"/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      }</a:t>
            </a:r>
          </a:p>
        </p:txBody>
      </p:sp>
    </p:spTree>
    <p:extLst>
      <p:ext uri="{BB962C8B-B14F-4D97-AF65-F5344CB8AC3E}">
        <p14:creationId xmlns:p14="http://schemas.microsoft.com/office/powerpoint/2010/main" val="158406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9CB451-09E3-4550-9A06-3D6054D5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F2E1F7-6704-4A67-B0A6-0EAF5404ADBA}"/>
              </a:ext>
            </a:extLst>
          </p:cNvPr>
          <p:cNvSpPr txBox="1"/>
          <p:nvPr/>
        </p:nvSpPr>
        <p:spPr>
          <a:xfrm>
            <a:off x="238261" y="-1221"/>
            <a:ext cx="10944089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// put min at the correct position</a:t>
            </a:r>
          </a:p>
          <a:p>
            <a:pPr algn="just"/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     int temp = array[step];</a:t>
            </a:r>
          </a:p>
          <a:p>
            <a:pPr algn="just"/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     array[step] = array[</a:t>
            </a:r>
            <a:r>
              <a:rPr lang="en-US" altLang="ko-KR" sz="3000" dirty="0" err="1">
                <a:solidFill>
                  <a:schemeClr val="bg1"/>
                </a:solidFill>
                <a:cs typeface="Arial" pitchFamily="34" charset="0"/>
              </a:rPr>
              <a:t>min_idx</a:t>
            </a: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];</a:t>
            </a:r>
          </a:p>
          <a:p>
            <a:pPr algn="just"/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     array[</a:t>
            </a:r>
            <a:r>
              <a:rPr lang="en-US" altLang="ko-KR" sz="3000" dirty="0" err="1">
                <a:solidFill>
                  <a:schemeClr val="bg1"/>
                </a:solidFill>
                <a:cs typeface="Arial" pitchFamily="34" charset="0"/>
              </a:rPr>
              <a:t>min_idx</a:t>
            </a: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] = temp;</a:t>
            </a:r>
          </a:p>
          <a:p>
            <a:pPr algn="just"/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   }</a:t>
            </a:r>
          </a:p>
          <a:p>
            <a:pPr algn="just"/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 }</a:t>
            </a:r>
          </a:p>
          <a:p>
            <a:pPr algn="just"/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 // driver code</a:t>
            </a:r>
          </a:p>
          <a:p>
            <a:pPr algn="just"/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 public static void main(String </a:t>
            </a:r>
            <a:r>
              <a:rPr lang="en-US" altLang="ko-KR" sz="3000" dirty="0" err="1">
                <a:solidFill>
                  <a:schemeClr val="bg1"/>
                </a:solidFill>
                <a:cs typeface="Arial" pitchFamily="34" charset="0"/>
              </a:rPr>
              <a:t>args</a:t>
            </a: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[]) {</a:t>
            </a:r>
          </a:p>
          <a:p>
            <a:pPr algn="just"/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   int[] data = { 20, 12, 10, 15, 2 };</a:t>
            </a:r>
          </a:p>
          <a:p>
            <a:pPr algn="just"/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   </a:t>
            </a:r>
            <a:r>
              <a:rPr lang="en-US" altLang="ko-KR" sz="3000" dirty="0" err="1">
                <a:solidFill>
                  <a:schemeClr val="bg1"/>
                </a:solidFill>
                <a:cs typeface="Arial" pitchFamily="34" charset="0"/>
              </a:rPr>
              <a:t>SelectionSort</a:t>
            </a: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ss = new </a:t>
            </a:r>
            <a:r>
              <a:rPr lang="en-US" altLang="ko-KR" sz="3000" dirty="0" err="1">
                <a:solidFill>
                  <a:schemeClr val="bg1"/>
                </a:solidFill>
                <a:cs typeface="Arial" pitchFamily="34" charset="0"/>
              </a:rPr>
              <a:t>SelectionSort</a:t>
            </a: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();</a:t>
            </a:r>
          </a:p>
          <a:p>
            <a:pPr algn="just"/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   </a:t>
            </a:r>
            <a:r>
              <a:rPr lang="en-US" altLang="ko-KR" sz="3000" dirty="0" err="1">
                <a:solidFill>
                  <a:schemeClr val="bg1"/>
                </a:solidFill>
                <a:cs typeface="Arial" pitchFamily="34" charset="0"/>
              </a:rPr>
              <a:t>ss.selectionSort</a:t>
            </a: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(data);</a:t>
            </a:r>
          </a:p>
          <a:p>
            <a:pPr algn="just"/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   </a:t>
            </a:r>
            <a:r>
              <a:rPr lang="en-US" altLang="ko-KR" sz="3000" dirty="0" err="1">
                <a:solidFill>
                  <a:schemeClr val="bg1"/>
                </a:solidFill>
                <a:cs typeface="Arial" pitchFamily="34" charset="0"/>
              </a:rPr>
              <a:t>System.out.println</a:t>
            </a: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("Sorted Array in Ascending Order: ");</a:t>
            </a:r>
          </a:p>
          <a:p>
            <a:pPr algn="just"/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   </a:t>
            </a:r>
            <a:r>
              <a:rPr lang="en-US" altLang="ko-KR" sz="3000" dirty="0" err="1">
                <a:solidFill>
                  <a:schemeClr val="bg1"/>
                </a:solidFill>
                <a:cs typeface="Arial" pitchFamily="34" charset="0"/>
              </a:rPr>
              <a:t>System.out.println</a:t>
            </a: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(</a:t>
            </a:r>
            <a:r>
              <a:rPr lang="en-US" altLang="ko-KR" sz="3000" dirty="0" err="1">
                <a:solidFill>
                  <a:schemeClr val="bg1"/>
                </a:solidFill>
                <a:cs typeface="Arial" pitchFamily="34" charset="0"/>
              </a:rPr>
              <a:t>Arrays.toString</a:t>
            </a:r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(data));</a:t>
            </a:r>
          </a:p>
          <a:p>
            <a:pPr algn="just"/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  }</a:t>
            </a:r>
          </a:p>
          <a:p>
            <a:pPr algn="just"/>
            <a:r>
              <a:rPr lang="en-US" altLang="ko-KR" sz="3000" dirty="0">
                <a:solidFill>
                  <a:schemeClr val="bg1"/>
                </a:solidFill>
                <a:cs typeface="Arial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5834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BD4908E-4155-42B5-AE60-1DD149DFB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455E00-B553-4287-ABD2-FABD276C9503}"/>
              </a:ext>
            </a:extLst>
          </p:cNvPr>
          <p:cNvSpPr txBox="1"/>
          <p:nvPr/>
        </p:nvSpPr>
        <p:spPr>
          <a:xfrm>
            <a:off x="458660" y="2596536"/>
            <a:ext cx="5370640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8000" b="1" dirty="0">
                <a:solidFill>
                  <a:schemeClr val="bg1"/>
                </a:solidFill>
                <a:cs typeface="Arial" pitchFamily="34" charset="0"/>
              </a:rPr>
              <a:t>THANK YOU</a:t>
            </a:r>
            <a:endParaRPr lang="ko-KR" altLang="en-US" sz="80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656516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4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20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4CCC6"/>
      </a:accent1>
      <a:accent2>
        <a:srgbClr val="F8D45E"/>
      </a:accent2>
      <a:accent3>
        <a:srgbClr val="F27161"/>
      </a:accent3>
      <a:accent4>
        <a:srgbClr val="7CC8EC"/>
      </a:accent4>
      <a:accent5>
        <a:srgbClr val="525168"/>
      </a:accent5>
      <a:accent6>
        <a:srgbClr val="1A6BA5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4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2956</TotalTime>
  <Words>986</Words>
  <Application>Microsoft Office PowerPoint</Application>
  <PresentationFormat>Widescreen</PresentationFormat>
  <Paragraphs>167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Paul Ojonugwa Alfa</cp:lastModifiedBy>
  <cp:revision>98</cp:revision>
  <dcterms:created xsi:type="dcterms:W3CDTF">2020-01-20T05:08:25Z</dcterms:created>
  <dcterms:modified xsi:type="dcterms:W3CDTF">2025-10-16T09:19:21Z</dcterms:modified>
</cp:coreProperties>
</file>