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7" r:id="rId3"/>
    <p:sldId id="257" r:id="rId4"/>
    <p:sldId id="258" r:id="rId5"/>
    <p:sldId id="275" r:id="rId6"/>
    <p:sldId id="273" r:id="rId7"/>
    <p:sldId id="274" r:id="rId8"/>
    <p:sldId id="259" r:id="rId9"/>
    <p:sldId id="260" r:id="rId10"/>
    <p:sldId id="261" r:id="rId11"/>
    <p:sldId id="262" r:id="rId12"/>
    <p:sldId id="276" r:id="rId13"/>
    <p:sldId id="263" r:id="rId14"/>
    <p:sldId id="264" r:id="rId15"/>
    <p:sldId id="270" r:id="rId16"/>
    <p:sldId id="271" r:id="rId17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32" d="100"/>
          <a:sy n="132" d="100"/>
        </p:scale>
        <p:origin x="1488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78712" y="958415"/>
            <a:ext cx="2452674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360914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3672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360914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399015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360914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72527"/>
            <a:ext cx="233172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1957" y="1230693"/>
            <a:ext cx="2249170" cy="758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81050" y="739775"/>
            <a:ext cx="3276600" cy="144783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5"/>
              </a:spcBef>
            </a:pP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r>
              <a:rPr lang="en-US" b="1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b="1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r>
              <a:rPr lang="en-US" b="1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</a:t>
            </a:r>
          </a:p>
          <a:p>
            <a:pPr algn="ctr">
              <a:lnSpc>
                <a:spcPct val="100000"/>
              </a:lnSpc>
            </a:pPr>
            <a:r>
              <a:rPr lang="en-US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CSC 423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DEB84-4330-5891-1A31-B02B5A170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CDEC9116-2B3E-4390-4841-5DD35246E2F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Data</a:t>
            </a:r>
            <a:r>
              <a:rPr spc="-35" dirty="0"/>
              <a:t> Types</a:t>
            </a:r>
            <a:r>
              <a:rPr spc="-30" dirty="0"/>
              <a:t> </a:t>
            </a:r>
            <a:r>
              <a:rPr spc="-35" dirty="0"/>
              <a:t>and</a:t>
            </a:r>
            <a:r>
              <a:rPr spc="-3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25" dirty="0"/>
              <a:t>Structures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F08B814-4322-5964-5159-61850A37922E}"/>
              </a:ext>
            </a:extLst>
          </p:cNvPr>
          <p:cNvSpPr txBox="1"/>
          <p:nvPr/>
        </p:nvSpPr>
        <p:spPr>
          <a:xfrm>
            <a:off x="1368386" y="1487346"/>
            <a:ext cx="1871345" cy="55015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0"/>
              </a:spcBef>
            </a:pPr>
            <a:r>
              <a:rPr sz="1100" spc="-55" dirty="0">
                <a:latin typeface="Arial MT"/>
                <a:cs typeface="Arial MT"/>
              </a:rPr>
              <a:t>Dare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Muyiwa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Mobolaji</a:t>
            </a: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4187739"/>
      </p:ext>
    </p:extLst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Learning</a:t>
            </a:r>
            <a:r>
              <a:rPr spc="-45" dirty="0"/>
              <a:t> </a:t>
            </a:r>
            <a:r>
              <a:rPr spc="-35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1188794"/>
            <a:ext cx="2639060" cy="64055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45" dirty="0">
                <a:latin typeface="Arial MT"/>
                <a:cs typeface="Arial MT"/>
              </a:rPr>
              <a:t>Understand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data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types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vs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data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structures</a:t>
            </a:r>
            <a:endParaRPr sz="1100" dirty="0">
              <a:latin typeface="Arial MT"/>
              <a:cs typeface="Arial MT"/>
            </a:endParaRPr>
          </a:p>
          <a:p>
            <a:pPr marL="215265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10" dirty="0">
                <a:latin typeface="Arial MT"/>
                <a:cs typeface="Arial MT"/>
              </a:rPr>
              <a:t>Identify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common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data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structures</a:t>
            </a:r>
            <a:endParaRPr sz="1100" dirty="0">
              <a:latin typeface="Arial MT"/>
              <a:cs typeface="Arial MT"/>
            </a:endParaRPr>
          </a:p>
          <a:p>
            <a:pPr marL="215265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10" dirty="0">
                <a:latin typeface="Arial MT"/>
                <a:cs typeface="Arial MT"/>
              </a:rPr>
              <a:t>Apply </a:t>
            </a:r>
            <a:r>
              <a:rPr sz="1100" spc="-35" dirty="0">
                <a:latin typeface="Arial MT"/>
                <a:cs typeface="Arial MT"/>
              </a:rPr>
              <a:t>structures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10" dirty="0">
                <a:latin typeface="Arial MT"/>
                <a:cs typeface="Arial MT"/>
              </a:rPr>
              <a:t> programming</a:t>
            </a:r>
            <a:endParaRPr sz="11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Data</a:t>
            </a:r>
            <a:r>
              <a:rPr spc="-25" dirty="0"/>
              <a:t> Type?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250" y="241356"/>
            <a:ext cx="4610100" cy="650819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75"/>
              </a:spcBef>
              <a:buClr>
                <a:srgbClr val="3333B2"/>
              </a:buClr>
              <a:tabLst>
                <a:tab pos="215265" algn="l"/>
              </a:tabLst>
            </a:pPr>
            <a:r>
              <a:rPr lang="en-US" sz="1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 d</a:t>
            </a:r>
            <a:r>
              <a:rPr sz="1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efines</a:t>
            </a:r>
            <a:r>
              <a:rPr sz="1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sz="1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operations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0220" lvl="1" indent="-165735">
              <a:lnSpc>
                <a:spcPts val="1200"/>
              </a:lnSpc>
              <a:buClr>
                <a:srgbClr val="3333B2"/>
              </a:buClr>
              <a:buFont typeface="Lucida Sans Unicode"/>
              <a:buChar char="►"/>
              <a:tabLst>
                <a:tab pos="490220" algn="l"/>
              </a:tabLst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8D3797-63B8-AEB5-EC17-190B7C7E1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7374"/>
            <a:ext cx="4610100" cy="273195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C103A-7106-ADBC-6604-B7510E2B6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F08B9C1F-321C-A200-6D1D-01BE15DC23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Data</a:t>
            </a:r>
            <a:r>
              <a:rPr spc="-25" dirty="0"/>
              <a:t> Type?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6A6622B-E119-3AF9-07E8-33F142B930AB}"/>
              </a:ext>
            </a:extLst>
          </p:cNvPr>
          <p:cNvSpPr txBox="1"/>
          <p:nvPr/>
        </p:nvSpPr>
        <p:spPr>
          <a:xfrm>
            <a:off x="0" y="398647"/>
            <a:ext cx="4610100" cy="2246128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75"/>
              </a:spcBef>
              <a:buClr>
                <a:srgbClr val="3333B2"/>
              </a:buClr>
              <a:tabLst>
                <a:tab pos="215265" algn="l"/>
              </a:tabLst>
            </a:pPr>
            <a:r>
              <a:rPr sz="1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</a:t>
            </a:r>
            <a:r>
              <a:rPr sz="1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sz="1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operations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0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tabLst>
                <a:tab pos="215265" algn="l"/>
              </a:tabLst>
            </a:pPr>
            <a:r>
              <a:rPr sz="1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myNum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5;                        // Integer (whole number)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myFloatNum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5.99f;     // Floating point number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myLetter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'D';               // Character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myBool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true;        // Boolean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myText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"Hello";     // String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0220" lvl="1" indent="-165735">
              <a:lnSpc>
                <a:spcPts val="1200"/>
              </a:lnSpc>
              <a:buClr>
                <a:srgbClr val="3333B2"/>
              </a:buClr>
              <a:buFont typeface="Lucida Sans Unicode"/>
              <a:buChar char="►"/>
              <a:tabLst>
                <a:tab pos="490220" algn="l"/>
              </a:tabLst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427067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AD713-FFA6-022E-FBB2-5E90433B2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E758FBD9-C03A-85E3-9E4C-71466E813F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Data</a:t>
            </a:r>
            <a:r>
              <a:rPr spc="-25" dirty="0"/>
              <a:t> Type?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EB447FC-32E8-A64A-C4DB-4D3079096BF7}"/>
              </a:ext>
            </a:extLst>
          </p:cNvPr>
          <p:cNvSpPr txBox="1"/>
          <p:nvPr/>
        </p:nvSpPr>
        <p:spPr>
          <a:xfrm>
            <a:off x="0" y="292918"/>
            <a:ext cx="4610100" cy="3557833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75"/>
              </a:spcBef>
              <a:buClr>
                <a:srgbClr val="3333B2"/>
              </a:buClr>
              <a:tabLst>
                <a:tab pos="215265" algn="l"/>
              </a:tabLst>
            </a:pPr>
            <a:r>
              <a:rPr lang="en-US" sz="1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 d</a:t>
            </a:r>
            <a:r>
              <a:rPr sz="1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efines</a:t>
            </a:r>
            <a:r>
              <a:rPr sz="1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sz="1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0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tabLst>
                <a:tab pos="215265" algn="l"/>
              </a:tabLst>
            </a:pPr>
            <a:r>
              <a:rPr sz="1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  </a:t>
            </a:r>
            <a:r>
              <a:rPr lang="en-US" sz="1400" dirty="0" err="1"/>
              <a:t>byte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whole numbers from -128 to 127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 </a:t>
            </a:r>
            <a:r>
              <a:rPr lang="en-US" sz="1400" dirty="0" err="1"/>
              <a:t>myByte</a:t>
            </a:r>
            <a:r>
              <a:rPr lang="en-US" sz="1400" dirty="0"/>
              <a:t> = 120;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8-bit signed integer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/>
              <a:t>Stores whole numbers from -32,768 to 32,767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 err="1"/>
              <a:t>myShort</a:t>
            </a:r>
            <a:r>
              <a:rPr lang="en-US" sz="1400" dirty="0"/>
              <a:t> = 32000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0220" lvl="1" indent="-165735">
              <a:lnSpc>
                <a:spcPts val="1200"/>
              </a:lnSpc>
              <a:buClr>
                <a:srgbClr val="3333B2"/>
              </a:buClr>
              <a:buFont typeface="Lucida Sans Unicode"/>
              <a:buChar char="►"/>
              <a:tabLst>
                <a:tab pos="490220" algn="l"/>
              </a:tabLst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172012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325C2-AD6B-FEEB-2976-2F65C8CEA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319B7D9E-3442-063B-1BD7-03BD3192D7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233172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 </a:t>
            </a:r>
            <a:r>
              <a:rPr dirty="0"/>
              <a:t>Data</a:t>
            </a:r>
            <a:r>
              <a:rPr spc="-25" dirty="0"/>
              <a:t> Type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00F0F69-809C-5626-B0B2-E3459DADCB79}"/>
              </a:ext>
            </a:extLst>
          </p:cNvPr>
          <p:cNvSpPr txBox="1"/>
          <p:nvPr/>
        </p:nvSpPr>
        <p:spPr>
          <a:xfrm>
            <a:off x="0" y="292918"/>
            <a:ext cx="4610100" cy="278409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fractional numbers. Sufficient for storing 15 to 16 decimal digits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Double: 64-bit floating-point number</a:t>
            </a:r>
            <a:br>
              <a:rPr lang="en-US" sz="1600" dirty="0"/>
            </a:br>
            <a:r>
              <a:rPr lang="en-US" sz="1600" dirty="0"/>
              <a:t>double </a:t>
            </a:r>
            <a:r>
              <a:rPr lang="en-US" sz="1600" dirty="0" err="1"/>
              <a:t>myDouble</a:t>
            </a:r>
            <a:r>
              <a:rPr lang="en-US" sz="1600" dirty="0"/>
              <a:t> = 12345.6789;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0220" lvl="1" indent="-165735">
              <a:lnSpc>
                <a:spcPts val="1200"/>
              </a:lnSpc>
              <a:buClr>
                <a:srgbClr val="3333B2"/>
              </a:buClr>
              <a:buFont typeface="Lucida Sans Unicode"/>
              <a:buChar char="►"/>
              <a:tabLst>
                <a:tab pos="490220" algn="l"/>
              </a:tabLst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067311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Data</a:t>
            </a:r>
            <a:r>
              <a:rPr spc="-45" dirty="0"/>
              <a:t> </a:t>
            </a:r>
            <a:r>
              <a:rPr spc="-35" dirty="0"/>
              <a:t>Types</a:t>
            </a:r>
            <a:r>
              <a:rPr spc="-40" dirty="0"/>
              <a:t> </a:t>
            </a:r>
            <a:r>
              <a:rPr spc="-10" dirty="0"/>
              <a:t>vs</a:t>
            </a:r>
            <a:r>
              <a:rPr spc="-40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spc="-25" dirty="0"/>
              <a:t>Structures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39775"/>
            <a:ext cx="3176956" cy="1034899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400" dirty="0">
                <a:solidFill>
                  <a:srgbClr val="3333B2"/>
                </a:solidFill>
                <a:latin typeface="Tahoma"/>
                <a:cs typeface="Tahoma"/>
              </a:rPr>
              <a:t>Data</a:t>
            </a:r>
            <a:r>
              <a:rPr sz="1400" spc="-8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333B2"/>
                </a:solidFill>
                <a:latin typeface="Tahoma"/>
                <a:cs typeface="Tahoma"/>
              </a:rPr>
              <a:t>Types</a:t>
            </a:r>
            <a:endParaRPr sz="1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400" spc="-50" dirty="0">
                <a:latin typeface="Arial MT"/>
                <a:cs typeface="Arial MT"/>
              </a:rPr>
              <a:t>Single</a:t>
            </a:r>
            <a:r>
              <a:rPr sz="1400" spc="50" dirty="0">
                <a:latin typeface="Arial MT"/>
                <a:cs typeface="Arial MT"/>
              </a:rPr>
              <a:t> </a:t>
            </a:r>
            <a:r>
              <a:rPr sz="1400" spc="-55" dirty="0">
                <a:latin typeface="Arial MT"/>
                <a:cs typeface="Arial MT"/>
              </a:rPr>
              <a:t>value</a:t>
            </a:r>
            <a:r>
              <a:rPr sz="1400" spc="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(int,</a:t>
            </a:r>
            <a:r>
              <a:rPr sz="1400" spc="5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float</a:t>
            </a:r>
            <a:r>
              <a:rPr lang="en-US" sz="1400" spc="-10" dirty="0">
                <a:latin typeface="Arial MT"/>
                <a:cs typeface="Arial MT"/>
              </a:rPr>
              <a:t>,…</a:t>
            </a:r>
            <a:r>
              <a:rPr sz="1400" spc="-10" dirty="0">
                <a:latin typeface="Arial MT"/>
                <a:cs typeface="Arial MT"/>
              </a:rPr>
              <a:t>)</a:t>
            </a:r>
            <a:endParaRPr sz="1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400" dirty="0">
                <a:solidFill>
                  <a:srgbClr val="3333B2"/>
                </a:solidFill>
                <a:latin typeface="Tahoma"/>
                <a:cs typeface="Tahoma"/>
              </a:rPr>
              <a:t>Data</a:t>
            </a:r>
            <a:r>
              <a:rPr sz="1400" spc="-8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333B2"/>
                </a:solidFill>
                <a:latin typeface="Tahoma"/>
                <a:cs typeface="Tahoma"/>
              </a:rPr>
              <a:t>Structures</a:t>
            </a:r>
            <a:endParaRPr sz="1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400" spc="-35" dirty="0">
                <a:latin typeface="Arial MT"/>
                <a:cs typeface="Arial MT"/>
              </a:rPr>
              <a:t>Collection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70" dirty="0">
                <a:latin typeface="Arial MT"/>
                <a:cs typeface="Arial MT"/>
              </a:rPr>
              <a:t>values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lang="en-US" sz="1400" spc="15" dirty="0">
                <a:latin typeface="Arial MT"/>
                <a:cs typeface="Arial MT"/>
              </a:rPr>
              <a:t>(</a:t>
            </a:r>
            <a:r>
              <a:rPr lang="en-US" sz="1400" spc="15" dirty="0" err="1">
                <a:latin typeface="Arial MT"/>
                <a:cs typeface="Arial MT"/>
              </a:rPr>
              <a:t>Array,Trees</a:t>
            </a:r>
            <a:r>
              <a:rPr lang="en-US" sz="1400" spc="15" dirty="0">
                <a:latin typeface="Arial MT"/>
                <a:cs typeface="Arial MT"/>
              </a:rPr>
              <a:t>,…)</a:t>
            </a: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Classification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71450" y="587375"/>
            <a:ext cx="2249170" cy="75882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285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40" dirty="0"/>
              <a:t>Linear</a:t>
            </a:r>
            <a:r>
              <a:rPr sz="1100" spc="-25" dirty="0"/>
              <a:t> </a:t>
            </a:r>
            <a:r>
              <a:rPr sz="1100" spc="-10" dirty="0"/>
              <a:t>Structures:</a:t>
            </a:r>
            <a:endParaRPr sz="1100" dirty="0"/>
          </a:p>
          <a:p>
            <a:pPr marL="490220" lvl="1" indent="-165735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buFont typeface="Lucida Sans Unicode"/>
              <a:buChar char="►"/>
              <a:tabLst>
                <a:tab pos="490220" algn="l"/>
              </a:tabLst>
            </a:pPr>
            <a:r>
              <a:rPr sz="1000" spc="-30" dirty="0">
                <a:latin typeface="Arial MT"/>
                <a:cs typeface="Arial MT"/>
              </a:rPr>
              <a:t>Array,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Linked</a:t>
            </a:r>
            <a:r>
              <a:rPr sz="1000" dirty="0">
                <a:latin typeface="Arial MT"/>
                <a:cs typeface="Arial MT"/>
              </a:rPr>
              <a:t> List,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Stack,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Queue</a:t>
            </a:r>
            <a:endParaRPr sz="1000" dirty="0">
              <a:latin typeface="Arial MT"/>
              <a:cs typeface="Arial MT"/>
            </a:endParaRPr>
          </a:p>
          <a:p>
            <a:pPr marL="215265" indent="-177165">
              <a:lnSpc>
                <a:spcPct val="100000"/>
              </a:lnSpc>
              <a:spcBef>
                <a:spcPts val="195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60" dirty="0"/>
              <a:t>Non-</a:t>
            </a:r>
            <a:r>
              <a:rPr sz="1100" spc="-25" dirty="0"/>
              <a:t>linear</a:t>
            </a:r>
            <a:r>
              <a:rPr sz="1100" spc="-5" dirty="0"/>
              <a:t> </a:t>
            </a:r>
            <a:r>
              <a:rPr sz="1100" spc="-10" dirty="0"/>
              <a:t>Structures:</a:t>
            </a:r>
            <a:endParaRPr sz="1100" dirty="0"/>
          </a:p>
          <a:p>
            <a:pPr marL="490220" lvl="1" indent="-165735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buFont typeface="Lucida Sans Unicode"/>
              <a:buChar char="►"/>
              <a:tabLst>
                <a:tab pos="490220" algn="l"/>
              </a:tabLst>
            </a:pPr>
            <a:r>
              <a:rPr sz="1000" spc="-50" dirty="0">
                <a:latin typeface="Arial MT"/>
                <a:cs typeface="Arial MT"/>
              </a:rPr>
              <a:t>Trees,</a:t>
            </a:r>
            <a:r>
              <a:rPr sz="1000" spc="-10" dirty="0">
                <a:latin typeface="Arial MT"/>
                <a:cs typeface="Arial MT"/>
              </a:rPr>
              <a:t> Graphs</a:t>
            </a:r>
            <a:endParaRPr sz="10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72527"/>
            <a:ext cx="11766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3333B2"/>
                </a:solidFill>
                <a:latin typeface="Tahoma"/>
                <a:cs typeface="Tahoma"/>
              </a:rPr>
              <a:t>Array</a:t>
            </a:r>
            <a:r>
              <a:rPr sz="1400" spc="-10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3333B2"/>
                </a:solidFill>
                <a:latin typeface="Tahoma"/>
                <a:cs typeface="Tahoma"/>
              </a:rPr>
              <a:t>Structure</a:t>
            </a:r>
            <a:endParaRPr sz="14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674706"/>
              </p:ext>
            </p:extLst>
          </p:nvPr>
        </p:nvGraphicFramePr>
        <p:xfrm>
          <a:off x="1404938" y="968375"/>
          <a:ext cx="1800223" cy="359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410"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10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20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30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40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50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72527"/>
            <a:ext cx="8382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solidFill>
                  <a:srgbClr val="3333B2"/>
                </a:solidFill>
                <a:latin typeface="Tahoma"/>
                <a:cs typeface="Tahoma"/>
              </a:rPr>
              <a:t>Linked</a:t>
            </a:r>
            <a:r>
              <a:rPr sz="1400" spc="-7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3333B2"/>
                </a:solidFill>
                <a:latin typeface="Tahoma"/>
                <a:cs typeface="Tahoma"/>
              </a:rPr>
              <a:t>List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60F0485-1EE6-FBCC-1A99-A1365D793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2901"/>
            <a:ext cx="4610100" cy="179494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45025DE-E461-F17C-AFFA-DB7A4BE0B986}"/>
              </a:ext>
            </a:extLst>
          </p:cNvPr>
          <p:cNvSpPr txBox="1"/>
          <p:nvPr/>
        </p:nvSpPr>
        <p:spPr>
          <a:xfrm>
            <a:off x="919893" y="2712410"/>
            <a:ext cx="2304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search,insertion</a:t>
            </a:r>
            <a:r>
              <a:rPr lang="en-US" dirty="0"/>
              <a:t> and delete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F11D8-7B43-7DBC-9D89-C3983F42B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301DCE4-6B7B-B90C-FD76-2A7EFDFCEF0F}"/>
              </a:ext>
            </a:extLst>
          </p:cNvPr>
          <p:cNvSpPr txBox="1"/>
          <p:nvPr/>
        </p:nvSpPr>
        <p:spPr>
          <a:xfrm>
            <a:off x="95300" y="72527"/>
            <a:ext cx="8382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solidFill>
                  <a:srgbClr val="3333B2"/>
                </a:solidFill>
                <a:latin typeface="Tahoma"/>
                <a:cs typeface="Tahoma"/>
              </a:rPr>
              <a:t>Linked</a:t>
            </a:r>
            <a:r>
              <a:rPr sz="1400" spc="-7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3333B2"/>
                </a:solidFill>
                <a:latin typeface="Tahoma"/>
                <a:cs typeface="Tahoma"/>
              </a:rPr>
              <a:t>List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DDCB05-CC72-F2C4-CD07-73B2629AF179}"/>
              </a:ext>
            </a:extLst>
          </p:cNvPr>
          <p:cNvSpPr txBox="1"/>
          <p:nvPr/>
        </p:nvSpPr>
        <p:spPr>
          <a:xfrm>
            <a:off x="919893" y="2712410"/>
            <a:ext cx="2304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search,insertion</a:t>
            </a:r>
            <a:r>
              <a:rPr lang="en-US" dirty="0"/>
              <a:t> and delete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5B02C6-06C0-D622-764E-0303E9DAA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6894"/>
            <a:ext cx="4610100" cy="128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700956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72527"/>
            <a:ext cx="101091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3333B2"/>
                </a:solidFill>
                <a:latin typeface="Tahoma"/>
                <a:cs typeface="Tahoma"/>
              </a:rPr>
              <a:t>Stack</a:t>
            </a:r>
            <a:r>
              <a:rPr sz="1400" spc="-4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333B2"/>
                </a:solidFill>
                <a:latin typeface="Tahoma"/>
                <a:cs typeface="Tahoma"/>
              </a:rPr>
              <a:t>(LIFO)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2E6DBD-3C11-BE9F-429C-005518B94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6387"/>
            <a:ext cx="4610100" cy="196797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72527"/>
            <a:ext cx="10750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5" dirty="0">
                <a:solidFill>
                  <a:srgbClr val="3333B2"/>
                </a:solidFill>
                <a:latin typeface="Tahoma"/>
                <a:cs typeface="Tahoma"/>
              </a:rPr>
              <a:t>Queue</a:t>
            </a:r>
            <a:r>
              <a:rPr sz="1400" spc="-2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333B2"/>
                </a:solidFill>
                <a:latin typeface="Tahoma"/>
                <a:cs typeface="Tahoma"/>
              </a:rPr>
              <a:t>(FIFO)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FD49E-655F-64A7-A484-0D87D744F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9867"/>
            <a:ext cx="4610100" cy="170101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1188794"/>
            <a:ext cx="1757680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25" dirty="0">
                <a:latin typeface="Arial MT"/>
                <a:cs typeface="Arial MT"/>
              </a:rPr>
              <a:t>Stack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1100" spc="-45" dirty="0">
                <a:latin typeface="Arial MT"/>
                <a:cs typeface="Arial MT"/>
              </a:rPr>
              <a:t>Undo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operations</a:t>
            </a:r>
            <a:endParaRPr sz="1100">
              <a:latin typeface="Arial MT"/>
              <a:cs typeface="Arial MT"/>
            </a:endParaRPr>
          </a:p>
          <a:p>
            <a:pPr marL="215265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80" dirty="0">
                <a:latin typeface="Arial MT"/>
                <a:cs typeface="Arial MT"/>
              </a:rPr>
              <a:t>Queue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20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Arial MT"/>
                <a:cs typeface="Arial MT"/>
              </a:rPr>
              <a:t>Scheduling</a:t>
            </a:r>
            <a:endParaRPr sz="1100">
              <a:latin typeface="Arial MT"/>
              <a:cs typeface="Arial MT"/>
            </a:endParaRPr>
          </a:p>
          <a:p>
            <a:pPr marL="215265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75" dirty="0">
                <a:latin typeface="Arial MT"/>
                <a:cs typeface="Arial MT"/>
              </a:rPr>
              <a:t>Trees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10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Arial MT"/>
                <a:cs typeface="Arial MT"/>
              </a:rPr>
              <a:t>Databases</a:t>
            </a:r>
            <a:endParaRPr sz="1100">
              <a:latin typeface="Arial MT"/>
              <a:cs typeface="Arial MT"/>
            </a:endParaRPr>
          </a:p>
          <a:p>
            <a:pPr marL="215265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75" dirty="0">
                <a:latin typeface="Arial MT"/>
                <a:cs typeface="Arial MT"/>
              </a:rPr>
              <a:t>Graphs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25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Arial MT"/>
                <a:cs typeface="Arial MT"/>
              </a:rPr>
              <a:t>Networks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650" y="587375"/>
            <a:ext cx="3198495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dirty="0">
                <a:latin typeface="Arial MT"/>
                <a:cs typeface="Arial MT"/>
              </a:rPr>
              <a:t>Data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types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define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values</a:t>
            </a:r>
            <a:endParaRPr sz="1100" dirty="0">
              <a:latin typeface="Arial MT"/>
              <a:cs typeface="Arial MT"/>
            </a:endParaRPr>
          </a:p>
          <a:p>
            <a:pPr marL="215265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dirty="0">
                <a:latin typeface="Arial MT"/>
                <a:cs typeface="Arial MT"/>
              </a:rPr>
              <a:t>Data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structures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organize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data</a:t>
            </a:r>
            <a:endParaRPr sz="1100" dirty="0">
              <a:latin typeface="Arial MT"/>
              <a:cs typeface="Arial MT"/>
            </a:endParaRPr>
          </a:p>
          <a:p>
            <a:pPr marL="215265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55" dirty="0">
                <a:latin typeface="Arial MT"/>
                <a:cs typeface="Arial MT"/>
              </a:rPr>
              <a:t>Choosing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right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structure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improves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performance</a:t>
            </a:r>
            <a:endParaRPr sz="11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</TotalTime>
  <Words>279</Words>
  <Application>Microsoft Office PowerPoint</Application>
  <PresentationFormat>Custom</PresentationFormat>
  <Paragraphs>65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 MT</vt:lpstr>
      <vt:lpstr>Lucida Sans Unicode</vt:lpstr>
      <vt:lpstr>Tahoma</vt:lpstr>
      <vt:lpstr>Times New Roman</vt:lpstr>
      <vt:lpstr>Wingdings</vt:lpstr>
      <vt:lpstr>Office Theme</vt:lpstr>
      <vt:lpstr>PowerPoint Presentation</vt:lpstr>
      <vt:lpstr>Data Types and Data Structures</vt:lpstr>
      <vt:lpstr>Learning Objectives</vt:lpstr>
      <vt:lpstr>What is a Data Type?</vt:lpstr>
      <vt:lpstr>What is a Data Type?</vt:lpstr>
      <vt:lpstr>What is a Data Type?</vt:lpstr>
      <vt:lpstr> Data Type</vt:lpstr>
      <vt:lpstr>Data Types vs Data Structures</vt:lpstr>
      <vt:lpstr>Classification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Types and Data Structures</dc:title>
  <dc:creator>Dare Muyiwa Mobolaji</dc:creator>
  <cp:lastModifiedBy>USER</cp:lastModifiedBy>
  <cp:revision>19</cp:revision>
  <dcterms:created xsi:type="dcterms:W3CDTF">2026-04-07T06:06:42Z</dcterms:created>
  <dcterms:modified xsi:type="dcterms:W3CDTF">2026-04-07T09:27:56Z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2026-04-07T00:00:00Z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