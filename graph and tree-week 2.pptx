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4846" y="197357"/>
            <a:ext cx="9322307" cy="1994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82977" y="2642218"/>
            <a:ext cx="8226044" cy="2387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31898" y="965453"/>
            <a:ext cx="7729855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46075" rIns="0" bIns="0" rtlCol="0">
            <a:spAutoFit/>
          </a:bodyPr>
          <a:lstStyle/>
          <a:p>
            <a:pPr marR="20955" algn="ctr">
              <a:lnSpc>
                <a:spcPct val="100000"/>
              </a:lnSpc>
              <a:spcBef>
                <a:spcPts val="2725"/>
              </a:spcBef>
            </a:pPr>
            <a:r>
              <a:rPr sz="2800" spc="120" dirty="0">
                <a:solidFill>
                  <a:srgbClr val="0D0D0D"/>
                </a:solidFill>
              </a:rPr>
              <a:t>KEY</a:t>
            </a:r>
            <a:r>
              <a:rPr sz="2800" spc="305" dirty="0">
                <a:solidFill>
                  <a:srgbClr val="0D0D0D"/>
                </a:solidFill>
              </a:rPr>
              <a:t> </a:t>
            </a:r>
            <a:r>
              <a:rPr sz="2800" spc="155" dirty="0">
                <a:solidFill>
                  <a:srgbClr val="0D0D0D"/>
                </a:solidFill>
              </a:rPr>
              <a:t>POINTS</a:t>
            </a:r>
            <a:r>
              <a:rPr sz="2800" spc="395" dirty="0">
                <a:solidFill>
                  <a:srgbClr val="0D0D0D"/>
                </a:solidFill>
              </a:rPr>
              <a:t> </a:t>
            </a:r>
            <a:r>
              <a:rPr sz="2800" spc="85" dirty="0">
                <a:solidFill>
                  <a:srgbClr val="0D0D0D"/>
                </a:solidFill>
              </a:rPr>
              <a:t>OF</a:t>
            </a:r>
            <a:r>
              <a:rPr sz="2800" spc="305" dirty="0">
                <a:solidFill>
                  <a:srgbClr val="0D0D0D"/>
                </a:solidFill>
              </a:rPr>
              <a:t> </a:t>
            </a:r>
            <a:r>
              <a:rPr sz="2800" spc="155" dirty="0">
                <a:solidFill>
                  <a:srgbClr val="0D0D0D"/>
                </a:solidFill>
              </a:rPr>
              <a:t>CHAPTER</a:t>
            </a:r>
            <a:r>
              <a:rPr sz="2800" spc="420" dirty="0">
                <a:solidFill>
                  <a:srgbClr val="0D0D0D"/>
                </a:solidFill>
              </a:rPr>
              <a:t> </a:t>
            </a:r>
            <a:r>
              <a:rPr sz="2800" spc="-50" dirty="0">
                <a:solidFill>
                  <a:srgbClr val="0D0D0D"/>
                </a:solidFill>
              </a:rPr>
              <a:t>6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310129" y="2536919"/>
            <a:ext cx="4890770" cy="283591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Graphs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Trees.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Graphs</a:t>
            </a:r>
            <a:r>
              <a:rPr sz="1800" spc="-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Terminology.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Categories</a:t>
            </a:r>
            <a:r>
              <a:rPr sz="1800" spc="-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Graphs.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Types</a:t>
            </a:r>
            <a:r>
              <a:rPr sz="18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18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Graphs.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Trees</a:t>
            </a:r>
            <a:r>
              <a:rPr sz="1800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Terminology.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Key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 Differences</a:t>
            </a:r>
            <a:r>
              <a:rPr sz="1800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Between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Graphs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-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Trees.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Representation</a:t>
            </a:r>
            <a:r>
              <a:rPr sz="1800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Graphs</a:t>
            </a:r>
            <a:r>
              <a:rPr sz="1800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-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Trees</a:t>
            </a:r>
            <a:r>
              <a:rPr sz="1800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Computers.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2860" algn="ctr">
              <a:lnSpc>
                <a:spcPct val="100000"/>
              </a:lnSpc>
            </a:pPr>
            <a:r>
              <a:rPr sz="2400" spc="145" dirty="0"/>
              <a:t>TREES</a:t>
            </a:r>
            <a:r>
              <a:rPr sz="2400" spc="275" dirty="0"/>
              <a:t> </a:t>
            </a:r>
            <a:r>
              <a:rPr sz="2400" spc="110" dirty="0"/>
              <a:t>AND</a:t>
            </a:r>
            <a:r>
              <a:rPr sz="2400" spc="430" dirty="0"/>
              <a:t> </a:t>
            </a:r>
            <a:r>
              <a:rPr sz="2400" spc="145" dirty="0"/>
              <a:t>GRAPHS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870075" y="2642218"/>
            <a:ext cx="8250555" cy="1303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73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Trees</a:t>
            </a:r>
            <a:r>
              <a:rPr sz="1800" spc="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graphs</a:t>
            </a:r>
            <a:r>
              <a:rPr sz="1800" spc="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sz="1800" spc="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both</a:t>
            </a:r>
            <a:r>
              <a:rPr sz="1800" spc="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abstract</a:t>
            </a:r>
            <a:r>
              <a:rPr sz="1800" spc="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data</a:t>
            </a:r>
            <a:r>
              <a:rPr sz="1800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structures.</a:t>
            </a:r>
            <a:r>
              <a:rPr sz="1800" spc="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They</a:t>
            </a:r>
            <a:r>
              <a:rPr sz="1800" spc="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sz="1800" spc="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1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non-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linear</a:t>
            </a:r>
            <a:r>
              <a:rPr sz="1800" b="1" spc="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collection</a:t>
            </a:r>
            <a:r>
              <a:rPr sz="1800" spc="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objects,</a:t>
            </a:r>
            <a:r>
              <a:rPr sz="1800" spc="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which</a:t>
            </a:r>
            <a:r>
              <a:rPr sz="1800" spc="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means</a:t>
            </a:r>
            <a:r>
              <a:rPr sz="1800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that</a:t>
            </a:r>
            <a:r>
              <a:rPr sz="1800" spc="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there</a:t>
            </a:r>
            <a:r>
              <a:rPr sz="1800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1800" spc="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no</a:t>
            </a:r>
            <a:r>
              <a:rPr sz="1800" b="1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sequence</a:t>
            </a:r>
            <a:r>
              <a:rPr sz="1800" b="1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between</a:t>
            </a:r>
            <a:r>
              <a:rPr sz="1800" b="1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their</a:t>
            </a:r>
            <a:r>
              <a:rPr sz="1800" b="1" spc="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elements</a:t>
            </a:r>
            <a:r>
              <a:rPr sz="1800" b="1" spc="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sz="1800" spc="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it</a:t>
            </a:r>
            <a:r>
              <a:rPr sz="1800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exists</a:t>
            </a:r>
            <a:r>
              <a:rPr sz="1800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in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linear</a:t>
            </a:r>
            <a:r>
              <a:rPr sz="18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data</a:t>
            </a:r>
            <a:r>
              <a:rPr sz="18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structures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like</a:t>
            </a:r>
            <a:r>
              <a:rPr sz="18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stacks</a:t>
            </a:r>
            <a:r>
              <a:rPr sz="1800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queues.</a:t>
            </a:r>
            <a:endParaRPr sz="18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Trees</a:t>
            </a:r>
            <a:r>
              <a:rPr sz="1800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graphs</a:t>
            </a:r>
            <a:r>
              <a:rPr sz="1800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data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structures</a:t>
            </a:r>
            <a:r>
              <a:rPr sz="1800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used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resolve</a:t>
            </a:r>
            <a:r>
              <a:rPr sz="1800" spc="-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various</a:t>
            </a:r>
            <a:r>
              <a:rPr sz="1800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complex</a:t>
            </a:r>
            <a:r>
              <a:rPr sz="1800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problems.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942" y="2263901"/>
            <a:ext cx="7580376" cy="1601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02942" y="2263901"/>
            <a:ext cx="7580630" cy="1602105"/>
          </a:xfrm>
          <a:prstGeom prst="rect">
            <a:avLst/>
          </a:prstGeom>
          <a:ln w="28575">
            <a:solidFill>
              <a:srgbClr val="684205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0"/>
              </a:spcBef>
            </a:pP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0D0D0D"/>
                </a:solidFill>
              </a:rPr>
              <a:t>Graphs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28394" y="412241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19050" algn="ctr">
              <a:lnSpc>
                <a:spcPct val="100000"/>
              </a:lnSpc>
            </a:pPr>
            <a:r>
              <a:rPr sz="2400" spc="145" dirty="0"/>
              <a:t>GRAPHS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94156" y="2030095"/>
            <a:ext cx="4906010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 algn="just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1800" spc="2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graph</a:t>
            </a:r>
            <a:r>
              <a:rPr sz="1800" spc="40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can</a:t>
            </a:r>
            <a:r>
              <a:rPr sz="1800" spc="4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also</a:t>
            </a:r>
            <a:r>
              <a:rPr sz="1800" spc="4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be</a:t>
            </a:r>
            <a:r>
              <a:rPr sz="1800" spc="409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defined</a:t>
            </a:r>
            <a:r>
              <a:rPr sz="1800" spc="4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sz="1800" spc="40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1800" spc="40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collection</a:t>
            </a:r>
            <a:r>
              <a:rPr sz="1800" spc="409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entities</a:t>
            </a:r>
            <a:r>
              <a:rPr sz="1800" spc="2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called</a:t>
            </a:r>
            <a:r>
              <a:rPr sz="1800" spc="3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vertices</a:t>
            </a:r>
            <a:r>
              <a:rPr sz="1800" b="1" spc="2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(nodes/points),</a:t>
            </a:r>
            <a:r>
              <a:rPr sz="1800" spc="2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connected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sz="1800" spc="2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each</a:t>
            </a:r>
            <a:r>
              <a:rPr sz="1800" spc="2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other</a:t>
            </a:r>
            <a:r>
              <a:rPr sz="1800" spc="2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through</a:t>
            </a:r>
            <a:r>
              <a:rPr sz="1800" spc="2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1800" spc="2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set</a:t>
            </a:r>
            <a:r>
              <a:rPr sz="1800" spc="2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1800" spc="2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edges.</a:t>
            </a:r>
            <a:r>
              <a:rPr sz="1800" spc="229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1800" spc="2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set</a:t>
            </a:r>
            <a:r>
              <a:rPr sz="1800" spc="2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3061" y="2930778"/>
            <a:ext cx="4676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5490" algn="l"/>
                <a:tab pos="1962150" algn="l"/>
                <a:tab pos="3013075" algn="l"/>
                <a:tab pos="3492500" algn="l"/>
              </a:tabLst>
            </a:pPr>
            <a:r>
              <a:rPr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edges</a:t>
            </a:r>
            <a:r>
              <a:rPr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(lines/arcs)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describes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relationships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156" y="3103856"/>
            <a:ext cx="4102100" cy="160718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between</a:t>
            </a:r>
            <a:r>
              <a:rPr sz="1800" spc="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the </a:t>
            </a:r>
            <a:r>
              <a:rPr sz="1800" spc="-10" dirty="0">
                <a:solidFill>
                  <a:srgbClr val="0D0D0D"/>
                </a:solidFill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43900"/>
              </a:lnSpc>
              <a:spcBef>
                <a:spcPts val="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defined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follows:</a:t>
            </a:r>
            <a:r>
              <a:rPr sz="1800" spc="-45" dirty="0">
                <a:solidFill>
                  <a:srgbClr val="252525"/>
                </a:solidFill>
                <a:latin typeface="Times New Roman"/>
                <a:cs typeface="Times New Roman"/>
              </a:rPr>
              <a:t> G=(V,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E)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V(G):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finite,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nonempty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E(G):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 set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edges.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82473" y="1996757"/>
            <a:ext cx="3489325" cy="2631440"/>
            <a:chOff x="6582473" y="1996757"/>
            <a:chExt cx="3489325" cy="26314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1111" y="2025396"/>
              <a:ext cx="3432048" cy="25740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96760" y="2011045"/>
              <a:ext cx="3460750" cy="2602865"/>
            </a:xfrm>
            <a:custGeom>
              <a:avLst/>
              <a:gdLst/>
              <a:ahLst/>
              <a:cxnLst/>
              <a:rect l="l" t="t" r="r" b="b"/>
              <a:pathLst>
                <a:path w="3460750" h="2602865">
                  <a:moveTo>
                    <a:pt x="0" y="2602610"/>
                  </a:moveTo>
                  <a:lnTo>
                    <a:pt x="3460623" y="2602610"/>
                  </a:lnTo>
                  <a:lnTo>
                    <a:pt x="3460623" y="0"/>
                  </a:lnTo>
                  <a:lnTo>
                    <a:pt x="0" y="0"/>
                  </a:lnTo>
                  <a:lnTo>
                    <a:pt x="0" y="260261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65138" y="4881879"/>
            <a:ext cx="3652520" cy="81915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V={a,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b, c,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d,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e}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E={(ab),(ad),(ae),(bc),(be),(cd),(ed)}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/>
          </a:p>
          <a:p>
            <a:pPr marR="24765" algn="ctr">
              <a:lnSpc>
                <a:spcPct val="100000"/>
              </a:lnSpc>
            </a:pPr>
            <a:r>
              <a:rPr spc="155" dirty="0">
                <a:solidFill>
                  <a:srgbClr val="000000"/>
                </a:solidFill>
              </a:rPr>
              <a:t>GRAPHS</a:t>
            </a:r>
            <a:r>
              <a:rPr spc="350" dirty="0">
                <a:solidFill>
                  <a:srgbClr val="000000"/>
                </a:solidFill>
              </a:rPr>
              <a:t> </a:t>
            </a:r>
            <a:r>
              <a:rPr spc="160" dirty="0">
                <a:solidFill>
                  <a:srgbClr val="000000"/>
                </a:solidFill>
              </a:rPr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794" y="2536919"/>
            <a:ext cx="8205470" cy="23069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spc="-20" dirty="0">
                <a:latin typeface="Times New Roman"/>
                <a:cs typeface="Times New Roman"/>
              </a:rPr>
              <a:t>Vertex</a:t>
            </a:r>
            <a:r>
              <a:rPr sz="1800" spc="-20" dirty="0">
                <a:latin typeface="Times New Roman"/>
                <a:cs typeface="Times New Roman"/>
              </a:rPr>
              <a:t>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 node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graph.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Times New Roman"/>
                <a:cs typeface="Times New Roman"/>
              </a:rPr>
              <a:t>Edge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Times New Roman"/>
                <a:cs typeface="Times New Roman"/>
              </a:rPr>
              <a:t>Path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edges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Times New Roman"/>
                <a:cs typeface="Times New Roman"/>
              </a:rPr>
              <a:t>Cycle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last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vertices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same.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imes New Roman"/>
                <a:cs typeface="Times New Roman"/>
              </a:rPr>
              <a:t>Adjacency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nodes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vertices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adjacent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they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connected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other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edge.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5638" y="525018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R="20955" algn="ctr">
              <a:lnSpc>
                <a:spcPct val="100000"/>
              </a:lnSpc>
              <a:spcBef>
                <a:spcPts val="5"/>
              </a:spcBef>
            </a:pPr>
            <a:r>
              <a:rPr sz="2400" spc="150" dirty="0"/>
              <a:t>ADJACENCY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753870" y="2264791"/>
            <a:ext cx="8216265" cy="188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graph,</a:t>
            </a:r>
            <a:r>
              <a:rPr sz="1800" spc="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b="1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b="1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b="1" spc="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said</a:t>
            </a:r>
            <a:r>
              <a:rPr sz="1800" b="1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b="1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b="1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adjacent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18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two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vertices.</a:t>
            </a:r>
            <a:r>
              <a:rPr sz="1800" spc="3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Here,</a:t>
            </a:r>
            <a:r>
              <a:rPr sz="1800" spc="3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3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adjacency</a:t>
            </a:r>
            <a:r>
              <a:rPr sz="1800" spc="3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3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spc="3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3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maintained</a:t>
            </a:r>
            <a:r>
              <a:rPr sz="1800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800" spc="3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4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single</a:t>
            </a:r>
            <a:r>
              <a:rPr sz="1800" b="1" spc="3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b="1" spc="3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3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connecting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those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7000"/>
              </a:lnSpc>
              <a:spcBef>
                <a:spcPts val="79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1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graph,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b="1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said</a:t>
            </a:r>
            <a:r>
              <a:rPr sz="1800" b="1" spc="1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adjacent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1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common</a:t>
            </a:r>
            <a:r>
              <a:rPr sz="1800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between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spc="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edges.</a:t>
            </a:r>
            <a:r>
              <a:rPr sz="18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Here,</a:t>
            </a:r>
            <a:r>
              <a:rPr sz="18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adjacency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maintained</a:t>
            </a:r>
            <a:r>
              <a:rPr sz="1800" spc="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1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single</a:t>
            </a:r>
            <a:r>
              <a:rPr sz="1800" b="1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b="1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connecting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edges.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5638" y="525018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R="20955" algn="ctr">
              <a:lnSpc>
                <a:spcPct val="100000"/>
              </a:lnSpc>
              <a:spcBef>
                <a:spcPts val="5"/>
              </a:spcBef>
            </a:pPr>
            <a:r>
              <a:rPr sz="2400" spc="150" dirty="0"/>
              <a:t>ADJACENCY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23289" y="2324226"/>
            <a:ext cx="4215130" cy="248856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following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graph:</a:t>
            </a:r>
            <a:endParaRPr sz="1800">
              <a:latin typeface="Times New Roman"/>
              <a:cs typeface="Times New Roman"/>
            </a:endParaRPr>
          </a:p>
          <a:p>
            <a:pPr marL="240029" marR="5080" indent="-227965">
              <a:lnSpc>
                <a:spcPct val="106700"/>
              </a:lnSpc>
              <a:spcBef>
                <a:spcPts val="815"/>
              </a:spcBef>
              <a:buClr>
                <a:srgbClr val="9BAEB5"/>
              </a:buClr>
              <a:buFont typeface="Wingdings"/>
              <a:buChar char="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'a'</a:t>
            </a:r>
            <a:r>
              <a:rPr sz="1800" spc="48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4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'd'</a:t>
            </a:r>
            <a:r>
              <a:rPr sz="1800" spc="4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4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4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adjacent</a:t>
            </a:r>
            <a:r>
              <a:rPr sz="1800" b="1" spc="4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48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as 	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common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'ad'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them.</a:t>
            </a:r>
            <a:endParaRPr sz="1800">
              <a:latin typeface="Times New Roman"/>
              <a:cs typeface="Times New Roman"/>
            </a:endParaRPr>
          </a:p>
          <a:p>
            <a:pPr marL="240029" marR="5080" indent="-227965" algn="r">
              <a:lnSpc>
                <a:spcPct val="106700"/>
              </a:lnSpc>
              <a:spcBef>
                <a:spcPts val="815"/>
              </a:spcBef>
              <a:buClr>
                <a:srgbClr val="9BAEB5"/>
              </a:buClr>
              <a:buFont typeface="Wingdings"/>
              <a:buChar char="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'a'</a:t>
            </a:r>
            <a:r>
              <a:rPr sz="1800" spc="48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4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'b'</a:t>
            </a:r>
            <a:r>
              <a:rPr sz="1800" spc="4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4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4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adjacent</a:t>
            </a:r>
            <a:r>
              <a:rPr sz="1800" b="1" spc="4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48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as 	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common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'ab'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them.</a:t>
            </a:r>
            <a:endParaRPr sz="1800">
              <a:latin typeface="Times New Roman"/>
              <a:cs typeface="Times New Roman"/>
            </a:endParaRPr>
          </a:p>
          <a:p>
            <a:pPr marL="227965" marR="5080" indent="-227965" algn="r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Wingdings"/>
              <a:buChar char=""/>
              <a:tabLst>
                <a:tab pos="2279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</a:t>
            </a:r>
            <a:r>
              <a:rPr sz="1800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ab'</a:t>
            </a:r>
            <a:r>
              <a:rPr sz="1800" spc="3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3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'be'</a:t>
            </a:r>
            <a:r>
              <a:rPr sz="1800" spc="3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3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adjacent</a:t>
            </a:r>
            <a:r>
              <a:rPr sz="1800" b="1" spc="3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3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  <a:p>
            <a:pPr marR="9525" algn="r">
              <a:lnSpc>
                <a:spcPct val="100000"/>
              </a:lnSpc>
              <a:spcBef>
                <a:spcPts val="155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common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'b'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them.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7065" y="2662745"/>
            <a:ext cx="4057650" cy="2686050"/>
            <a:chOff x="6747065" y="2662745"/>
            <a:chExt cx="4057650" cy="26860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5704" y="2691383"/>
              <a:ext cx="4000500" cy="26289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61353" y="2677032"/>
              <a:ext cx="4029075" cy="2657475"/>
            </a:xfrm>
            <a:custGeom>
              <a:avLst/>
              <a:gdLst/>
              <a:ahLst/>
              <a:cxnLst/>
              <a:rect l="l" t="t" r="r" b="b"/>
              <a:pathLst>
                <a:path w="4029075" h="2657475">
                  <a:moveTo>
                    <a:pt x="0" y="2657475"/>
                  </a:moveTo>
                  <a:lnTo>
                    <a:pt x="4029075" y="2657475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26574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6034" algn="ctr">
              <a:lnSpc>
                <a:spcPct val="100000"/>
              </a:lnSpc>
            </a:pPr>
            <a:r>
              <a:rPr sz="2400" spc="150" dirty="0">
                <a:solidFill>
                  <a:srgbClr val="000000"/>
                </a:solidFill>
              </a:rPr>
              <a:t>CATEGORIES</a:t>
            </a:r>
            <a:r>
              <a:rPr sz="2400" spc="400" dirty="0">
                <a:solidFill>
                  <a:srgbClr val="000000"/>
                </a:solidFill>
              </a:rPr>
              <a:t> </a:t>
            </a:r>
            <a:r>
              <a:rPr sz="2400" spc="100" dirty="0">
                <a:solidFill>
                  <a:srgbClr val="000000"/>
                </a:solidFill>
              </a:rPr>
              <a:t>OF</a:t>
            </a:r>
            <a:r>
              <a:rPr sz="2400" spc="305" dirty="0">
                <a:solidFill>
                  <a:srgbClr val="000000"/>
                </a:solidFill>
              </a:rPr>
              <a:t> </a:t>
            </a:r>
            <a:r>
              <a:rPr sz="2400" spc="145" dirty="0">
                <a:solidFill>
                  <a:srgbClr val="000000"/>
                </a:solidFill>
              </a:rPr>
              <a:t>GRAPHS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907794" y="2536023"/>
            <a:ext cx="3313429" cy="261810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100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Graphs can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be:</a:t>
            </a:r>
            <a:endParaRPr sz="20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Wingdings"/>
              <a:buChar char="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Directed  vs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Undirected</a:t>
            </a:r>
            <a:endParaRPr sz="20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Wingdings"/>
              <a:buChar char=""/>
              <a:tabLst>
                <a:tab pos="469265" algn="l"/>
              </a:tabLst>
            </a:pPr>
            <a:r>
              <a:rPr sz="2000" spc="-10" dirty="0">
                <a:latin typeface="Times New Roman"/>
                <a:cs typeface="Times New Roman"/>
              </a:rPr>
              <a:t>Weighted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Unweighted</a:t>
            </a:r>
            <a:endParaRPr sz="20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Wingdings"/>
              <a:buChar char="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Disconnected</a:t>
            </a:r>
            <a:endParaRPr sz="20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Wingdings"/>
              <a:buChar char="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Cyclic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Acyclic.</a:t>
            </a:r>
            <a:endParaRPr sz="20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Wingdings"/>
              <a:buChar char="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Sparse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Dense.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2400">
              <a:latin typeface="Times New Roman"/>
              <a:cs typeface="Times New Roman"/>
            </a:endParaRPr>
          </a:p>
          <a:p>
            <a:pPr marL="857250">
              <a:lnSpc>
                <a:spcPct val="100000"/>
              </a:lnSpc>
            </a:pPr>
            <a:r>
              <a:rPr sz="2400" spc="160" dirty="0"/>
              <a:t>UNDIRECTED</a:t>
            </a:r>
            <a:r>
              <a:rPr sz="2400" spc="305" dirty="0"/>
              <a:t> </a:t>
            </a:r>
            <a:r>
              <a:rPr sz="2400" spc="110" dirty="0"/>
              <a:t>AND</a:t>
            </a:r>
            <a:r>
              <a:rPr sz="2400" spc="434" dirty="0"/>
              <a:t> </a:t>
            </a:r>
            <a:r>
              <a:rPr sz="2400" spc="160" dirty="0"/>
              <a:t>DIRECTED</a:t>
            </a:r>
            <a:r>
              <a:rPr sz="2400" spc="445" dirty="0"/>
              <a:t> </a:t>
            </a:r>
            <a:r>
              <a:rPr sz="2400" spc="145" dirty="0"/>
              <a:t>GRAPHS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989582" y="2539974"/>
            <a:ext cx="8114665" cy="81915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When the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 have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8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direction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called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undirected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When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have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direction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called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directed</a:t>
            </a:r>
            <a:r>
              <a:rPr sz="18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(or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digraph).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36937" y="3721989"/>
            <a:ext cx="4638675" cy="2468245"/>
            <a:chOff x="3436937" y="3721989"/>
            <a:chExt cx="4638675" cy="24682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5576" y="3750564"/>
              <a:ext cx="4581144" cy="24109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51225" y="3736276"/>
              <a:ext cx="4610100" cy="2439670"/>
            </a:xfrm>
            <a:custGeom>
              <a:avLst/>
              <a:gdLst/>
              <a:ahLst/>
              <a:cxnLst/>
              <a:rect l="l" t="t" r="r" b="b"/>
              <a:pathLst>
                <a:path w="4610100" h="2439670">
                  <a:moveTo>
                    <a:pt x="0" y="2439543"/>
                  </a:moveTo>
                  <a:lnTo>
                    <a:pt x="4609719" y="2439543"/>
                  </a:lnTo>
                  <a:lnTo>
                    <a:pt x="4609719" y="0"/>
                  </a:lnTo>
                  <a:lnTo>
                    <a:pt x="0" y="0"/>
                  </a:lnTo>
                  <a:lnTo>
                    <a:pt x="0" y="243954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79270" y="37109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L="418465">
              <a:lnSpc>
                <a:spcPct val="100000"/>
              </a:lnSpc>
            </a:pPr>
            <a:r>
              <a:rPr sz="2400" spc="150" dirty="0"/>
              <a:t>DEGREE</a:t>
            </a:r>
            <a:r>
              <a:rPr sz="2400" spc="400" dirty="0"/>
              <a:t> </a:t>
            </a:r>
            <a:r>
              <a:rPr sz="2400" spc="85" dirty="0"/>
              <a:t>IN</a:t>
            </a:r>
            <a:r>
              <a:rPr sz="2400" spc="409" dirty="0"/>
              <a:t> </a:t>
            </a:r>
            <a:r>
              <a:rPr sz="2400" spc="145" dirty="0"/>
              <a:t>DIRECT</a:t>
            </a:r>
            <a:r>
              <a:rPr sz="2400" spc="254" dirty="0"/>
              <a:t> </a:t>
            </a:r>
            <a:r>
              <a:rPr sz="2400" spc="105" dirty="0"/>
              <a:t>AND</a:t>
            </a:r>
            <a:r>
              <a:rPr sz="2400" spc="475" dirty="0"/>
              <a:t> </a:t>
            </a:r>
            <a:r>
              <a:rPr sz="2400" spc="155" dirty="0"/>
              <a:t>UNDIRECT</a:t>
            </a:r>
            <a:r>
              <a:rPr sz="2400" spc="405" dirty="0"/>
              <a:t> </a:t>
            </a:r>
            <a:r>
              <a:rPr sz="2400" spc="135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933194" y="1916048"/>
            <a:ext cx="5748655" cy="34112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Degree</a:t>
            </a:r>
            <a:r>
              <a:rPr sz="1800" b="1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undirected</a:t>
            </a:r>
            <a:r>
              <a:rPr sz="18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graphs: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Degree(V)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#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adjacent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(incident)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G.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Σ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degrees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2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|E|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Degree</a:t>
            </a:r>
            <a:r>
              <a:rPr sz="18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directed</a:t>
            </a:r>
            <a:r>
              <a:rPr sz="1800" b="1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graphs: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In-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Deg(V)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#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incoming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edges.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Out-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Deg(V)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#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 outgoing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edges.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Σ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In-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degree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Σ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Out-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degree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|E|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08226" y="352806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L="417830">
              <a:lnSpc>
                <a:spcPct val="100000"/>
              </a:lnSpc>
            </a:pPr>
            <a:r>
              <a:rPr sz="2400" spc="155" dirty="0"/>
              <a:t>DEGREE</a:t>
            </a:r>
            <a:r>
              <a:rPr sz="2400" spc="400" dirty="0"/>
              <a:t> </a:t>
            </a:r>
            <a:r>
              <a:rPr sz="2400" spc="85" dirty="0"/>
              <a:t>IN</a:t>
            </a:r>
            <a:r>
              <a:rPr sz="2400" spc="409" dirty="0"/>
              <a:t> </a:t>
            </a:r>
            <a:r>
              <a:rPr sz="2400" spc="150" dirty="0"/>
              <a:t>DIRECT</a:t>
            </a:r>
            <a:r>
              <a:rPr sz="2400" spc="254" dirty="0"/>
              <a:t> </a:t>
            </a:r>
            <a:r>
              <a:rPr sz="2400" spc="110" dirty="0"/>
              <a:t>AND</a:t>
            </a:r>
            <a:r>
              <a:rPr sz="2400" spc="480" dirty="0"/>
              <a:t> </a:t>
            </a:r>
            <a:r>
              <a:rPr sz="2400" spc="155" dirty="0"/>
              <a:t>UNDIRECT</a:t>
            </a:r>
            <a:r>
              <a:rPr sz="2400" spc="405" dirty="0"/>
              <a:t> </a:t>
            </a:r>
            <a:r>
              <a:rPr sz="2400" spc="140" dirty="0"/>
              <a:t>GRAPH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778952" y="1905317"/>
            <a:ext cx="8346440" cy="2155825"/>
            <a:chOff x="1778952" y="1905317"/>
            <a:chExt cx="8346440" cy="2155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7463" y="1933955"/>
              <a:ext cx="8289036" cy="20985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93239" y="1919604"/>
              <a:ext cx="8317865" cy="2127250"/>
            </a:xfrm>
            <a:custGeom>
              <a:avLst/>
              <a:gdLst/>
              <a:ahLst/>
              <a:cxnLst/>
              <a:rect l="l" t="t" r="r" b="b"/>
              <a:pathLst>
                <a:path w="8317865" h="2127250">
                  <a:moveTo>
                    <a:pt x="0" y="2127123"/>
                  </a:moveTo>
                  <a:lnTo>
                    <a:pt x="8317610" y="2127123"/>
                  </a:lnTo>
                  <a:lnTo>
                    <a:pt x="8317610" y="0"/>
                  </a:lnTo>
                  <a:lnTo>
                    <a:pt x="0" y="0"/>
                  </a:lnTo>
                  <a:lnTo>
                    <a:pt x="0" y="212712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04276" y="4397121"/>
            <a:ext cx="8495665" cy="2125345"/>
            <a:chOff x="1704276" y="4397121"/>
            <a:chExt cx="8495665" cy="21253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2788" y="4425696"/>
              <a:ext cx="8438388" cy="20680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18564" y="4411408"/>
              <a:ext cx="8467090" cy="2096770"/>
            </a:xfrm>
            <a:custGeom>
              <a:avLst/>
              <a:gdLst/>
              <a:ahLst/>
              <a:cxnLst/>
              <a:rect l="l" t="t" r="r" b="b"/>
              <a:pathLst>
                <a:path w="8467090" h="2096770">
                  <a:moveTo>
                    <a:pt x="0" y="2096642"/>
                  </a:moveTo>
                  <a:lnTo>
                    <a:pt x="8466963" y="2096642"/>
                  </a:lnTo>
                  <a:lnTo>
                    <a:pt x="8466963" y="0"/>
                  </a:lnTo>
                  <a:lnTo>
                    <a:pt x="0" y="0"/>
                  </a:lnTo>
                  <a:lnTo>
                    <a:pt x="0" y="2096642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40229" y="369570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L="839469">
              <a:lnSpc>
                <a:spcPct val="100000"/>
              </a:lnSpc>
            </a:pPr>
            <a:r>
              <a:rPr sz="2400" spc="165" dirty="0"/>
              <a:t>WEIGHTED</a:t>
            </a:r>
            <a:r>
              <a:rPr sz="2400" spc="240" dirty="0"/>
              <a:t> </a:t>
            </a:r>
            <a:r>
              <a:rPr sz="2400" spc="105" dirty="0"/>
              <a:t>AND</a:t>
            </a:r>
            <a:r>
              <a:rPr sz="2400" spc="430" dirty="0"/>
              <a:t> </a:t>
            </a:r>
            <a:r>
              <a:rPr sz="2400" spc="165" dirty="0"/>
              <a:t>UNWEIGHTED</a:t>
            </a:r>
            <a:r>
              <a:rPr sz="2400" spc="405" dirty="0"/>
              <a:t> </a:t>
            </a:r>
            <a:r>
              <a:rPr sz="2400" spc="135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939289" y="1850897"/>
            <a:ext cx="7966075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have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weights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said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weighted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if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do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have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weights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said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unweighted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weight</a:t>
            </a:r>
            <a:r>
              <a:rPr sz="18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 a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numerical value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attached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 each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individual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edge.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6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Weights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8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distance,</a:t>
            </a:r>
            <a:r>
              <a:rPr sz="18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cost,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2292" y="3670172"/>
            <a:ext cx="8324850" cy="2571750"/>
            <a:chOff x="1832292" y="3670172"/>
            <a:chExt cx="8324850" cy="25717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0803" y="3698747"/>
              <a:ext cx="8267700" cy="25146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46579" y="3684460"/>
              <a:ext cx="8296275" cy="2543175"/>
            </a:xfrm>
            <a:custGeom>
              <a:avLst/>
              <a:gdLst/>
              <a:ahLst/>
              <a:cxnLst/>
              <a:rect l="l" t="t" r="r" b="b"/>
              <a:pathLst>
                <a:path w="8296275" h="2543175">
                  <a:moveTo>
                    <a:pt x="0" y="2543175"/>
                  </a:moveTo>
                  <a:lnTo>
                    <a:pt x="8296275" y="2543175"/>
                  </a:lnTo>
                  <a:lnTo>
                    <a:pt x="8296275" y="0"/>
                  </a:lnTo>
                  <a:lnTo>
                    <a:pt x="0" y="0"/>
                  </a:lnTo>
                  <a:lnTo>
                    <a:pt x="0" y="25431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7497" y="525018"/>
            <a:ext cx="872363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R="21590" algn="ctr">
              <a:lnSpc>
                <a:spcPts val="2510"/>
              </a:lnSpc>
              <a:spcBef>
                <a:spcPts val="765"/>
              </a:spcBef>
            </a:pPr>
            <a:r>
              <a:rPr sz="2200" b="1" spc="145" dirty="0">
                <a:solidFill>
                  <a:srgbClr val="252525"/>
                </a:solidFill>
                <a:latin typeface="Times New Roman"/>
                <a:cs typeface="Times New Roman"/>
              </a:rPr>
              <a:t>CONNECTIVITY:</a:t>
            </a:r>
            <a:endParaRPr sz="2200">
              <a:latin typeface="Times New Roman"/>
              <a:cs typeface="Times New Roman"/>
            </a:endParaRPr>
          </a:p>
          <a:p>
            <a:pPr marR="28575" algn="ctr">
              <a:lnSpc>
                <a:spcPts val="2510"/>
              </a:lnSpc>
            </a:pPr>
            <a:r>
              <a:rPr sz="2200" b="1" spc="16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22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b="1" spc="11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200" b="1" spc="4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b="1" spc="170" dirty="0">
                <a:solidFill>
                  <a:srgbClr val="252525"/>
                </a:solidFill>
                <a:latin typeface="Times New Roman"/>
                <a:cs typeface="Times New Roman"/>
              </a:rPr>
              <a:t>DISCONNECTED</a:t>
            </a:r>
            <a:r>
              <a:rPr sz="2200" b="1" spc="3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b="1" spc="13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9872" y="1882851"/>
            <a:ext cx="8315325" cy="1009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said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path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1800" b="1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every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pair</a:t>
            </a:r>
            <a:r>
              <a:rPr sz="18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60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every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 any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other vertex,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should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some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path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traverse.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possible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travel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any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vertex.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88224" y="3100133"/>
            <a:ext cx="8562975" cy="2015489"/>
            <a:chOff x="1288224" y="3100133"/>
            <a:chExt cx="8562975" cy="201548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5" y="3128771"/>
              <a:ext cx="8505444" cy="19583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02511" y="3114420"/>
              <a:ext cx="8534400" cy="1986914"/>
            </a:xfrm>
            <a:custGeom>
              <a:avLst/>
              <a:gdLst/>
              <a:ahLst/>
              <a:cxnLst/>
              <a:rect l="l" t="t" r="r" b="b"/>
              <a:pathLst>
                <a:path w="8534400" h="1986914">
                  <a:moveTo>
                    <a:pt x="0" y="1986914"/>
                  </a:moveTo>
                  <a:lnTo>
                    <a:pt x="8534019" y="1986914"/>
                  </a:lnTo>
                  <a:lnTo>
                    <a:pt x="8534019" y="0"/>
                  </a:lnTo>
                  <a:lnTo>
                    <a:pt x="0" y="0"/>
                  </a:lnTo>
                  <a:lnTo>
                    <a:pt x="0" y="1986914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69872" y="5173471"/>
            <a:ext cx="2396490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0"/>
              </a:spcBef>
              <a:tabLst>
                <a:tab pos="398780" algn="l"/>
                <a:tab pos="752475" algn="l"/>
                <a:tab pos="965200" algn="l"/>
                <a:tab pos="1106805" algn="l"/>
                <a:tab pos="1452245" algn="l"/>
                <a:tab pos="1938655" algn="l"/>
                <a:tab pos="2193925" algn="l"/>
              </a:tabLst>
            </a:pP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traverse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from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'a'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		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'e'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9872" y="5781547"/>
            <a:ext cx="1983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using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path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'a-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b-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e'.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1916" y="5223509"/>
            <a:ext cx="2672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possible to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traverse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'a'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5719" y="5155387"/>
            <a:ext cx="2411730" cy="90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0"/>
              </a:spcBef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Traversing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'a'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'f'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possible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Path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3738" y="390906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R="27940" algn="ctr">
              <a:lnSpc>
                <a:spcPct val="100000"/>
              </a:lnSpc>
              <a:spcBef>
                <a:spcPts val="5"/>
              </a:spcBef>
            </a:pPr>
            <a:r>
              <a:rPr sz="2400" spc="145" dirty="0"/>
              <a:t>CYCLIC</a:t>
            </a:r>
            <a:r>
              <a:rPr sz="2400" spc="280" dirty="0"/>
              <a:t> </a:t>
            </a:r>
            <a:r>
              <a:rPr sz="2400" spc="105" dirty="0"/>
              <a:t>AND</a:t>
            </a:r>
            <a:r>
              <a:rPr sz="2400" spc="285" dirty="0"/>
              <a:t> </a:t>
            </a:r>
            <a:r>
              <a:rPr sz="2400" spc="150" dirty="0"/>
              <a:t>ACYCLIC</a:t>
            </a:r>
            <a:r>
              <a:rPr sz="2400" spc="430" dirty="0"/>
              <a:t> </a:t>
            </a:r>
            <a:r>
              <a:rPr sz="2400" spc="125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08838" y="1841372"/>
            <a:ext cx="5008880" cy="287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7620" indent="-228600" algn="just">
              <a:lnSpc>
                <a:spcPct val="1071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said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have</a:t>
            </a:r>
            <a:r>
              <a:rPr sz="1800" spc="1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1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cycle</a:t>
            </a:r>
            <a:r>
              <a:rPr sz="1800" b="1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you</a:t>
            </a:r>
            <a:r>
              <a:rPr sz="1800" spc="1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start</a:t>
            </a:r>
            <a:r>
              <a:rPr sz="1800" spc="1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1800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node/vertex</a:t>
            </a:r>
            <a:r>
              <a:rPr sz="1800" spc="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after</a:t>
            </a:r>
            <a:r>
              <a:rPr sz="1800" spc="1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traversing</a:t>
            </a:r>
            <a:r>
              <a:rPr sz="1800" spc="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some</a:t>
            </a:r>
            <a:r>
              <a:rPr sz="1800" spc="37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nodes,</a:t>
            </a:r>
            <a:r>
              <a:rPr sz="1800" spc="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you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come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same</a:t>
            </a:r>
            <a:r>
              <a:rPr sz="1800" b="1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you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say</a:t>
            </a:r>
            <a:r>
              <a:rPr sz="1800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having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cycle.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6900"/>
              </a:lnSpc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3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3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3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3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cycle</a:t>
            </a:r>
            <a:r>
              <a:rPr sz="1800" b="1" spc="3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3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3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graph,</a:t>
            </a:r>
            <a:r>
              <a:rPr sz="1800" spc="3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800" spc="3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3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3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called</a:t>
            </a:r>
            <a:r>
              <a:rPr sz="18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Cyclic</a:t>
            </a:r>
            <a:r>
              <a:rPr sz="1800" b="1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800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cycle</a:t>
            </a:r>
            <a:r>
              <a:rPr sz="1800" b="1" spc="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present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3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graph,</a:t>
            </a:r>
            <a:r>
              <a:rPr sz="1800" spc="3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800" spc="3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3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3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3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called</a:t>
            </a:r>
            <a:r>
              <a:rPr sz="1800" spc="3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Acyclic Graph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1704" y="5203647"/>
            <a:ext cx="3209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0269" algn="l"/>
                <a:tab pos="1252220" algn="l"/>
                <a:tab pos="1870075" algn="l"/>
                <a:tab pos="2385060" algn="l"/>
                <a:tab pos="3043555" algn="l"/>
              </a:tabLst>
            </a:pP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Graph,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at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least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cycle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838" y="4689304"/>
            <a:ext cx="1672589" cy="110934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  <a:tab pos="763270" algn="l"/>
                <a:tab pos="1048385" algn="l"/>
              </a:tabLst>
            </a:pP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Cyclic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60"/>
              </a:spcBef>
            </a:pP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necessary.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10872" y="1902332"/>
            <a:ext cx="6181090" cy="4121785"/>
            <a:chOff x="5710872" y="1902332"/>
            <a:chExt cx="6181090" cy="41217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9383" y="1930907"/>
              <a:ext cx="6123432" cy="40645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25159" y="1916620"/>
              <a:ext cx="6152515" cy="4093210"/>
            </a:xfrm>
            <a:custGeom>
              <a:avLst/>
              <a:gdLst/>
              <a:ahLst/>
              <a:cxnLst/>
              <a:rect l="l" t="t" r="r" b="b"/>
              <a:pathLst>
                <a:path w="6152515" h="4093210">
                  <a:moveTo>
                    <a:pt x="0" y="4093083"/>
                  </a:moveTo>
                  <a:lnTo>
                    <a:pt x="6152007" y="4093083"/>
                  </a:lnTo>
                  <a:lnTo>
                    <a:pt x="6152007" y="0"/>
                  </a:lnTo>
                  <a:lnTo>
                    <a:pt x="0" y="0"/>
                  </a:lnTo>
                  <a:lnTo>
                    <a:pt x="0" y="409308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70126" y="323850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20955" algn="ctr">
              <a:lnSpc>
                <a:spcPct val="100000"/>
              </a:lnSpc>
            </a:pPr>
            <a:r>
              <a:rPr sz="2400" spc="120" dirty="0"/>
              <a:t>SPARSE</a:t>
            </a:r>
            <a:r>
              <a:rPr sz="2400" spc="280" dirty="0"/>
              <a:t> </a:t>
            </a:r>
            <a:r>
              <a:rPr sz="2400" spc="110" dirty="0"/>
              <a:t>AND</a:t>
            </a:r>
            <a:r>
              <a:rPr sz="2400" spc="445" dirty="0"/>
              <a:t> </a:t>
            </a:r>
            <a:r>
              <a:rPr sz="2400" spc="145" dirty="0"/>
              <a:t>DENSE</a:t>
            </a:r>
            <a:r>
              <a:rPr sz="2400" spc="415" dirty="0"/>
              <a:t> </a:t>
            </a:r>
            <a:r>
              <a:rPr sz="2400" spc="140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43813" y="2026666"/>
            <a:ext cx="4471670" cy="3865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marR="54610" indent="-287020" algn="just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33718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Sparse</a:t>
            </a:r>
            <a:r>
              <a:rPr sz="1800" b="1" spc="19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Graph:</a:t>
            </a:r>
            <a:r>
              <a:rPr sz="1800" b="1" spc="19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19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19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19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b="1" spc="3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4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b="1" spc="4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b="1" spc="4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much</a:t>
            </a:r>
            <a:r>
              <a:rPr sz="1800" b="1" spc="4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less</a:t>
            </a:r>
            <a:r>
              <a:rPr sz="1800" b="1" spc="40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than</a:t>
            </a:r>
            <a:r>
              <a:rPr sz="1800" b="1" spc="4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possible</a:t>
            </a:r>
            <a:r>
              <a:rPr sz="1800" b="1" spc="4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78765" indent="-227965" algn="just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787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Sparse</a:t>
            </a:r>
            <a:r>
              <a:rPr sz="18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Graph: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sparse graph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endParaRPr sz="1800">
              <a:latin typeface="Times New Roman"/>
              <a:cs typeface="Times New Roman"/>
            </a:endParaRPr>
          </a:p>
          <a:p>
            <a:pPr marL="281940" algn="just">
              <a:lnSpc>
                <a:spcPct val="100000"/>
              </a:lnSpc>
              <a:spcBef>
                <a:spcPts val="955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imes New Roman"/>
                <a:cs typeface="Times New Roman"/>
              </a:rPr>
              <a:t>(V,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E)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|E|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O(|V|).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800">
              <a:latin typeface="Times New Roman"/>
              <a:cs typeface="Times New Roman"/>
            </a:endParaRPr>
          </a:p>
          <a:p>
            <a:pPr marL="279400" marR="54610" indent="-228600" algn="just">
              <a:lnSpc>
                <a:spcPct val="107000"/>
              </a:lnSpc>
              <a:buClr>
                <a:srgbClr val="9BAEB5"/>
              </a:buClr>
              <a:buFont typeface="Arial MT"/>
              <a:buChar char="•"/>
              <a:tabLst>
                <a:tab pos="279400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Dense</a:t>
            </a:r>
            <a:r>
              <a:rPr sz="1800" b="1" spc="28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Graph:</a:t>
            </a:r>
            <a:r>
              <a:rPr sz="1800" b="1" spc="29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24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29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29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29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b="1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3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b="1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b="1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close</a:t>
            </a:r>
            <a:r>
              <a:rPr sz="1800" b="1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b="1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3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possible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b="1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78765" indent="-227965" algn="just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Arial MT"/>
              <a:buChar char="•"/>
              <a:tabLst>
                <a:tab pos="2787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Dense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Graph: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dense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graph</a:t>
            </a:r>
            <a:endParaRPr sz="1800">
              <a:latin typeface="Times New Roman"/>
              <a:cs typeface="Times New Roman"/>
            </a:endParaRPr>
          </a:p>
          <a:p>
            <a:pPr marL="339725" algn="just">
              <a:lnSpc>
                <a:spcPct val="100000"/>
              </a:lnSpc>
              <a:spcBef>
                <a:spcPts val="944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imes New Roman"/>
                <a:cs typeface="Times New Roman"/>
              </a:rPr>
              <a:t>(V,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E)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|E|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O(|V|</a:t>
            </a:r>
            <a:r>
              <a:rPr sz="1800" spc="-15" baseline="25462" dirty="0">
                <a:solidFill>
                  <a:srgbClr val="252525"/>
                </a:solidFill>
                <a:latin typeface="Times New Roman"/>
                <a:cs typeface="Times New Roman"/>
              </a:rPr>
              <a:t>2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46737" y="1993709"/>
            <a:ext cx="6232525" cy="3173730"/>
            <a:chOff x="5646737" y="1993709"/>
            <a:chExt cx="6232525" cy="3173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5376" y="2022348"/>
              <a:ext cx="6175248" cy="31165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1025" y="2007997"/>
              <a:ext cx="6203950" cy="3145155"/>
            </a:xfrm>
            <a:custGeom>
              <a:avLst/>
              <a:gdLst/>
              <a:ahLst/>
              <a:cxnLst/>
              <a:rect l="l" t="t" r="r" b="b"/>
              <a:pathLst>
                <a:path w="6203950" h="3145154">
                  <a:moveTo>
                    <a:pt x="0" y="3145154"/>
                  </a:moveTo>
                  <a:lnTo>
                    <a:pt x="6203823" y="3145154"/>
                  </a:lnTo>
                  <a:lnTo>
                    <a:pt x="6203823" y="0"/>
                  </a:lnTo>
                  <a:lnTo>
                    <a:pt x="0" y="0"/>
                  </a:lnTo>
                  <a:lnTo>
                    <a:pt x="0" y="3145154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2860" algn="ctr">
              <a:lnSpc>
                <a:spcPct val="100000"/>
              </a:lnSpc>
            </a:pPr>
            <a:r>
              <a:rPr sz="2400" spc="145" dirty="0">
                <a:solidFill>
                  <a:srgbClr val="000000"/>
                </a:solidFill>
              </a:rPr>
              <a:t>TYPES</a:t>
            </a:r>
            <a:r>
              <a:rPr sz="2400" spc="415" dirty="0">
                <a:solidFill>
                  <a:srgbClr val="000000"/>
                </a:solidFill>
              </a:rPr>
              <a:t> </a:t>
            </a:r>
            <a:r>
              <a:rPr sz="2400" spc="100" dirty="0">
                <a:solidFill>
                  <a:srgbClr val="000000"/>
                </a:solidFill>
              </a:rPr>
              <a:t>OF</a:t>
            </a:r>
            <a:r>
              <a:rPr sz="2400" spc="290" dirty="0">
                <a:solidFill>
                  <a:srgbClr val="000000"/>
                </a:solidFill>
              </a:rPr>
              <a:t> </a:t>
            </a:r>
            <a:r>
              <a:rPr sz="2400" spc="145" dirty="0">
                <a:solidFill>
                  <a:srgbClr val="000000"/>
                </a:solidFill>
              </a:rPr>
              <a:t>GRAPHS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136394" y="2536023"/>
            <a:ext cx="2005964" cy="17532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0"/>
              </a:spcBef>
              <a:buClr>
                <a:srgbClr val="9BAEB5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Null </a:t>
            </a:r>
            <a:r>
              <a:rPr sz="2000" spc="-10" dirty="0">
                <a:latin typeface="Times New Roman"/>
                <a:cs typeface="Times New Roman"/>
              </a:rPr>
              <a:t>Graph.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Multi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Graph.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Graph.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Graph.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41170" y="361950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2225" algn="ctr">
              <a:lnSpc>
                <a:spcPct val="100000"/>
              </a:lnSpc>
            </a:pPr>
            <a:r>
              <a:rPr sz="2400" spc="130" dirty="0"/>
              <a:t>NULL</a:t>
            </a:r>
            <a:r>
              <a:rPr sz="2400" spc="290" dirty="0"/>
              <a:t> </a:t>
            </a:r>
            <a:r>
              <a:rPr sz="2400" spc="135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820036" y="1902332"/>
            <a:ext cx="47593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000" spc="-1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null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20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a graph</a:t>
            </a:r>
            <a:r>
              <a:rPr sz="20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52525"/>
                </a:solidFill>
                <a:latin typeface="Times New Roman"/>
                <a:cs typeface="Times New Roman"/>
              </a:rPr>
              <a:t>containing</a:t>
            </a:r>
            <a:r>
              <a:rPr sz="20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20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2000" spc="-1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41509" y="2553080"/>
            <a:ext cx="4888230" cy="3567429"/>
            <a:chOff x="3441509" y="2553080"/>
            <a:chExt cx="4888230" cy="35674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0147" y="2581655"/>
              <a:ext cx="4831079" cy="35097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55796" y="2567368"/>
              <a:ext cx="4859655" cy="3538854"/>
            </a:xfrm>
            <a:custGeom>
              <a:avLst/>
              <a:gdLst/>
              <a:ahLst/>
              <a:cxnLst/>
              <a:rect l="l" t="t" r="r" b="b"/>
              <a:pathLst>
                <a:path w="4859655" h="3538854">
                  <a:moveTo>
                    <a:pt x="0" y="3538347"/>
                  </a:moveTo>
                  <a:lnTo>
                    <a:pt x="4859655" y="3538347"/>
                  </a:lnTo>
                  <a:lnTo>
                    <a:pt x="4859655" y="0"/>
                  </a:lnTo>
                  <a:lnTo>
                    <a:pt x="0" y="0"/>
                  </a:lnTo>
                  <a:lnTo>
                    <a:pt x="0" y="353834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0982" y="343661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L="905510">
              <a:lnSpc>
                <a:spcPct val="100000"/>
              </a:lnSpc>
            </a:pPr>
            <a:r>
              <a:rPr sz="2400" spc="140" dirty="0"/>
              <a:t>PARALLEL</a:t>
            </a:r>
            <a:r>
              <a:rPr sz="2400" spc="285" dirty="0"/>
              <a:t> </a:t>
            </a:r>
            <a:r>
              <a:rPr sz="2400" spc="150" dirty="0"/>
              <a:t>EDGES</a:t>
            </a:r>
            <a:r>
              <a:rPr sz="2400" spc="265" dirty="0"/>
              <a:t> </a:t>
            </a:r>
            <a:r>
              <a:rPr sz="2400" spc="110" dirty="0"/>
              <a:t>AND</a:t>
            </a:r>
            <a:r>
              <a:rPr sz="2400" spc="425" dirty="0"/>
              <a:t> </a:t>
            </a:r>
            <a:r>
              <a:rPr sz="2400" spc="105" dirty="0"/>
              <a:t>MULTI</a:t>
            </a:r>
            <a:r>
              <a:rPr sz="2400" spc="400" dirty="0"/>
              <a:t> </a:t>
            </a:r>
            <a:r>
              <a:rPr sz="2400" spc="140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78560" y="1928850"/>
            <a:ext cx="5601970" cy="327977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6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Parallel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Edges</a:t>
            </a:r>
            <a:endParaRPr sz="1800">
              <a:latin typeface="Times New Roman"/>
              <a:cs typeface="Times New Roman"/>
            </a:endParaRPr>
          </a:p>
          <a:p>
            <a:pPr marL="241300" marR="41275" indent="-228600" algn="just">
              <a:lnSpc>
                <a:spcPct val="106700"/>
              </a:lnSpc>
              <a:spcBef>
                <a:spcPts val="815"/>
              </a:spcBef>
              <a:buClr>
                <a:srgbClr val="9BAEB5"/>
              </a:buClr>
              <a:buFont typeface="Wingdings"/>
              <a:buChar char="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graph,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pair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more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than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those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called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parallel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41300" marR="272415" indent="-228600" algn="just">
              <a:lnSpc>
                <a:spcPct val="107000"/>
              </a:lnSpc>
              <a:spcBef>
                <a:spcPts val="810"/>
              </a:spcBef>
              <a:buClr>
                <a:srgbClr val="9BAEB5"/>
              </a:buClr>
              <a:buFont typeface="Wingdings"/>
              <a:buChar char="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following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example: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'a'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'c'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vertices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'ac'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'ca'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between them.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85"/>
              </a:spcBef>
            </a:pPr>
            <a:endParaRPr sz="18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Multi 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Wingdings"/>
              <a:buChar char="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having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parallel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known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Multigraph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50569" y="2277173"/>
            <a:ext cx="2409190" cy="1279525"/>
            <a:chOff x="7350569" y="2277173"/>
            <a:chExt cx="2409190" cy="1279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9207" y="2305811"/>
              <a:ext cx="2351531" cy="12222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64856" y="2291460"/>
              <a:ext cx="2380615" cy="1250950"/>
            </a:xfrm>
            <a:custGeom>
              <a:avLst/>
              <a:gdLst/>
              <a:ahLst/>
              <a:cxnLst/>
              <a:rect l="l" t="t" r="r" b="b"/>
              <a:pathLst>
                <a:path w="2380615" h="1250950">
                  <a:moveTo>
                    <a:pt x="0" y="1250823"/>
                  </a:moveTo>
                  <a:lnTo>
                    <a:pt x="2380106" y="1250823"/>
                  </a:lnTo>
                  <a:lnTo>
                    <a:pt x="2380106" y="0"/>
                  </a:lnTo>
                  <a:lnTo>
                    <a:pt x="0" y="0"/>
                  </a:lnTo>
                  <a:lnTo>
                    <a:pt x="0" y="125082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943661" y="4275201"/>
            <a:ext cx="3222625" cy="2155825"/>
            <a:chOff x="6943661" y="4275201"/>
            <a:chExt cx="3222625" cy="21558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2299" y="4303776"/>
              <a:ext cx="3165348" cy="20985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957948" y="4289488"/>
              <a:ext cx="3194050" cy="2127250"/>
            </a:xfrm>
            <a:custGeom>
              <a:avLst/>
              <a:gdLst/>
              <a:ahLst/>
              <a:cxnLst/>
              <a:rect l="l" t="t" r="r" b="b"/>
              <a:pathLst>
                <a:path w="3194050" h="2127250">
                  <a:moveTo>
                    <a:pt x="0" y="2127123"/>
                  </a:moveTo>
                  <a:lnTo>
                    <a:pt x="3193923" y="2127123"/>
                  </a:lnTo>
                  <a:lnTo>
                    <a:pt x="3193923" y="0"/>
                  </a:lnTo>
                  <a:lnTo>
                    <a:pt x="0" y="0"/>
                  </a:lnTo>
                  <a:lnTo>
                    <a:pt x="0" y="212712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97557" y="361950"/>
            <a:ext cx="8290559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2225" algn="ctr">
              <a:lnSpc>
                <a:spcPct val="100000"/>
              </a:lnSpc>
            </a:pPr>
            <a:r>
              <a:rPr sz="2400" spc="150" dirty="0"/>
              <a:t>REGULAR</a:t>
            </a:r>
            <a:r>
              <a:rPr sz="2400" spc="425" dirty="0"/>
              <a:t> </a:t>
            </a:r>
            <a:r>
              <a:rPr sz="2400" spc="135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876425" y="1973326"/>
            <a:ext cx="777684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7200"/>
              </a:lnSpc>
              <a:spcBef>
                <a:spcPts val="100"/>
              </a:spcBef>
              <a:buChar char="•"/>
              <a:tabLst>
                <a:tab pos="241300" algn="l"/>
                <a:tab pos="297180" algn="l"/>
              </a:tabLst>
            </a:pPr>
            <a:r>
              <a:rPr sz="1800" dirty="0">
                <a:solidFill>
                  <a:srgbClr val="9BAEB5"/>
                </a:solidFill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Regular</a:t>
            </a:r>
            <a:r>
              <a:rPr sz="1800" b="1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where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each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same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neighbors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(every</a:t>
            </a:r>
            <a:r>
              <a:rPr sz="18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has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same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degree).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66988" y="2912681"/>
            <a:ext cx="7950200" cy="1791970"/>
            <a:chOff x="2066988" y="2912681"/>
            <a:chExt cx="7950200" cy="17919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5500" y="2941320"/>
              <a:ext cx="7892796" cy="17343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81276" y="2926969"/>
              <a:ext cx="7921625" cy="1763395"/>
            </a:xfrm>
            <a:custGeom>
              <a:avLst/>
              <a:gdLst/>
              <a:ahLst/>
              <a:cxnLst/>
              <a:rect l="l" t="t" r="r" b="b"/>
              <a:pathLst>
                <a:path w="7921625" h="1763395">
                  <a:moveTo>
                    <a:pt x="0" y="1762886"/>
                  </a:moveTo>
                  <a:lnTo>
                    <a:pt x="7921371" y="1762886"/>
                  </a:lnTo>
                  <a:lnTo>
                    <a:pt x="7921371" y="0"/>
                  </a:lnTo>
                  <a:lnTo>
                    <a:pt x="0" y="0"/>
                  </a:lnTo>
                  <a:lnTo>
                    <a:pt x="0" y="176288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52294" y="4939665"/>
            <a:ext cx="864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1-regular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1409" y="4939665"/>
            <a:ext cx="866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4-regular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8196" y="4939665"/>
            <a:ext cx="864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2-regular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4478" y="4939665"/>
            <a:ext cx="864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3-regular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5852" y="4939665"/>
            <a:ext cx="864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5-regular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361950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4130" algn="ctr">
              <a:lnSpc>
                <a:spcPct val="100000"/>
              </a:lnSpc>
            </a:pPr>
            <a:r>
              <a:rPr sz="2400" spc="165" dirty="0"/>
              <a:t>COMPLETE</a:t>
            </a:r>
            <a:r>
              <a:rPr sz="2400" spc="385" dirty="0"/>
              <a:t> </a:t>
            </a:r>
            <a:r>
              <a:rPr sz="2400" spc="125" dirty="0"/>
              <a:t>GRAPH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25474" y="2268982"/>
            <a:ext cx="4827270" cy="160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55880" indent="-228600">
              <a:lnSpc>
                <a:spcPct val="1444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794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Complete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(G</a:t>
            </a:r>
            <a:r>
              <a:rPr sz="1800" baseline="-20833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every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node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adjacent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every</a:t>
            </a:r>
            <a:r>
              <a:rPr sz="1800" b="1" spc="4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G.</a:t>
            </a:r>
            <a:endParaRPr sz="1800">
              <a:latin typeface="Times New Roman"/>
              <a:cs typeface="Times New Roman"/>
            </a:endParaRPr>
          </a:p>
          <a:p>
            <a:pPr marL="278765" indent="-2279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787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complete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already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78765" indent="-227965">
              <a:lnSpc>
                <a:spcPct val="100000"/>
              </a:lnSpc>
              <a:spcBef>
                <a:spcPts val="955"/>
              </a:spcBef>
              <a:buClr>
                <a:srgbClr val="9BAEB5"/>
              </a:buClr>
              <a:buFont typeface="Arial MT"/>
              <a:buChar char="•"/>
              <a:tabLst>
                <a:tab pos="2787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#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n(n-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1)/2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54101" y="2338197"/>
            <a:ext cx="4502785" cy="3409950"/>
            <a:chOff x="6654101" y="2338197"/>
            <a:chExt cx="4502785" cy="34099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2740" y="2366772"/>
              <a:ext cx="4445508" cy="3352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68389" y="2352484"/>
              <a:ext cx="4474210" cy="3381375"/>
            </a:xfrm>
            <a:custGeom>
              <a:avLst/>
              <a:gdLst/>
              <a:ahLst/>
              <a:cxnLst/>
              <a:rect l="l" t="t" r="r" b="b"/>
              <a:pathLst>
                <a:path w="4474209" h="3381375">
                  <a:moveTo>
                    <a:pt x="0" y="3381375"/>
                  </a:moveTo>
                  <a:lnTo>
                    <a:pt x="4474083" y="3381375"/>
                  </a:lnTo>
                  <a:lnTo>
                    <a:pt x="4474083" y="0"/>
                  </a:lnTo>
                  <a:lnTo>
                    <a:pt x="0" y="0"/>
                  </a:lnTo>
                  <a:lnTo>
                    <a:pt x="0" y="33813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942" y="2263901"/>
            <a:ext cx="7580376" cy="1601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02942" y="2263901"/>
            <a:ext cx="7580630" cy="1602105"/>
          </a:xfrm>
          <a:prstGeom prst="rect">
            <a:avLst/>
          </a:prstGeom>
          <a:ln w="28575">
            <a:solidFill>
              <a:srgbClr val="684205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spc="-10" dirty="0">
                <a:solidFill>
                  <a:srgbClr val="0D0D0D"/>
                </a:solidFill>
              </a:rPr>
              <a:t>Trees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165" dirty="0"/>
              <a:t>TREES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47015" indent="-227965">
              <a:lnSpc>
                <a:spcPct val="100000"/>
              </a:lnSpc>
              <a:spcBef>
                <a:spcPts val="260"/>
              </a:spcBef>
              <a:buClr>
                <a:srgbClr val="9BAEB5"/>
              </a:buClr>
              <a:buFont typeface="Arial MT"/>
              <a:buChar char="•"/>
              <a:tabLst>
                <a:tab pos="247015" algn="l"/>
              </a:tabLst>
            </a:pPr>
            <a:r>
              <a:rPr dirty="0"/>
              <a:t>A</a:t>
            </a:r>
            <a:r>
              <a:rPr spc="-105" dirty="0"/>
              <a:t> </a:t>
            </a:r>
            <a:r>
              <a:rPr dirty="0"/>
              <a:t>tree</a:t>
            </a:r>
            <a:r>
              <a:rPr spc="-2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b="1" dirty="0">
                <a:latin typeface="Times New Roman"/>
                <a:cs typeface="Times New Roman"/>
              </a:rPr>
              <a:t>nonlinear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structure,</a:t>
            </a:r>
            <a:r>
              <a:rPr spc="-10" dirty="0"/>
              <a:t> </a:t>
            </a:r>
            <a:r>
              <a:rPr dirty="0"/>
              <a:t>compared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arrays,</a:t>
            </a:r>
            <a:r>
              <a:rPr spc="-50" dirty="0"/>
              <a:t> </a:t>
            </a:r>
            <a:r>
              <a:rPr dirty="0"/>
              <a:t>linked</a:t>
            </a:r>
            <a:r>
              <a:rPr spc="-10" dirty="0"/>
              <a:t> </a:t>
            </a:r>
            <a:r>
              <a:rPr dirty="0"/>
              <a:t>lists,</a:t>
            </a:r>
            <a:r>
              <a:rPr spc="-5" dirty="0"/>
              <a:t> </a:t>
            </a:r>
            <a:r>
              <a:rPr dirty="0"/>
              <a:t>stacks</a:t>
            </a:r>
            <a:r>
              <a:rPr spc="-10" dirty="0"/>
              <a:t> </a:t>
            </a:r>
            <a:r>
              <a:rPr dirty="0"/>
              <a:t>and </a:t>
            </a:r>
            <a:r>
              <a:rPr spc="-10" dirty="0"/>
              <a:t>queues</a:t>
            </a:r>
          </a:p>
          <a:p>
            <a:pPr marL="247650">
              <a:lnSpc>
                <a:spcPct val="100000"/>
              </a:lnSpc>
              <a:spcBef>
                <a:spcPts val="155"/>
              </a:spcBef>
            </a:pP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linear</a:t>
            </a:r>
            <a:r>
              <a:rPr spc="-3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structures.</a:t>
            </a:r>
          </a:p>
          <a:p>
            <a:pPr marL="247650" marR="251460" indent="-228600">
              <a:lnSpc>
                <a:spcPct val="107200"/>
              </a:lnSpc>
              <a:spcBef>
                <a:spcPts val="795"/>
              </a:spcBef>
              <a:buChar char="•"/>
              <a:tabLst>
                <a:tab pos="247650" algn="l"/>
                <a:tab pos="291465" algn="l"/>
              </a:tabLst>
            </a:pPr>
            <a:r>
              <a:rPr dirty="0">
                <a:solidFill>
                  <a:srgbClr val="9BAEB5"/>
                </a:solidFill>
                <a:latin typeface="Arial MT"/>
                <a:cs typeface="Arial MT"/>
              </a:rPr>
              <a:t>	</a:t>
            </a:r>
            <a:r>
              <a:rPr dirty="0"/>
              <a:t>A</a:t>
            </a:r>
            <a:r>
              <a:rPr spc="-110" dirty="0"/>
              <a:t> </a:t>
            </a:r>
            <a:r>
              <a:rPr dirty="0"/>
              <a:t>tree</a:t>
            </a:r>
            <a:r>
              <a:rPr spc="-35" dirty="0"/>
              <a:t> </a:t>
            </a:r>
            <a:r>
              <a:rPr dirty="0"/>
              <a:t>can</a:t>
            </a:r>
            <a:r>
              <a:rPr spc="-20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b="1" dirty="0">
                <a:latin typeface="Times New Roman"/>
                <a:cs typeface="Times New Roman"/>
              </a:rPr>
              <a:t>empty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b="1" dirty="0">
                <a:latin typeface="Times New Roman"/>
                <a:cs typeface="Times New Roman"/>
              </a:rPr>
              <a:t>no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nodes</a:t>
            </a:r>
            <a:r>
              <a:rPr dirty="0"/>
              <a:t>,</a:t>
            </a:r>
            <a:r>
              <a:rPr spc="-25" dirty="0"/>
              <a:t> </a:t>
            </a:r>
            <a:r>
              <a:rPr dirty="0"/>
              <a:t>or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tree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is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structure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consisting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one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Times New Roman"/>
                <a:cs typeface="Times New Roman"/>
              </a:rPr>
              <a:t>node </a:t>
            </a:r>
            <a:r>
              <a:rPr b="1" dirty="0">
                <a:latin typeface="Times New Roman"/>
                <a:cs typeface="Times New Roman"/>
              </a:rPr>
              <a:t>called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the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root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zero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or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one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or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more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subtrees.</a:t>
            </a:r>
          </a:p>
          <a:p>
            <a:pPr marL="247015" indent="-2279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47015" algn="l"/>
              </a:tabLst>
            </a:pPr>
            <a:r>
              <a:rPr dirty="0"/>
              <a:t>They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don’t have any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cyclic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dirty="0"/>
              <a:t>relations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there</a:t>
            </a:r>
            <a:r>
              <a:rPr spc="-1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b="1" dirty="0">
                <a:latin typeface="Times New Roman"/>
                <a:cs typeface="Times New Roman"/>
              </a:rPr>
              <a:t>only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one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path to a particular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node.</a:t>
            </a:r>
          </a:p>
          <a:p>
            <a:pPr marL="247650" marR="387350" indent="-228600">
              <a:lnSpc>
                <a:spcPct val="107200"/>
              </a:lnSpc>
              <a:spcBef>
                <a:spcPts val="800"/>
              </a:spcBef>
              <a:buClr>
                <a:srgbClr val="9BAEB5"/>
              </a:buClr>
              <a:buFont typeface="Arial MT"/>
              <a:buChar char="•"/>
              <a:tabLst>
                <a:tab pos="247650" algn="l"/>
              </a:tabLst>
            </a:pPr>
            <a:r>
              <a:rPr dirty="0"/>
              <a:t>A</a:t>
            </a:r>
            <a:r>
              <a:rPr spc="-114" dirty="0"/>
              <a:t> </a:t>
            </a:r>
            <a:r>
              <a:rPr dirty="0"/>
              <a:t>tree</a:t>
            </a:r>
            <a:r>
              <a:rPr spc="-50" dirty="0"/>
              <a:t> </a:t>
            </a:r>
            <a:r>
              <a:rPr dirty="0"/>
              <a:t>must</a:t>
            </a:r>
            <a:r>
              <a:rPr spc="-2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b="1" dirty="0">
                <a:latin typeface="Times New Roman"/>
                <a:cs typeface="Times New Roman"/>
              </a:rPr>
              <a:t>connected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dirty="0"/>
              <a:t>means</a:t>
            </a:r>
            <a:r>
              <a:rPr spc="-30" dirty="0"/>
              <a:t> </a:t>
            </a:r>
            <a:r>
              <a:rPr b="1" dirty="0">
                <a:latin typeface="Times New Roman"/>
                <a:cs typeface="Times New Roman"/>
              </a:rPr>
              <a:t>there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must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be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path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from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the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root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to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all </a:t>
            </a:r>
            <a:r>
              <a:rPr b="1" dirty="0">
                <a:latin typeface="Times New Roman"/>
                <a:cs typeface="Times New Roman"/>
              </a:rPr>
              <a:t>other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nodes.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2317" y="357377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2225" algn="ctr">
              <a:lnSpc>
                <a:spcPct val="100000"/>
              </a:lnSpc>
            </a:pPr>
            <a:r>
              <a:rPr sz="2400" spc="145" dirty="0"/>
              <a:t>TREES</a:t>
            </a:r>
            <a:r>
              <a:rPr sz="2400" spc="380" dirty="0"/>
              <a:t> </a:t>
            </a:r>
            <a:r>
              <a:rPr sz="2400" spc="160" dirty="0"/>
              <a:t>TERMINOLOGY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860295" y="1776069"/>
            <a:ext cx="8126095" cy="335343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95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Root</a:t>
            </a:r>
            <a:r>
              <a:rPr sz="2000" dirty="0">
                <a:latin typeface="Times New Roman"/>
                <a:cs typeface="Times New Roman"/>
              </a:rPr>
              <a:t>: 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(initial) node 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tree, where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operations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start.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Node</a:t>
            </a:r>
            <a:r>
              <a:rPr sz="2000" dirty="0">
                <a:latin typeface="Times New Roman"/>
                <a:cs typeface="Times New Roman"/>
              </a:rPr>
              <a:t>: each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tree, usually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key-</a:t>
            </a:r>
            <a:r>
              <a:rPr sz="2000" spc="-1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  <a:p>
            <a:pPr marL="239395" marR="5080" indent="-22669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Edge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n-1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edges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(where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nodes)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representing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connection between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nodes.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Parent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predecessor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node.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Child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node 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descendant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 </a:t>
            </a:r>
            <a:r>
              <a:rPr sz="2000" spc="-10" dirty="0">
                <a:latin typeface="Times New Roman"/>
                <a:cs typeface="Times New Roman"/>
              </a:rPr>
              <a:t>node.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Siblings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group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 which have the same </a:t>
            </a:r>
            <a:r>
              <a:rPr sz="2000" spc="-10" dirty="0">
                <a:latin typeface="Times New Roman"/>
                <a:cs typeface="Times New Roman"/>
              </a:rPr>
              <a:t>parent.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b="1" dirty="0">
                <a:latin typeface="Times New Roman"/>
                <a:cs typeface="Times New Roman"/>
              </a:rPr>
              <a:t>Leaf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(terminal)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node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 </a:t>
            </a:r>
            <a:r>
              <a:rPr sz="2000" spc="-10" dirty="0">
                <a:latin typeface="Times New Roman"/>
                <a:cs typeface="Times New Roman"/>
              </a:rPr>
              <a:t>children.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2317" y="357377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2225" algn="ctr">
              <a:lnSpc>
                <a:spcPct val="100000"/>
              </a:lnSpc>
            </a:pPr>
            <a:r>
              <a:rPr sz="2400" spc="145" dirty="0"/>
              <a:t>TREES</a:t>
            </a:r>
            <a:r>
              <a:rPr sz="2400" spc="380" dirty="0"/>
              <a:t> </a:t>
            </a:r>
            <a:r>
              <a:rPr sz="2400" spc="160" dirty="0"/>
              <a:t>TERMINOLOGY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860295" y="1780880"/>
            <a:ext cx="8472805" cy="367474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Level: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path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root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n.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level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root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zero.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950"/>
              </a:spcBef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Also,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defined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root.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Height:</a:t>
            </a:r>
            <a:r>
              <a:rPr sz="18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its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root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furthest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leaf.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Sub-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tree: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portion of a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structure that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can be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viewed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as a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complete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 in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itself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 marR="5080" indent="227965" algn="just">
              <a:lnSpc>
                <a:spcPct val="107100"/>
              </a:lnSpc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different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types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 trees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you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work with,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like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Binary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Tree,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Binary</a:t>
            </a:r>
            <a:r>
              <a:rPr sz="18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Search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Tree,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Red-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Black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tree,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imes New Roman"/>
                <a:cs typeface="Times New Roman"/>
              </a:rPr>
              <a:t>AVL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tree,</a:t>
            </a:r>
            <a:r>
              <a:rPr sz="18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Heap,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etc.</a:t>
            </a:r>
            <a:r>
              <a:rPr sz="1800" spc="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deciding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factor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type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performance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800" spc="4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Since</a:t>
            </a:r>
            <a:r>
              <a:rPr sz="1800" spc="4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r>
              <a:rPr sz="1800" spc="4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4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1800" spc="4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structures,</a:t>
            </a:r>
            <a:r>
              <a:rPr sz="1800" spc="4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performance</a:t>
            </a:r>
            <a:r>
              <a:rPr sz="1800" b="1" spc="4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b="1" spc="40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measured</a:t>
            </a:r>
            <a:r>
              <a:rPr sz="1800" b="1" spc="4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4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terms</a:t>
            </a:r>
            <a:r>
              <a:rPr sz="1800" b="1" spc="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inserting</a:t>
            </a:r>
            <a:r>
              <a:rPr sz="18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b="1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retrieving</a:t>
            </a:r>
            <a:r>
              <a:rPr sz="18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2214" y="197357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21590" algn="ctr">
              <a:lnSpc>
                <a:spcPct val="100000"/>
              </a:lnSpc>
            </a:pPr>
            <a:r>
              <a:rPr sz="2400" spc="145" dirty="0"/>
              <a:t>TREES</a:t>
            </a:r>
            <a:r>
              <a:rPr sz="2400" spc="380" dirty="0"/>
              <a:t> </a:t>
            </a:r>
            <a:r>
              <a:rPr sz="2400" spc="160" dirty="0"/>
              <a:t>TERMINOLOGY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225677" y="1623441"/>
            <a:ext cx="9416415" cy="4737735"/>
            <a:chOff x="1225677" y="1623441"/>
            <a:chExt cx="9416415" cy="47377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252" y="1652016"/>
              <a:ext cx="9358884" cy="46802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39964" y="1637728"/>
              <a:ext cx="9387840" cy="4709160"/>
            </a:xfrm>
            <a:custGeom>
              <a:avLst/>
              <a:gdLst/>
              <a:ahLst/>
              <a:cxnLst/>
              <a:rect l="l" t="t" r="r" b="b"/>
              <a:pathLst>
                <a:path w="9387840" h="4709160">
                  <a:moveTo>
                    <a:pt x="0" y="4708779"/>
                  </a:moveTo>
                  <a:lnTo>
                    <a:pt x="9387459" y="4708779"/>
                  </a:lnTo>
                  <a:lnTo>
                    <a:pt x="9387459" y="0"/>
                  </a:lnTo>
                  <a:lnTo>
                    <a:pt x="0" y="0"/>
                  </a:lnTo>
                  <a:lnTo>
                    <a:pt x="0" y="470877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942" y="2263901"/>
            <a:ext cx="7580376" cy="1601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02942" y="2263901"/>
            <a:ext cx="7580630" cy="1602105"/>
          </a:xfrm>
          <a:prstGeom prst="rect">
            <a:avLst/>
          </a:prstGeom>
          <a:ln w="28575">
            <a:solidFill>
              <a:srgbClr val="684205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0"/>
              </a:spcBef>
            </a:pPr>
            <a:endParaRPr sz="2400">
              <a:latin typeface="Times New Roman"/>
              <a:cs typeface="Times New Roman"/>
            </a:endParaRPr>
          </a:p>
          <a:p>
            <a:pPr marL="2040889" marR="2034539" indent="713105">
              <a:lnSpc>
                <a:spcPts val="2870"/>
              </a:lnSpc>
              <a:spcBef>
                <a:spcPts val="5"/>
              </a:spcBef>
            </a:pPr>
            <a:r>
              <a:rPr sz="2400" dirty="0">
                <a:solidFill>
                  <a:srgbClr val="0D0D0D"/>
                </a:solidFill>
              </a:rPr>
              <a:t>Key </a:t>
            </a:r>
            <a:r>
              <a:rPr sz="2400" spc="-10" dirty="0">
                <a:solidFill>
                  <a:srgbClr val="0D0D0D"/>
                </a:solidFill>
              </a:rPr>
              <a:t>Differences </a:t>
            </a:r>
            <a:r>
              <a:rPr sz="2400" dirty="0">
                <a:solidFill>
                  <a:srgbClr val="0D0D0D"/>
                </a:solidFill>
              </a:rPr>
              <a:t>Between</a:t>
            </a:r>
            <a:r>
              <a:rPr sz="2400" spc="-45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Graphs</a:t>
            </a:r>
            <a:r>
              <a:rPr sz="2400" spc="-50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and</a:t>
            </a:r>
            <a:r>
              <a:rPr sz="2400" spc="-90" dirty="0">
                <a:solidFill>
                  <a:srgbClr val="0D0D0D"/>
                </a:solidFill>
              </a:rPr>
              <a:t> </a:t>
            </a:r>
            <a:r>
              <a:rPr sz="2400" spc="-30" dirty="0">
                <a:solidFill>
                  <a:srgbClr val="0D0D0D"/>
                </a:solidFill>
              </a:rPr>
              <a:t>Trees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2694" y="406145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217804" rIns="0" bIns="0" rtlCol="0">
            <a:spAutoFit/>
          </a:bodyPr>
          <a:lstStyle/>
          <a:p>
            <a:pPr marR="20320" algn="ctr">
              <a:lnSpc>
                <a:spcPts val="2735"/>
              </a:lnSpc>
              <a:spcBef>
                <a:spcPts val="1714"/>
              </a:spcBef>
            </a:pPr>
            <a:r>
              <a:rPr sz="24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KEY</a:t>
            </a:r>
            <a:r>
              <a:rPr sz="2400" b="1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60" dirty="0">
                <a:solidFill>
                  <a:srgbClr val="252525"/>
                </a:solidFill>
                <a:latin typeface="Times New Roman"/>
                <a:cs typeface="Times New Roman"/>
              </a:rPr>
              <a:t>DIFFERENCES</a:t>
            </a:r>
            <a:endParaRPr sz="2400">
              <a:latin typeface="Times New Roman"/>
              <a:cs typeface="Times New Roman"/>
            </a:endParaRPr>
          </a:p>
          <a:p>
            <a:pPr marR="26670" algn="ctr">
              <a:lnSpc>
                <a:spcPts val="2735"/>
              </a:lnSpc>
            </a:pPr>
            <a:r>
              <a:rPr sz="2400" b="1" spc="165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2400" b="1" spc="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55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2400" b="1" spc="2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1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400" b="1" spc="3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0242" y="2519629"/>
            <a:ext cx="8392795" cy="307530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r>
              <a:rPr sz="1800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mainly</a:t>
            </a:r>
            <a:r>
              <a:rPr sz="1800" spc="3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differentiated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800" spc="3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fact</a:t>
            </a:r>
            <a:r>
              <a:rPr sz="1800" spc="3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structure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must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60"/>
              </a:spcBef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connected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18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never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have</a:t>
            </a:r>
            <a:r>
              <a:rPr sz="18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loops</a:t>
            </a:r>
            <a:r>
              <a:rPr sz="18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while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 the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 such</a:t>
            </a:r>
            <a:r>
              <a:rPr sz="18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restrictions.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7000"/>
              </a:lnSpc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3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1800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nodes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must</a:t>
            </a:r>
            <a:r>
              <a:rPr sz="1800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reachable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1800" spc="3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3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root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3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must</a:t>
            </a:r>
            <a:r>
              <a:rPr sz="1800" spc="3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3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exactly</a:t>
            </a:r>
            <a:r>
              <a:rPr sz="1800" b="1" spc="3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one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possible</a:t>
            </a:r>
            <a:r>
              <a:rPr sz="1800" b="1" spc="2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path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2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root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b="1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b="1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node.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2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2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2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2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800" b="1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rules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dictating</a:t>
            </a:r>
            <a:r>
              <a:rPr sz="1800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connections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among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nodes.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85"/>
              </a:spcBef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Main</a:t>
            </a:r>
            <a:r>
              <a:rPr sz="1800" b="1" spc="1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800" b="1" spc="2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2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1800" b="1" spc="1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b="1" spc="20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coloring</a:t>
            </a:r>
            <a:r>
              <a:rPr sz="1800" b="1" spc="20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b="1" spc="1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job</a:t>
            </a:r>
            <a:r>
              <a:rPr sz="1800" b="1" spc="20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scheduling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2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800" spc="20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2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800" spc="2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hand</a:t>
            </a:r>
            <a:r>
              <a:rPr sz="1800" spc="1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main</a:t>
            </a:r>
            <a:r>
              <a:rPr sz="1800" b="1" spc="2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800" b="1" spc="2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55"/>
              </a:spcBef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b="1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sorting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traversing.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2694" y="406145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217804" rIns="0" bIns="0" rtlCol="0">
            <a:spAutoFit/>
          </a:bodyPr>
          <a:lstStyle/>
          <a:p>
            <a:pPr marR="20320" algn="ctr">
              <a:lnSpc>
                <a:spcPts val="2735"/>
              </a:lnSpc>
              <a:spcBef>
                <a:spcPts val="1714"/>
              </a:spcBef>
            </a:pPr>
            <a:r>
              <a:rPr sz="24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KEY</a:t>
            </a:r>
            <a:r>
              <a:rPr sz="2400" b="1" spc="3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60" dirty="0">
                <a:solidFill>
                  <a:srgbClr val="252525"/>
                </a:solidFill>
                <a:latin typeface="Times New Roman"/>
                <a:cs typeface="Times New Roman"/>
              </a:rPr>
              <a:t>DIFFERENCES</a:t>
            </a:r>
            <a:endParaRPr sz="2400">
              <a:latin typeface="Times New Roman"/>
              <a:cs typeface="Times New Roman"/>
            </a:endParaRPr>
          </a:p>
          <a:p>
            <a:pPr marR="26670" algn="ctr">
              <a:lnSpc>
                <a:spcPts val="2735"/>
              </a:lnSpc>
            </a:pPr>
            <a:r>
              <a:rPr sz="2400" b="1" spc="165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2400" b="1" spc="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55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2400" b="1" spc="2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1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2400" b="1" spc="3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25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0242" y="2036445"/>
            <a:ext cx="8392795" cy="307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15" indent="-228600" algn="just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b="1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edges</a:t>
            </a:r>
            <a:r>
              <a:rPr sz="1800" b="1" spc="1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doesn’t</a:t>
            </a:r>
            <a:r>
              <a:rPr sz="1800" b="1" spc="1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depend</a:t>
            </a:r>
            <a:r>
              <a:rPr sz="1800" b="1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800" b="1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b="1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contrary,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has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“n”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(nodes)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must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have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exactly</a:t>
            </a:r>
            <a:r>
              <a:rPr sz="1800" b="1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“n-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1”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edges.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0"/>
              </a:spcBef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must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root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tree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while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such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concept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graph.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0"/>
              </a:spcBef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7100"/>
              </a:lnSpc>
              <a:spcBef>
                <a:spcPts val="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Basically</a:t>
            </a:r>
            <a:r>
              <a:rPr sz="18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speaking,</a:t>
            </a:r>
            <a:r>
              <a:rPr sz="1800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8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tree</a:t>
            </a:r>
            <a:r>
              <a:rPr sz="1800" b="1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800" b="1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just</a:t>
            </a:r>
            <a:r>
              <a:rPr sz="18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800" b="1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restricted</a:t>
            </a:r>
            <a:r>
              <a:rPr sz="18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form</a:t>
            </a:r>
            <a:r>
              <a:rPr sz="1800" b="1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800" b="1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8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graph</a:t>
            </a:r>
            <a:r>
              <a:rPr sz="1800" b="1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(connected</a:t>
            </a:r>
            <a:r>
              <a:rPr sz="1800" b="1" spc="2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acyclic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graph).</a:t>
            </a:r>
            <a:r>
              <a:rPr sz="1800" b="1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Also</a:t>
            </a:r>
            <a:r>
              <a:rPr sz="1800" spc="8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known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8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minimally</a:t>
            </a:r>
            <a:r>
              <a:rPr sz="1800" spc="8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1800" spc="7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graph.</a:t>
            </a:r>
            <a:r>
              <a:rPr sz="1800" spc="4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800" spc="7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makes</a:t>
            </a:r>
            <a:r>
              <a:rPr sz="1800" spc="9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1800" b="1" spc="75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more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complex</a:t>
            </a:r>
            <a:r>
              <a:rPr sz="1800" b="1" spc="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structures</a:t>
            </a:r>
            <a:r>
              <a:rPr sz="1800" b="1" spc="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compared</a:t>
            </a:r>
            <a:r>
              <a:rPr sz="1800" b="1" spc="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b="1" spc="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r>
              <a:rPr sz="1800" b="1" spc="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due</a:t>
            </a:r>
            <a:r>
              <a:rPr sz="1800" b="1" spc="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b="1" spc="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loops</a:t>
            </a:r>
            <a:r>
              <a:rPr sz="1800" b="1" spc="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b="1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circuits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they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may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have.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42694" y="406145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27940" algn="ctr">
              <a:lnSpc>
                <a:spcPct val="100000"/>
              </a:lnSpc>
            </a:pPr>
            <a:r>
              <a:rPr sz="2400" spc="160" dirty="0"/>
              <a:t>EXAMPLE</a:t>
            </a:r>
            <a:r>
              <a:rPr sz="2400" spc="385" dirty="0"/>
              <a:t> </a:t>
            </a:r>
            <a:r>
              <a:rPr sz="2400" spc="100" dirty="0"/>
              <a:t>OF</a:t>
            </a:r>
            <a:r>
              <a:rPr sz="2400" spc="160" dirty="0"/>
              <a:t> </a:t>
            </a:r>
            <a:r>
              <a:rPr sz="2400" dirty="0"/>
              <a:t>A</a:t>
            </a:r>
            <a:r>
              <a:rPr sz="2400" spc="215" dirty="0"/>
              <a:t> </a:t>
            </a:r>
            <a:r>
              <a:rPr sz="2400" spc="140" dirty="0"/>
              <a:t>TREE</a:t>
            </a:r>
            <a:r>
              <a:rPr sz="2400" spc="275" dirty="0"/>
              <a:t> </a:t>
            </a:r>
            <a:r>
              <a:rPr sz="2400" spc="110" dirty="0"/>
              <a:t>AND</a:t>
            </a:r>
            <a:r>
              <a:rPr sz="2400" spc="280" dirty="0"/>
              <a:t> </a:t>
            </a:r>
            <a:r>
              <a:rPr sz="2400" dirty="0"/>
              <a:t>A</a:t>
            </a:r>
            <a:r>
              <a:rPr sz="2400" spc="265" dirty="0"/>
              <a:t> </a:t>
            </a:r>
            <a:r>
              <a:rPr sz="2400" spc="140" dirty="0"/>
              <a:t>GRAPH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004060"/>
            <a:ext cx="6400800" cy="40203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942" y="2263901"/>
            <a:ext cx="7580376" cy="1601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02942" y="2263901"/>
            <a:ext cx="7580630" cy="1602105"/>
          </a:xfrm>
          <a:prstGeom prst="rect">
            <a:avLst/>
          </a:prstGeom>
          <a:ln w="28575">
            <a:solidFill>
              <a:srgbClr val="684205"/>
            </a:solidFill>
          </a:ln>
        </p:spPr>
        <p:txBody>
          <a:bodyPr vert="horz" wrap="square" lIns="0" tIns="254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5"/>
              </a:spcBef>
            </a:pPr>
            <a:endParaRPr sz="2400">
              <a:latin typeface="Times New Roman"/>
              <a:cs typeface="Times New Roman"/>
            </a:endParaRPr>
          </a:p>
          <a:p>
            <a:pPr marL="506095">
              <a:lnSpc>
                <a:spcPct val="100000"/>
              </a:lnSpc>
            </a:pPr>
            <a:r>
              <a:rPr sz="2400" spc="-10" dirty="0">
                <a:solidFill>
                  <a:srgbClr val="0D0D0D"/>
                </a:solidFill>
              </a:rPr>
              <a:t>Representation</a:t>
            </a:r>
            <a:r>
              <a:rPr sz="2400" spc="-60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of</a:t>
            </a:r>
            <a:r>
              <a:rPr sz="2400" spc="-45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Graphs</a:t>
            </a:r>
            <a:r>
              <a:rPr sz="2400" spc="-40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and</a:t>
            </a:r>
            <a:r>
              <a:rPr sz="2400" spc="-90" dirty="0">
                <a:solidFill>
                  <a:srgbClr val="0D0D0D"/>
                </a:solidFill>
              </a:rPr>
              <a:t> </a:t>
            </a:r>
            <a:r>
              <a:rPr sz="2400" spc="-25" dirty="0">
                <a:solidFill>
                  <a:srgbClr val="0D0D0D"/>
                </a:solidFill>
              </a:rPr>
              <a:t>Trees</a:t>
            </a:r>
            <a:r>
              <a:rPr sz="2400" spc="-40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in</a:t>
            </a:r>
            <a:r>
              <a:rPr sz="2400" spc="-55" dirty="0">
                <a:solidFill>
                  <a:srgbClr val="0D0D0D"/>
                </a:solidFill>
              </a:rPr>
              <a:t> </a:t>
            </a:r>
            <a:r>
              <a:rPr sz="2400" spc="-10" dirty="0">
                <a:solidFill>
                  <a:srgbClr val="0D0D0D"/>
                </a:solidFill>
              </a:rPr>
              <a:t>Computers</a:t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942" y="2263901"/>
            <a:ext cx="7580376" cy="1601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02942" y="2263901"/>
            <a:ext cx="7580630" cy="1602105"/>
          </a:xfrm>
          <a:prstGeom prst="rect">
            <a:avLst/>
          </a:prstGeom>
          <a:ln w="28575">
            <a:solidFill>
              <a:srgbClr val="684205"/>
            </a:solidFill>
          </a:ln>
        </p:spPr>
        <p:txBody>
          <a:bodyPr vert="horz" wrap="square" lIns="0" tIns="254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10" dirty="0">
                <a:solidFill>
                  <a:srgbClr val="0D0D0D"/>
                </a:solidFill>
              </a:rPr>
              <a:t>Representation</a:t>
            </a:r>
            <a:r>
              <a:rPr sz="2400" spc="-45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of</a:t>
            </a:r>
            <a:r>
              <a:rPr sz="2400" spc="-25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Graphs</a:t>
            </a:r>
            <a:r>
              <a:rPr sz="2400" spc="-30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in</a:t>
            </a:r>
            <a:r>
              <a:rPr sz="2400" spc="-25" dirty="0">
                <a:solidFill>
                  <a:srgbClr val="0D0D0D"/>
                </a:solidFill>
              </a:rPr>
              <a:t> </a:t>
            </a:r>
            <a:r>
              <a:rPr sz="2400" spc="-10" dirty="0">
                <a:solidFill>
                  <a:srgbClr val="0D0D0D"/>
                </a:solidFill>
              </a:rPr>
              <a:t>Computers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5400" algn="ctr">
              <a:lnSpc>
                <a:spcPct val="100000"/>
              </a:lnSpc>
            </a:pPr>
            <a:r>
              <a:rPr sz="2400" spc="150" dirty="0"/>
              <a:t>GRAPH</a:t>
            </a:r>
            <a:r>
              <a:rPr sz="2400" spc="385" dirty="0"/>
              <a:t> </a:t>
            </a:r>
            <a:r>
              <a:rPr sz="2400" spc="135" dirty="0"/>
              <a:t>REPRESENTATION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310129" y="2539974"/>
            <a:ext cx="7291705" cy="160845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Different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structures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representation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graphs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used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practice:</a:t>
            </a:r>
            <a:endParaRPr sz="1800">
              <a:latin typeface="Times New Roman"/>
              <a:cs typeface="Times New Roman"/>
            </a:endParaRPr>
          </a:p>
          <a:p>
            <a:pPr marL="583565" lvl="1" indent="-342265">
              <a:lnSpc>
                <a:spcPct val="100000"/>
              </a:lnSpc>
              <a:spcBef>
                <a:spcPts val="960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Adjacency</a:t>
            </a:r>
            <a:r>
              <a:rPr sz="1800" spc="-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Matrix.</a:t>
            </a:r>
            <a:endParaRPr sz="1800">
              <a:latin typeface="Times New Roman"/>
              <a:cs typeface="Times New Roman"/>
            </a:endParaRPr>
          </a:p>
          <a:p>
            <a:pPr marL="583565" lvl="1" indent="-342265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Adjacency</a:t>
            </a:r>
            <a:r>
              <a:rPr sz="1800" spc="-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List.</a:t>
            </a:r>
            <a:endParaRPr sz="1800">
              <a:latin typeface="Times New Roman"/>
              <a:cs typeface="Times New Roman"/>
            </a:endParaRPr>
          </a:p>
          <a:p>
            <a:pPr marL="583565" lvl="1" indent="-342265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Incidence</a:t>
            </a:r>
            <a:r>
              <a:rPr sz="1800" spc="-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Matrix.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4846" y="366522"/>
            <a:ext cx="852678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90"/>
              </a:spcBef>
            </a:pPr>
            <a:endParaRPr/>
          </a:p>
          <a:p>
            <a:pPr marL="716915">
              <a:lnSpc>
                <a:spcPct val="100000"/>
              </a:lnSpc>
            </a:pPr>
            <a:r>
              <a:rPr spc="150" dirty="0"/>
              <a:t>GRAPH</a:t>
            </a:r>
            <a:r>
              <a:rPr spc="390" dirty="0"/>
              <a:t> </a:t>
            </a:r>
            <a:r>
              <a:rPr spc="150" dirty="0"/>
              <a:t>REPRESENTATION:</a:t>
            </a:r>
            <a:r>
              <a:rPr spc="275" dirty="0"/>
              <a:t> </a:t>
            </a:r>
            <a:r>
              <a:rPr spc="165" dirty="0"/>
              <a:t>ADJACENCY</a:t>
            </a:r>
            <a:r>
              <a:rPr spc="325" dirty="0"/>
              <a:t> </a:t>
            </a:r>
            <a:r>
              <a:rPr spc="12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1695" y="2324861"/>
            <a:ext cx="8368665" cy="1697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b="1" spc="-1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two-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dimensional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matrix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rows</a:t>
            </a:r>
            <a:r>
              <a:rPr sz="18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represent</a:t>
            </a:r>
            <a:r>
              <a:rPr sz="18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source</a:t>
            </a:r>
            <a:r>
              <a:rPr sz="18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columns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represent</a:t>
            </a:r>
            <a:r>
              <a:rPr sz="1800" b="1" spc="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destination</a:t>
            </a:r>
            <a:r>
              <a:rPr sz="1800" b="1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vertices.</a:t>
            </a:r>
            <a:r>
              <a:rPr sz="1800" b="1" spc="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Only</a:t>
            </a:r>
            <a:r>
              <a:rPr sz="18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cost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18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stored</a:t>
            </a:r>
            <a:r>
              <a:rPr sz="18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between</a:t>
            </a:r>
            <a:r>
              <a:rPr sz="1800" spc="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each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pair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vertices.</a:t>
            </a:r>
            <a:endParaRPr sz="18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Size: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8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Calibri"/>
                <a:cs typeface="Calibri"/>
              </a:rPr>
              <a:t>×</a:t>
            </a:r>
            <a:r>
              <a:rPr sz="18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imes New Roman"/>
                <a:cs typeface="Times New Roman"/>
              </a:rPr>
              <a:t>V,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where is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number of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 the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Graph.</a:t>
            </a:r>
            <a:endParaRPr sz="18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adjMatrix[i][j]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when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there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b/w</a:t>
            </a:r>
            <a:r>
              <a:rPr sz="18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j,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else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0.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4846" y="366522"/>
            <a:ext cx="852678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90"/>
              </a:spcBef>
            </a:pPr>
            <a:endParaRPr/>
          </a:p>
          <a:p>
            <a:pPr marL="974090">
              <a:lnSpc>
                <a:spcPct val="100000"/>
              </a:lnSpc>
            </a:pPr>
            <a:r>
              <a:rPr spc="155" dirty="0"/>
              <a:t>GRAPH</a:t>
            </a:r>
            <a:r>
              <a:rPr spc="385" dirty="0"/>
              <a:t> </a:t>
            </a:r>
            <a:r>
              <a:rPr spc="155" dirty="0"/>
              <a:t>REPRESENTATION:</a:t>
            </a:r>
            <a:r>
              <a:rPr spc="270" dirty="0"/>
              <a:t> </a:t>
            </a:r>
            <a:r>
              <a:rPr spc="170" dirty="0"/>
              <a:t>ADJACENCY</a:t>
            </a:r>
            <a:r>
              <a:rPr spc="315" dirty="0"/>
              <a:t> </a:t>
            </a:r>
            <a:r>
              <a:rPr spc="12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1695" y="2324861"/>
            <a:ext cx="8368030" cy="159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15" indent="-228600" algn="just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Adjacency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List</a:t>
            </a:r>
            <a:r>
              <a:rPr sz="1800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Array[]</a:t>
            </a:r>
            <a:r>
              <a:rPr sz="1800" b="1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Linked</a:t>
            </a:r>
            <a:r>
              <a:rPr sz="1800" b="1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List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where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array</a:t>
            </a:r>
            <a:r>
              <a:rPr sz="1800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size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same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800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graph.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Every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Vertex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has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Linked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List.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7000"/>
              </a:lnSpc>
              <a:spcBef>
                <a:spcPts val="79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Each</a:t>
            </a:r>
            <a:r>
              <a:rPr sz="1800" spc="1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spc="1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1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800" spc="1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linked</a:t>
            </a:r>
            <a:r>
              <a:rPr sz="1800" spc="1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list</a:t>
            </a:r>
            <a:r>
              <a:rPr sz="1800" spc="1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represents</a:t>
            </a:r>
            <a:r>
              <a:rPr sz="1800" spc="1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1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reference</a:t>
            </a:r>
            <a:r>
              <a:rPr sz="1800" b="1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1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1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800" spc="10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vertices</a:t>
            </a:r>
            <a:r>
              <a:rPr sz="1800" spc="1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1800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share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1800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edge</a:t>
            </a:r>
            <a:r>
              <a:rPr sz="1800" spc="2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1800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3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current</a:t>
            </a:r>
            <a:r>
              <a:rPr sz="1800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vertex.</a:t>
            </a:r>
            <a:r>
              <a:rPr sz="1800" spc="3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weights</a:t>
            </a:r>
            <a:r>
              <a:rPr sz="1800" b="1" spc="2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also</a:t>
            </a:r>
            <a:r>
              <a:rPr sz="1800" b="1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stored</a:t>
            </a:r>
            <a:r>
              <a:rPr sz="1800" b="1" spc="2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b="1" spc="27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2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linked</a:t>
            </a:r>
            <a:r>
              <a:rPr sz="1800" b="1" spc="29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list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node.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4846" y="366522"/>
            <a:ext cx="852678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25400" algn="ctr">
              <a:lnSpc>
                <a:spcPct val="100000"/>
              </a:lnSpc>
            </a:pPr>
            <a:r>
              <a:rPr sz="2400" spc="150" dirty="0"/>
              <a:t>GRAPH</a:t>
            </a:r>
            <a:r>
              <a:rPr sz="2400" spc="385" dirty="0"/>
              <a:t> </a:t>
            </a:r>
            <a:r>
              <a:rPr sz="2400" spc="135" dirty="0"/>
              <a:t>REPRESENTATION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405572" y="1879473"/>
            <a:ext cx="8583930" cy="4126229"/>
            <a:chOff x="1405572" y="1879473"/>
            <a:chExt cx="8583930" cy="41262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4084" y="1908048"/>
              <a:ext cx="8526780" cy="40690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19860" y="1893760"/>
              <a:ext cx="8555355" cy="4097654"/>
            </a:xfrm>
            <a:custGeom>
              <a:avLst/>
              <a:gdLst/>
              <a:ahLst/>
              <a:cxnLst/>
              <a:rect l="l" t="t" r="r" b="b"/>
              <a:pathLst>
                <a:path w="8555355" h="4097654">
                  <a:moveTo>
                    <a:pt x="0" y="4097654"/>
                  </a:moveTo>
                  <a:lnTo>
                    <a:pt x="8555355" y="4097654"/>
                  </a:lnTo>
                  <a:lnTo>
                    <a:pt x="8555355" y="0"/>
                  </a:lnTo>
                  <a:lnTo>
                    <a:pt x="0" y="0"/>
                  </a:lnTo>
                  <a:lnTo>
                    <a:pt x="0" y="4097654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34846" y="366522"/>
            <a:ext cx="852678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25400" algn="ctr">
              <a:lnSpc>
                <a:spcPct val="100000"/>
              </a:lnSpc>
            </a:pPr>
            <a:r>
              <a:rPr sz="2400" spc="150" dirty="0"/>
              <a:t>GRAPH</a:t>
            </a:r>
            <a:r>
              <a:rPr sz="2400" spc="385" dirty="0"/>
              <a:t> </a:t>
            </a:r>
            <a:r>
              <a:rPr sz="2400" spc="135" dirty="0"/>
              <a:t>REPRESENTATION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405572" y="1989201"/>
            <a:ext cx="8583930" cy="4240530"/>
            <a:chOff x="1405572" y="1989201"/>
            <a:chExt cx="8583930" cy="42405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4084" y="2017776"/>
              <a:ext cx="8526780" cy="41833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19860" y="2003488"/>
              <a:ext cx="8555355" cy="4211955"/>
            </a:xfrm>
            <a:custGeom>
              <a:avLst/>
              <a:gdLst/>
              <a:ahLst/>
              <a:cxnLst/>
              <a:rect l="l" t="t" r="r" b="b"/>
              <a:pathLst>
                <a:path w="8555355" h="4211955">
                  <a:moveTo>
                    <a:pt x="0" y="4211955"/>
                  </a:moveTo>
                  <a:lnTo>
                    <a:pt x="8555355" y="4211955"/>
                  </a:lnTo>
                  <a:lnTo>
                    <a:pt x="8555355" y="0"/>
                  </a:lnTo>
                  <a:lnTo>
                    <a:pt x="0" y="0"/>
                  </a:lnTo>
                  <a:lnTo>
                    <a:pt x="0" y="421195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2942" y="2263901"/>
            <a:ext cx="7580376" cy="1601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02942" y="2263901"/>
            <a:ext cx="7580630" cy="1602105"/>
          </a:xfrm>
          <a:prstGeom prst="rect">
            <a:avLst/>
          </a:prstGeom>
          <a:ln w="28575">
            <a:solidFill>
              <a:srgbClr val="684205"/>
            </a:solidFill>
          </a:ln>
        </p:spPr>
        <p:txBody>
          <a:bodyPr vert="horz" wrap="square" lIns="0" tIns="254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10" dirty="0">
                <a:solidFill>
                  <a:srgbClr val="0D0D0D"/>
                </a:solidFill>
              </a:rPr>
              <a:t>Representation</a:t>
            </a:r>
            <a:r>
              <a:rPr sz="2400" spc="-60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of</a:t>
            </a:r>
            <a:r>
              <a:rPr sz="2400" spc="-85" dirty="0">
                <a:solidFill>
                  <a:srgbClr val="0D0D0D"/>
                </a:solidFill>
              </a:rPr>
              <a:t> </a:t>
            </a:r>
            <a:r>
              <a:rPr sz="2400" spc="-25" dirty="0">
                <a:solidFill>
                  <a:srgbClr val="0D0D0D"/>
                </a:solidFill>
              </a:rPr>
              <a:t>Trees</a:t>
            </a:r>
            <a:r>
              <a:rPr sz="2400" spc="-40" dirty="0">
                <a:solidFill>
                  <a:srgbClr val="0D0D0D"/>
                </a:solidFill>
              </a:rPr>
              <a:t> </a:t>
            </a:r>
            <a:r>
              <a:rPr sz="2400" dirty="0">
                <a:solidFill>
                  <a:srgbClr val="0D0D0D"/>
                </a:solidFill>
              </a:rPr>
              <a:t>in</a:t>
            </a:r>
            <a:r>
              <a:rPr sz="2400" spc="-40" dirty="0">
                <a:solidFill>
                  <a:srgbClr val="0D0D0D"/>
                </a:solidFill>
              </a:rPr>
              <a:t> </a:t>
            </a:r>
            <a:r>
              <a:rPr sz="2400" spc="-10" dirty="0">
                <a:solidFill>
                  <a:srgbClr val="0D0D0D"/>
                </a:solidFill>
              </a:rPr>
              <a:t>Computers</a:t>
            </a:r>
            <a:endParaRPr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11857" y="1003553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2400">
              <a:latin typeface="Times New Roman"/>
              <a:cs typeface="Times New Roman"/>
            </a:endParaRPr>
          </a:p>
          <a:p>
            <a:pPr marR="25400" algn="ctr">
              <a:lnSpc>
                <a:spcPct val="100000"/>
              </a:lnSpc>
            </a:pPr>
            <a:r>
              <a:rPr sz="2400" spc="140" dirty="0"/>
              <a:t>TREE</a:t>
            </a:r>
            <a:r>
              <a:rPr sz="2400" spc="400" dirty="0"/>
              <a:t> </a:t>
            </a:r>
            <a:r>
              <a:rPr sz="2400" spc="135" dirty="0"/>
              <a:t>REPRESENTATION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310129" y="2539974"/>
            <a:ext cx="7114540" cy="200342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Different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structures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representation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trees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used in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practice:</a:t>
            </a:r>
            <a:endParaRPr sz="1800">
              <a:latin typeface="Times New Roman"/>
              <a:cs typeface="Times New Roman"/>
            </a:endParaRPr>
          </a:p>
          <a:p>
            <a:pPr marL="583565" lvl="1" indent="-342265">
              <a:lnSpc>
                <a:spcPct val="100000"/>
              </a:lnSpc>
              <a:spcBef>
                <a:spcPts val="960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Arrays</a:t>
            </a:r>
            <a:endParaRPr sz="1800">
              <a:latin typeface="Times New Roman"/>
              <a:cs typeface="Times New Roman"/>
            </a:endParaRPr>
          </a:p>
          <a:p>
            <a:pPr marL="583565" lvl="1" indent="-342265">
              <a:lnSpc>
                <a:spcPct val="100000"/>
              </a:lnSpc>
              <a:spcBef>
                <a:spcPts val="950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Linked</a:t>
            </a:r>
            <a:r>
              <a:rPr sz="18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List</a:t>
            </a:r>
            <a:endParaRPr sz="1800">
              <a:latin typeface="Times New Roman"/>
              <a:cs typeface="Times New Roman"/>
            </a:endParaRPr>
          </a:p>
          <a:p>
            <a:pPr marL="755650" lvl="2" indent="-285750">
              <a:lnSpc>
                <a:spcPct val="100000"/>
              </a:lnSpc>
              <a:spcBef>
                <a:spcPts val="944"/>
              </a:spcBef>
              <a:buClr>
                <a:srgbClr val="9BAEB5"/>
              </a:buClr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Single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linked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list</a:t>
            </a:r>
            <a:endParaRPr sz="1800">
              <a:latin typeface="Times New Roman"/>
              <a:cs typeface="Times New Roman"/>
            </a:endParaRPr>
          </a:p>
          <a:p>
            <a:pPr marL="755650" lvl="2" indent="-285750">
              <a:lnSpc>
                <a:spcPct val="100000"/>
              </a:lnSpc>
              <a:spcBef>
                <a:spcPts val="955"/>
              </a:spcBef>
              <a:buClr>
                <a:srgbClr val="9BAEB5"/>
              </a:buClr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Double</a:t>
            </a:r>
            <a:r>
              <a:rPr sz="18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linked</a:t>
            </a:r>
            <a:r>
              <a:rPr sz="18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list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2317" y="425958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26034" algn="ctr">
              <a:lnSpc>
                <a:spcPct val="100000"/>
              </a:lnSpc>
            </a:pPr>
            <a:r>
              <a:rPr sz="2400" spc="135" dirty="0"/>
              <a:t>TREE</a:t>
            </a:r>
            <a:r>
              <a:rPr sz="2400" spc="425" dirty="0"/>
              <a:t> </a:t>
            </a:r>
            <a:r>
              <a:rPr sz="2400" spc="145" dirty="0"/>
              <a:t>REPRESENTATION:</a:t>
            </a:r>
            <a:r>
              <a:rPr sz="2400" spc="300" dirty="0"/>
              <a:t> </a:t>
            </a:r>
            <a:r>
              <a:rPr sz="2400" spc="70" dirty="0"/>
              <a:t>ARRAY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860295" y="2497073"/>
            <a:ext cx="8529320" cy="24053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41300" marR="5080" indent="-228600">
              <a:lnSpc>
                <a:spcPts val="2090"/>
              </a:lnSpc>
              <a:spcBef>
                <a:spcPts val="22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binary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depth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'n'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using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array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representation,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need</a:t>
            </a:r>
            <a:r>
              <a:rPr sz="18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dimensional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array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maximum size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2n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Clr>
                <a:srgbClr val="9BAEB5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27965" marR="5915660" indent="-227965" algn="r">
              <a:lnSpc>
                <a:spcPct val="100000"/>
              </a:lnSpc>
              <a:buClr>
                <a:srgbClr val="9BAEB5"/>
              </a:buClr>
              <a:buFont typeface="Arial MT"/>
              <a:buChar char="•"/>
              <a:tabLst>
                <a:tab pos="22796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 node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at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i-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index</a:t>
            </a:r>
            <a:endParaRPr sz="1800">
              <a:latin typeface="Times New Roman"/>
              <a:cs typeface="Times New Roman"/>
            </a:endParaRPr>
          </a:p>
          <a:p>
            <a:pPr marL="285750" marR="5857240" lvl="1" indent="-285750" algn="r">
              <a:lnSpc>
                <a:spcPct val="100000"/>
              </a:lnSpc>
              <a:spcBef>
                <a:spcPts val="745"/>
              </a:spcBef>
              <a:buClr>
                <a:srgbClr val="9BAEB5"/>
              </a:buClr>
              <a:buFont typeface="Wingdings"/>
              <a:buChar char=""/>
              <a:tabLst>
                <a:tab pos="28575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Left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child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at: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[(2*i)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+1]</a:t>
            </a:r>
            <a:endParaRPr sz="1800">
              <a:latin typeface="Times New Roman"/>
              <a:cs typeface="Times New Roman"/>
            </a:endParaRPr>
          </a:p>
          <a:p>
            <a:pPr marL="527685" lvl="1" indent="-286385">
              <a:lnSpc>
                <a:spcPct val="100000"/>
              </a:lnSpc>
              <a:spcBef>
                <a:spcPts val="735"/>
              </a:spcBef>
              <a:buClr>
                <a:srgbClr val="9BAEB5"/>
              </a:buClr>
              <a:buFont typeface="Wingdings"/>
              <a:buChar char=""/>
              <a:tabLst>
                <a:tab pos="527685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Right child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at: [(2*</a:t>
            </a:r>
            <a:r>
              <a:rPr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i)+2]</a:t>
            </a:r>
            <a:endParaRPr sz="1800">
              <a:latin typeface="Times New Roman"/>
              <a:cs typeface="Times New Roman"/>
            </a:endParaRPr>
          </a:p>
          <a:p>
            <a:pPr marL="527050" lvl="1" indent="-285750">
              <a:lnSpc>
                <a:spcPct val="100000"/>
              </a:lnSpc>
              <a:spcBef>
                <a:spcPts val="780"/>
              </a:spcBef>
              <a:buClr>
                <a:srgbClr val="9BAEB5"/>
              </a:buClr>
              <a:buFont typeface="Wingdings"/>
              <a:buChar char=""/>
              <a:tabLst>
                <a:tab pos="52705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Parent: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floor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[(i-1)/2]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2317" y="425958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Times New Roman"/>
              <a:cs typeface="Times New Roman"/>
            </a:endParaRPr>
          </a:p>
          <a:p>
            <a:pPr marR="26034" algn="ctr">
              <a:lnSpc>
                <a:spcPct val="100000"/>
              </a:lnSpc>
            </a:pPr>
            <a:r>
              <a:rPr sz="2400" spc="135" dirty="0"/>
              <a:t>TREE</a:t>
            </a:r>
            <a:r>
              <a:rPr sz="2400" spc="425" dirty="0"/>
              <a:t> </a:t>
            </a:r>
            <a:r>
              <a:rPr sz="2400" spc="145" dirty="0"/>
              <a:t>REPRESENTATION:</a:t>
            </a:r>
            <a:r>
              <a:rPr sz="2400" spc="300" dirty="0"/>
              <a:t> </a:t>
            </a:r>
            <a:r>
              <a:rPr sz="2400" spc="70" dirty="0"/>
              <a:t>ARRAY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940560" y="2009013"/>
            <a:ext cx="8346440" cy="4242435"/>
            <a:chOff x="1753044" y="2009013"/>
            <a:chExt cx="8346440" cy="42424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1556" y="2037588"/>
              <a:ext cx="8289035" cy="41849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67332" y="2023300"/>
              <a:ext cx="8317865" cy="4213860"/>
            </a:xfrm>
            <a:custGeom>
              <a:avLst/>
              <a:gdLst/>
              <a:ahLst/>
              <a:cxnLst/>
              <a:rect l="l" t="t" r="r" b="b"/>
              <a:pathLst>
                <a:path w="8317865" h="4213860">
                  <a:moveTo>
                    <a:pt x="0" y="4213479"/>
                  </a:moveTo>
                  <a:lnTo>
                    <a:pt x="8317610" y="4213479"/>
                  </a:lnTo>
                  <a:lnTo>
                    <a:pt x="8317610" y="0"/>
                  </a:lnTo>
                  <a:lnTo>
                    <a:pt x="0" y="0"/>
                  </a:lnTo>
                  <a:lnTo>
                    <a:pt x="0" y="421347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32610" y="525018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endParaRPr/>
          </a:p>
          <a:p>
            <a:pPr marL="2578735" marR="2329180" indent="-276225">
              <a:lnSpc>
                <a:spcPts val="2160"/>
              </a:lnSpc>
            </a:pPr>
            <a:r>
              <a:rPr spc="135" dirty="0"/>
              <a:t>TREE</a:t>
            </a:r>
            <a:r>
              <a:rPr spc="385" dirty="0"/>
              <a:t> </a:t>
            </a:r>
            <a:r>
              <a:rPr spc="145" dirty="0"/>
              <a:t>REPRESENTATION: </a:t>
            </a:r>
            <a:r>
              <a:rPr spc="155" dirty="0"/>
              <a:t>SINGLE</a:t>
            </a:r>
            <a:r>
              <a:rPr spc="395" dirty="0"/>
              <a:t> </a:t>
            </a:r>
            <a:r>
              <a:rPr spc="155" dirty="0"/>
              <a:t>LINKED</a:t>
            </a:r>
            <a:r>
              <a:rPr spc="380" dirty="0"/>
              <a:t> </a:t>
            </a:r>
            <a:r>
              <a:rPr spc="12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9952" y="2135885"/>
            <a:ext cx="8418830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072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800" b="1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types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nodes</a:t>
            </a:r>
            <a:r>
              <a:rPr sz="18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used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representing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18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called</a:t>
            </a:r>
            <a:r>
              <a:rPr sz="18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'data</a:t>
            </a:r>
            <a:r>
              <a:rPr sz="18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node'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another</a:t>
            </a:r>
            <a:r>
              <a:rPr sz="18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representing</a:t>
            </a:r>
            <a:r>
              <a:rPr sz="1800"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only</a:t>
            </a:r>
            <a:r>
              <a:rPr sz="18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references</a:t>
            </a:r>
            <a:r>
              <a:rPr sz="18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called</a:t>
            </a:r>
            <a:r>
              <a:rPr sz="18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'reference</a:t>
            </a:r>
            <a:r>
              <a:rPr sz="18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node'.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87384" y="3141345"/>
            <a:ext cx="7576820" cy="2963545"/>
            <a:chOff x="2187384" y="3141345"/>
            <a:chExt cx="7576820" cy="29635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5896" y="3169920"/>
              <a:ext cx="7519416" cy="29062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01672" y="3155632"/>
              <a:ext cx="7548245" cy="2934970"/>
            </a:xfrm>
            <a:custGeom>
              <a:avLst/>
              <a:gdLst/>
              <a:ahLst/>
              <a:cxnLst/>
              <a:rect l="l" t="t" r="r" b="b"/>
              <a:pathLst>
                <a:path w="7548245" h="2934970">
                  <a:moveTo>
                    <a:pt x="0" y="2934842"/>
                  </a:moveTo>
                  <a:lnTo>
                    <a:pt x="7547991" y="2934842"/>
                  </a:lnTo>
                  <a:lnTo>
                    <a:pt x="7547991" y="0"/>
                  </a:lnTo>
                  <a:lnTo>
                    <a:pt x="0" y="0"/>
                  </a:lnTo>
                  <a:lnTo>
                    <a:pt x="0" y="2934842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32610" y="525018"/>
            <a:ext cx="828929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endParaRPr/>
          </a:p>
          <a:p>
            <a:pPr marL="2520950" marR="2329180" indent="-218440">
              <a:lnSpc>
                <a:spcPts val="2160"/>
              </a:lnSpc>
            </a:pPr>
            <a:r>
              <a:rPr spc="135" dirty="0"/>
              <a:t>TREE</a:t>
            </a:r>
            <a:r>
              <a:rPr spc="385" dirty="0"/>
              <a:t> </a:t>
            </a:r>
            <a:r>
              <a:rPr spc="145" dirty="0"/>
              <a:t>REPRESENTATION: </a:t>
            </a:r>
            <a:r>
              <a:rPr spc="155" dirty="0"/>
              <a:t>DOUBLE</a:t>
            </a:r>
            <a:r>
              <a:rPr spc="400" dirty="0"/>
              <a:t> </a:t>
            </a:r>
            <a:r>
              <a:rPr spc="155" dirty="0"/>
              <a:t>LINKED</a:t>
            </a:r>
            <a:r>
              <a:rPr spc="365" dirty="0"/>
              <a:t> </a:t>
            </a:r>
            <a:r>
              <a:rPr spc="12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9952" y="2148078"/>
            <a:ext cx="8547735" cy="82740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41300" marR="5080" indent="-229235" algn="just">
              <a:lnSpc>
                <a:spcPct val="96100"/>
              </a:lnSpc>
              <a:spcBef>
                <a:spcPts val="18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doubly-linked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list,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every</a:t>
            </a:r>
            <a:r>
              <a:rPr sz="1800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consists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800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three</a:t>
            </a:r>
            <a:r>
              <a:rPr sz="1800" b="1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fields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800" spc="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1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first</a:t>
            </a:r>
            <a:r>
              <a:rPr sz="1800" b="1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field</a:t>
            </a:r>
            <a:r>
              <a:rPr sz="1800" b="1" spc="1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1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storing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b="1" spc="1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left</a:t>
            </a:r>
            <a:r>
              <a:rPr sz="1800" b="1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child</a:t>
            </a:r>
            <a:r>
              <a:rPr sz="1800" b="1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address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1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second</a:t>
            </a:r>
            <a:r>
              <a:rPr sz="1800" b="1" spc="1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storing</a:t>
            </a:r>
            <a:r>
              <a:rPr sz="1800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actual</a:t>
            </a:r>
            <a:r>
              <a:rPr sz="1800" b="1" spc="1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data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800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800" spc="1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third</a:t>
            </a:r>
            <a:r>
              <a:rPr sz="1800" b="1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800" spc="1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52525"/>
                </a:solidFill>
                <a:latin typeface="Times New Roman"/>
                <a:cs typeface="Times New Roman"/>
              </a:rPr>
              <a:t>storing</a:t>
            </a:r>
            <a:r>
              <a:rPr sz="1800" spc="1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right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imes New Roman"/>
                <a:cs typeface="Times New Roman"/>
              </a:rPr>
              <a:t>child</a:t>
            </a:r>
            <a:r>
              <a:rPr sz="18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address.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99348" y="3641216"/>
            <a:ext cx="8535670" cy="2838450"/>
            <a:chOff x="1899348" y="3641216"/>
            <a:chExt cx="8535670" cy="28384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7859" y="3669791"/>
              <a:ext cx="8478012" cy="2781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3635" y="3655504"/>
              <a:ext cx="8507095" cy="2809875"/>
            </a:xfrm>
            <a:custGeom>
              <a:avLst/>
              <a:gdLst/>
              <a:ahLst/>
              <a:cxnLst/>
              <a:rect l="l" t="t" r="r" b="b"/>
              <a:pathLst>
                <a:path w="8507095" h="2809875">
                  <a:moveTo>
                    <a:pt x="0" y="2809874"/>
                  </a:moveTo>
                  <a:lnTo>
                    <a:pt x="8506587" y="2809874"/>
                  </a:lnTo>
                  <a:lnTo>
                    <a:pt x="8506587" y="0"/>
                  </a:lnTo>
                  <a:lnTo>
                    <a:pt x="0" y="0"/>
                  </a:lnTo>
                  <a:lnTo>
                    <a:pt x="0" y="2809874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244590" y="2871977"/>
            <a:ext cx="3157855" cy="632460"/>
            <a:chOff x="6244590" y="2871977"/>
            <a:chExt cx="3157855" cy="6324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640" y="2891027"/>
              <a:ext cx="3119627" cy="5943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54115" y="2881502"/>
              <a:ext cx="3138805" cy="613410"/>
            </a:xfrm>
            <a:custGeom>
              <a:avLst/>
              <a:gdLst/>
              <a:ahLst/>
              <a:cxnLst/>
              <a:rect l="l" t="t" r="r" b="b"/>
              <a:pathLst>
                <a:path w="3138804" h="613410">
                  <a:moveTo>
                    <a:pt x="0" y="613410"/>
                  </a:moveTo>
                  <a:lnTo>
                    <a:pt x="3138677" y="613410"/>
                  </a:lnTo>
                  <a:lnTo>
                    <a:pt x="3138677" y="0"/>
                  </a:lnTo>
                  <a:lnTo>
                    <a:pt x="0" y="0"/>
                  </a:lnTo>
                  <a:lnTo>
                    <a:pt x="0" y="61341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9002" y="2911601"/>
            <a:ext cx="10515600" cy="132461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285750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2250"/>
              </a:spcBef>
            </a:pPr>
            <a:r>
              <a:rPr sz="2400" b="1" spc="114" dirty="0">
                <a:solidFill>
                  <a:srgbClr val="252525"/>
                </a:solidFill>
                <a:latin typeface="Times New Roman"/>
                <a:cs typeface="Times New Roman"/>
              </a:rPr>
              <a:t>END</a:t>
            </a:r>
            <a:r>
              <a:rPr sz="2400" b="1" spc="40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2400" b="1" spc="2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160" dirty="0">
                <a:solidFill>
                  <a:srgbClr val="252525"/>
                </a:solidFill>
                <a:latin typeface="Times New Roman"/>
                <a:cs typeface="Times New Roman"/>
              </a:rPr>
              <a:t>CHAPTER</a:t>
            </a:r>
            <a:r>
              <a:rPr sz="2400" b="1" spc="4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6</a:t>
            </a:r>
            <a:r>
              <a:rPr sz="2400" b="1" spc="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–</a:t>
            </a:r>
            <a:r>
              <a:rPr sz="2400" b="1" spc="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75" dirty="0">
                <a:solidFill>
                  <a:srgbClr val="252525"/>
                </a:solidFill>
                <a:latin typeface="Times New Roman"/>
                <a:cs typeface="Times New Roman"/>
              </a:rPr>
              <a:t>PART1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2038</Words>
  <Application>Microsoft Office PowerPoint</Application>
  <PresentationFormat>Widescreen</PresentationFormat>
  <Paragraphs>227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 MT</vt:lpstr>
      <vt:lpstr>Calibri</vt:lpstr>
      <vt:lpstr>Times New Roman</vt:lpstr>
      <vt:lpstr>Wingdings</vt:lpstr>
      <vt:lpstr>Office Theme</vt:lpstr>
      <vt:lpstr>KEY POINTS OF CHAPTER 6</vt:lpstr>
      <vt:lpstr> TREES AND GRAPHS</vt:lpstr>
      <vt:lpstr> Graphs</vt:lpstr>
      <vt:lpstr> GRAPHS</vt:lpstr>
      <vt:lpstr> GRAPHS TERMINOLOGY</vt:lpstr>
      <vt:lpstr> ADJACENCY</vt:lpstr>
      <vt:lpstr> ADJACENCY</vt:lpstr>
      <vt:lpstr> CATEGORIES OF GRAPHS</vt:lpstr>
      <vt:lpstr> UNDIRECTED AND DIRECTED GRAPHS</vt:lpstr>
      <vt:lpstr> DEGREE IN DIRECT AND UNDIRECT GRAPH</vt:lpstr>
      <vt:lpstr> DEGREE IN DIRECT AND UNDIRECT GRAPH</vt:lpstr>
      <vt:lpstr> WEIGHTED AND UNWEIGHTED GRAPH</vt:lpstr>
      <vt:lpstr>PowerPoint Presentation</vt:lpstr>
      <vt:lpstr> CYCLIC AND ACYCLIC GRAPH</vt:lpstr>
      <vt:lpstr> SPARSE AND DENSE GRAPH</vt:lpstr>
      <vt:lpstr> TYPES OF GRAPHS</vt:lpstr>
      <vt:lpstr> NULL GRAPH</vt:lpstr>
      <vt:lpstr> PARALLEL EDGES AND MULTI GRAPH</vt:lpstr>
      <vt:lpstr> REGULAR GRAPH</vt:lpstr>
      <vt:lpstr> COMPLETE GRAPH</vt:lpstr>
      <vt:lpstr> Trees</vt:lpstr>
      <vt:lpstr> TREES</vt:lpstr>
      <vt:lpstr> TREES TERMINOLOGY</vt:lpstr>
      <vt:lpstr> TREES TERMINOLOGY</vt:lpstr>
      <vt:lpstr> TREES TERMINOLOGY</vt:lpstr>
      <vt:lpstr> Key Differences Between Graphs and Trees</vt:lpstr>
      <vt:lpstr>PowerPoint Presentation</vt:lpstr>
      <vt:lpstr>PowerPoint Presentation</vt:lpstr>
      <vt:lpstr> EXAMPLE OF A TREE AND A GRAPH</vt:lpstr>
      <vt:lpstr> Representation of Graphs and Trees in Computers</vt:lpstr>
      <vt:lpstr> Representation of Graphs in Computers</vt:lpstr>
      <vt:lpstr> GRAPH REPRESENTATION</vt:lpstr>
      <vt:lpstr> GRAPH REPRESENTATION: ADJACENCY MATRIX</vt:lpstr>
      <vt:lpstr> GRAPH REPRESENTATION: ADJACENCY LIST</vt:lpstr>
      <vt:lpstr> GRAPH REPRESENTATION</vt:lpstr>
      <vt:lpstr> GRAPH REPRESENTATION</vt:lpstr>
      <vt:lpstr> Representation of Trees in Computers</vt:lpstr>
      <vt:lpstr> TREE REPRESENTATION</vt:lpstr>
      <vt:lpstr> TREE REPRESENTATION: ARRAY</vt:lpstr>
      <vt:lpstr> TREE REPRESENTATION: ARRAY</vt:lpstr>
      <vt:lpstr> TREE REPRESENTATION: SINGLE LINKED LIST</vt:lpstr>
      <vt:lpstr> TREE REPRESENTATION: DOUBLE LINKED LIST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2026-04-14T04:00:58Z</dcterms:created>
  <dcterms:modified xsi:type="dcterms:W3CDTF">2026-04-21T07:23:51Z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2024-01-04T00:00:00Z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2026-04-14T00:00:00Z</vt:filetime>
  </property>
  <property fmtid="{D5CDD505-2E9C-101B-9397-08002B2CF9AE}" pid="6" name="Producer">
    <vt:lpwstr>Microsoft® PowerPoint® 2016</vt:lpwstr>
  </property>
</Properties>
</file>